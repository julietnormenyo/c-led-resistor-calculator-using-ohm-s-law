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0" r:id="rId1"/>
  </p:sldMasterIdLst>
  <p:notesMasterIdLst>
    <p:notesMasterId r:id="rId20"/>
  </p:notesMasterIdLst>
  <p:sldIdLst>
    <p:sldId id="256" r:id="rId2"/>
    <p:sldId id="259" r:id="rId3"/>
    <p:sldId id="274" r:id="rId4"/>
    <p:sldId id="273" r:id="rId5"/>
    <p:sldId id="260" r:id="rId6"/>
    <p:sldId id="261" r:id="rId7"/>
    <p:sldId id="262" r:id="rId8"/>
    <p:sldId id="263" r:id="rId9"/>
    <p:sldId id="264" r:id="rId10"/>
    <p:sldId id="265" r:id="rId11"/>
    <p:sldId id="266" r:id="rId12"/>
    <p:sldId id="268" r:id="rId13"/>
    <p:sldId id="269" r:id="rId14"/>
    <p:sldId id="270" r:id="rId15"/>
    <p:sldId id="275" r:id="rId16"/>
    <p:sldId id="276" r:id="rId17"/>
    <p:sldId id="271" r:id="rId18"/>
    <p:sldId id="272" r:id="rId19"/>
  </p:sldIdLst>
  <p:sldSz cx="11430000" cy="7620000"/>
  <p:notesSz cx="11430000" cy="7620000"/>
  <p:defaultTextStyle>
    <a:defPPr lvl="0">
      <a:defRPr kern="0"/>
    </a:defPPr>
    <a:lvl1pPr lvl="0"/>
    <a:lvl2pPr lvl="1"/>
    <a:lvl3pPr lvl="2"/>
    <a:lvl4pPr lvl="3"/>
    <a:lvl5pPr lvl="4"/>
    <a:lvl6pPr lvl="5"/>
    <a:lvl7pPr lvl="6"/>
    <a:lvl8pPr lvl="7"/>
    <a:lvl9pPr lvl="8"/>
  </p:defaultTextStyle>
  <p:extLst>
    <p:ext uri="{EFAFB233-063F-42B5-8137-9DF3F51BA10A}">
      <p15:sldGuideLst xmlns:p15="http://schemas.microsoft.com/office/powerpoint/2012/main">
        <p15:guide id="1" orient="horz" pos="2856">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BB0FD64-767F-4709-80A6-F6706F891FAB}">
  <a:tblStyle styleId="{CBB0FD64-767F-4709-80A6-F6706F891FAB}"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503" autoAdjust="0"/>
    <p:restoredTop sz="94660"/>
  </p:normalViewPr>
  <p:slideViewPr>
    <p:cSldViewPr snapToGrid="0">
      <p:cViewPr varScale="1">
        <p:scale>
          <a:sx n="53" d="100"/>
          <a:sy n="53" d="100"/>
        </p:scale>
        <p:origin x="1208" y="48"/>
      </p:cViewPr>
      <p:guideLst>
        <p:guide orient="horz" pos="2856"/>
        <p:guide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78"/>
        <p:cNvGrpSpPr/>
        <p:nvPr/>
      </p:nvGrpSpPr>
      <p:grpSpPr>
        <a:xfrm>
          <a:off x="0" y="0"/>
          <a:ext cx="0" cy="0"/>
          <a:chOff x="0" y="0"/>
          <a:chExt cx="0" cy="0"/>
        </a:xfrm>
      </p:grpSpPr>
      <p:sp>
        <p:nvSpPr>
          <p:cNvPr id="79" name="Google Shape;79;n"/>
          <p:cNvSpPr>
            <a:spLocks noGrp="1" noRot="1" noChangeAspect="1"/>
          </p:cNvSpPr>
          <p:nvPr>
            <p:ph type="sldImg" idx="2"/>
          </p:nvPr>
        </p:nvSpPr>
        <p:spPr>
          <a:xfrm>
            <a:off x="1905375" y="571500"/>
            <a:ext cx="7620300" cy="28575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0" name="Google Shape;80;n"/>
          <p:cNvSpPr txBox="1">
            <a:spLocks noGrp="1"/>
          </p:cNvSpPr>
          <p:nvPr>
            <p:ph type="body" idx="1"/>
          </p:nvPr>
        </p:nvSpPr>
        <p:spPr>
          <a:xfrm>
            <a:off x="1143000" y="3619500"/>
            <a:ext cx="9144000" cy="34290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571875" y="571500"/>
            <a:ext cx="4286250" cy="2857500"/>
          </a:xfrm>
        </p:spPr>
      </p:sp>
      <p:sp>
        <p:nvSpPr>
          <p:cNvPr id="3" name="Notes Placeholder 2"/>
          <p:cNvSpPr>
            <a:spLocks noGrp="1"/>
          </p:cNvSpPr>
          <p:nvPr>
            <p:ph type="body" idx="1"/>
          </p:nvPr>
        </p:nvSpPr>
        <p:spPr/>
        <p:txBody>
          <a:bodyPr/>
          <a:lstStyle/>
          <a:p>
            <a:endParaRPr lang="en-GH" dirty="0"/>
          </a:p>
        </p:txBody>
      </p:sp>
    </p:spTree>
    <p:extLst>
      <p:ext uri="{BB962C8B-B14F-4D97-AF65-F5344CB8AC3E}">
        <p14:creationId xmlns:p14="http://schemas.microsoft.com/office/powerpoint/2010/main" val="13067592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571875" y="571500"/>
            <a:ext cx="4286250" cy="2857500"/>
          </a:xfrm>
        </p:spPr>
      </p:sp>
      <p:sp>
        <p:nvSpPr>
          <p:cNvPr id="3" name="Notes Placeholder 2"/>
          <p:cNvSpPr>
            <a:spLocks noGrp="1"/>
          </p:cNvSpPr>
          <p:nvPr>
            <p:ph type="body" idx="1"/>
          </p:nvPr>
        </p:nvSpPr>
        <p:spPr/>
        <p:txBody>
          <a:bodyPr/>
          <a:lstStyle/>
          <a:p>
            <a:endParaRPr lang="en-GH" dirty="0"/>
          </a:p>
        </p:txBody>
      </p:sp>
    </p:spTree>
    <p:extLst>
      <p:ext uri="{BB962C8B-B14F-4D97-AF65-F5344CB8AC3E}">
        <p14:creationId xmlns:p14="http://schemas.microsoft.com/office/powerpoint/2010/main" val="349649832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obj">
  <p:cSld name="OBJECT">
    <p:bg>
      <p:bgPr>
        <a:solidFill>
          <a:schemeClr val="lt1"/>
        </a:solidFill>
        <a:effectLst/>
      </p:bgPr>
    </p:bg>
    <p:spTree>
      <p:nvGrpSpPr>
        <p:cNvPr id="1" name="Shape 38"/>
        <p:cNvGrpSpPr/>
        <p:nvPr/>
      </p:nvGrpSpPr>
      <p:grpSpPr>
        <a:xfrm>
          <a:off x="0" y="0"/>
          <a:ext cx="0" cy="0"/>
          <a:chOff x="0" y="0"/>
          <a:chExt cx="0" cy="0"/>
        </a:xfrm>
      </p:grpSpPr>
      <p:sp>
        <p:nvSpPr>
          <p:cNvPr id="39" name="Google Shape;39;p2"/>
          <p:cNvSpPr/>
          <p:nvPr/>
        </p:nvSpPr>
        <p:spPr>
          <a:xfrm>
            <a:off x="0" y="0"/>
            <a:ext cx="11430000" cy="6438900"/>
          </a:xfrm>
          <a:custGeom>
            <a:avLst/>
            <a:gdLst/>
            <a:ahLst/>
            <a:cxnLst/>
            <a:rect l="l" t="t" r="r" b="b"/>
            <a:pathLst>
              <a:path w="11430000" h="6438900" extrusionOk="0">
                <a:moveTo>
                  <a:pt x="11430000" y="0"/>
                </a:moveTo>
                <a:lnTo>
                  <a:pt x="0" y="0"/>
                </a:lnTo>
                <a:lnTo>
                  <a:pt x="0" y="6438900"/>
                </a:lnTo>
                <a:lnTo>
                  <a:pt x="11430000" y="6438900"/>
                </a:lnTo>
                <a:lnTo>
                  <a:pt x="11430000" y="0"/>
                </a:lnTo>
                <a:close/>
              </a:path>
            </a:pathLst>
          </a:custGeom>
          <a:solidFill>
            <a:srgbClr val="0C0932"/>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pic>
        <p:nvPicPr>
          <p:cNvPr id="40" name="Google Shape;40;p2"/>
          <p:cNvPicPr preferRelativeResize="0"/>
          <p:nvPr/>
        </p:nvPicPr>
        <p:blipFill rotWithShape="1">
          <a:blip r:embed="rId2">
            <a:alphaModFix/>
          </a:blip>
          <a:srcRect/>
          <a:stretch/>
        </p:blipFill>
        <p:spPr>
          <a:xfrm>
            <a:off x="0" y="253"/>
            <a:ext cx="4286250" cy="6438644"/>
          </a:xfrm>
          <a:prstGeom prst="rect">
            <a:avLst/>
          </a:prstGeom>
          <a:noFill/>
          <a:ln>
            <a:noFill/>
          </a:ln>
        </p:spPr>
      </p:pic>
      <p:sp>
        <p:nvSpPr>
          <p:cNvPr id="41" name="Google Shape;41;p2"/>
          <p:cNvSpPr txBox="1">
            <a:spLocks noGrp="1"/>
          </p:cNvSpPr>
          <p:nvPr>
            <p:ph type="ctrTitle"/>
          </p:nvPr>
        </p:nvSpPr>
        <p:spPr>
          <a:xfrm>
            <a:off x="4911128" y="2082800"/>
            <a:ext cx="4448700" cy="1073100"/>
          </a:xfrm>
          <a:prstGeom prst="rect">
            <a:avLst/>
          </a:prstGeom>
          <a:noFill/>
          <a:ln>
            <a:noFill/>
          </a:ln>
        </p:spPr>
        <p:txBody>
          <a:bodyPr spcFirstLastPara="1" wrap="square" lIns="0" tIns="0" rIns="0" bIns="0" anchor="t" anchorCtr="0">
            <a:spAutoFit/>
          </a:bodyPr>
          <a:lstStyle>
            <a:lvl1pPr lvl="0" algn="l" rtl="0">
              <a:spcBef>
                <a:spcPts val="0"/>
              </a:spcBef>
              <a:spcAft>
                <a:spcPts val="0"/>
              </a:spcAft>
              <a:buSzPts val="1400"/>
              <a:buNone/>
              <a:defRPr sz="3350" b="1" i="0">
                <a:solidFill>
                  <a:schemeClr val="lt1"/>
                </a:solidFill>
                <a:latin typeface="Trebuchet MS"/>
                <a:ea typeface="Trebuchet MS"/>
                <a:cs typeface="Trebuchet MS"/>
                <a:sym typeface="Trebuchet MS"/>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2" name="Google Shape;42;p2"/>
          <p:cNvSpPr txBox="1">
            <a:spLocks noGrp="1"/>
          </p:cNvSpPr>
          <p:nvPr>
            <p:ph type="subTitle" idx="1"/>
          </p:nvPr>
        </p:nvSpPr>
        <p:spPr>
          <a:xfrm>
            <a:off x="4911128" y="3395573"/>
            <a:ext cx="5448900" cy="892200"/>
          </a:xfrm>
          <a:prstGeom prst="rect">
            <a:avLst/>
          </a:prstGeom>
          <a:noFill/>
          <a:ln>
            <a:noFill/>
          </a:ln>
        </p:spPr>
        <p:txBody>
          <a:bodyPr spcFirstLastPara="1" wrap="square" lIns="0" tIns="0" rIns="0" bIns="0" anchor="t" anchorCtr="0">
            <a:sp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3" name="Google Shape;43;p2"/>
          <p:cNvSpPr txBox="1">
            <a:spLocks noGrp="1"/>
          </p:cNvSpPr>
          <p:nvPr>
            <p:ph type="ftr" idx="11"/>
          </p:nvPr>
        </p:nvSpPr>
        <p:spPr>
          <a:xfrm>
            <a:off x="3886200" y="5994082"/>
            <a:ext cx="3657600" cy="322200"/>
          </a:xfrm>
          <a:prstGeom prst="rect">
            <a:avLst/>
          </a:prstGeom>
          <a:noFill/>
          <a:ln>
            <a:noFill/>
          </a:ln>
        </p:spPr>
        <p:txBody>
          <a:bodyPr spcFirstLastPara="1" wrap="square" lIns="0" tIns="0" rIns="0" bIns="0" anchor="t" anchorCtr="0">
            <a:spAutoFit/>
          </a:bodyPr>
          <a:lstStyle>
            <a:lvl1pPr lvl="0" algn="ctr" rtl="0">
              <a:spcBef>
                <a:spcPts val="0"/>
              </a:spcBef>
              <a:spcAft>
                <a:spcPts val="0"/>
              </a:spcAft>
              <a:buSzPts val="1400"/>
              <a:buNone/>
              <a:defRPr>
                <a:solidFill>
                  <a:srgbClr val="888888"/>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2"/>
          <p:cNvSpPr txBox="1">
            <a:spLocks noGrp="1"/>
          </p:cNvSpPr>
          <p:nvPr>
            <p:ph type="dt" idx="10"/>
          </p:nvPr>
        </p:nvSpPr>
        <p:spPr>
          <a:xfrm>
            <a:off x="571500" y="5994082"/>
            <a:ext cx="2628900" cy="322200"/>
          </a:xfrm>
          <a:prstGeom prst="rect">
            <a:avLst/>
          </a:prstGeom>
          <a:noFill/>
          <a:ln>
            <a:noFill/>
          </a:ln>
        </p:spPr>
        <p:txBody>
          <a:bodyPr spcFirstLastPara="1" wrap="square" lIns="0" tIns="0" rIns="0" bIns="0" anchor="t" anchorCtr="0">
            <a:spAutoFit/>
          </a:bodyPr>
          <a:lstStyle>
            <a:lvl1pPr lvl="0" algn="l" rtl="0">
              <a:spcBef>
                <a:spcPts val="0"/>
              </a:spcBef>
              <a:spcAft>
                <a:spcPts val="0"/>
              </a:spcAft>
              <a:buSzPts val="1400"/>
              <a:buNone/>
              <a:defRPr>
                <a:solidFill>
                  <a:srgbClr val="888888"/>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5" name="Google Shape;45;p2"/>
          <p:cNvSpPr txBox="1">
            <a:spLocks noGrp="1"/>
          </p:cNvSpPr>
          <p:nvPr>
            <p:ph type="sldNum" idx="12"/>
          </p:nvPr>
        </p:nvSpPr>
        <p:spPr>
          <a:xfrm>
            <a:off x="8229600" y="5994082"/>
            <a:ext cx="2628900" cy="322200"/>
          </a:xfrm>
          <a:prstGeom prst="rect">
            <a:avLst/>
          </a:prstGeom>
          <a:noFill/>
          <a:ln>
            <a:noFill/>
          </a:ln>
        </p:spPr>
        <p:txBody>
          <a:bodyPr spcFirstLastPara="1" wrap="square" lIns="0" tIns="0" rIns="0" bIns="0" anchor="t" anchorCtr="0">
            <a:spAutoFit/>
          </a:bodyPr>
          <a:lstStyle>
            <a:lvl1pPr lvl="0" indent="0" algn="r" rtl="0">
              <a:spcBef>
                <a:spcPts val="0"/>
              </a:spcBef>
              <a:buNone/>
              <a:defRPr>
                <a:solidFill>
                  <a:srgbClr val="888888"/>
                </a:solidFill>
              </a:defRPr>
            </a:lvl1pPr>
            <a:lvl2pPr lvl="1" indent="0" algn="r" rtl="0">
              <a:spcBef>
                <a:spcPts val="0"/>
              </a:spcBef>
              <a:buNone/>
              <a:defRPr>
                <a:solidFill>
                  <a:srgbClr val="888888"/>
                </a:solidFill>
              </a:defRPr>
            </a:lvl2pPr>
            <a:lvl3pPr lvl="2" indent="0" algn="r" rtl="0">
              <a:spcBef>
                <a:spcPts val="0"/>
              </a:spcBef>
              <a:buNone/>
              <a:defRPr>
                <a:solidFill>
                  <a:srgbClr val="888888"/>
                </a:solidFill>
              </a:defRPr>
            </a:lvl3pPr>
            <a:lvl4pPr lvl="3" indent="0" algn="r" rtl="0">
              <a:spcBef>
                <a:spcPts val="0"/>
              </a:spcBef>
              <a:buNone/>
              <a:defRPr>
                <a:solidFill>
                  <a:srgbClr val="888888"/>
                </a:solidFill>
              </a:defRPr>
            </a:lvl4pPr>
            <a:lvl5pPr lvl="4" indent="0" algn="r" rtl="0">
              <a:spcBef>
                <a:spcPts val="0"/>
              </a:spcBef>
              <a:buNone/>
              <a:defRPr>
                <a:solidFill>
                  <a:srgbClr val="888888"/>
                </a:solidFill>
              </a:defRPr>
            </a:lvl5pPr>
            <a:lvl6pPr lvl="5" indent="0" algn="r" rtl="0">
              <a:spcBef>
                <a:spcPts val="0"/>
              </a:spcBef>
              <a:buNone/>
              <a:defRPr>
                <a:solidFill>
                  <a:srgbClr val="888888"/>
                </a:solidFill>
              </a:defRPr>
            </a:lvl6pPr>
            <a:lvl7pPr lvl="6" indent="0" algn="r" rtl="0">
              <a:spcBef>
                <a:spcPts val="0"/>
              </a:spcBef>
              <a:buNone/>
              <a:defRPr>
                <a:solidFill>
                  <a:srgbClr val="888888"/>
                </a:solidFill>
              </a:defRPr>
            </a:lvl7pPr>
            <a:lvl8pPr lvl="7" indent="0" algn="r" rtl="0">
              <a:spcBef>
                <a:spcPts val="0"/>
              </a:spcBef>
              <a:buNone/>
              <a:defRPr>
                <a:solidFill>
                  <a:srgbClr val="888888"/>
                </a:solidFill>
              </a:defRPr>
            </a:lvl8pPr>
            <a:lvl9pPr lvl="8" indent="0" algn="r" rtl="0">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46"/>
        <p:cNvGrpSpPr/>
        <p:nvPr/>
      </p:nvGrpSpPr>
      <p:grpSpPr>
        <a:xfrm>
          <a:off x="0" y="0"/>
          <a:ext cx="0" cy="0"/>
          <a:chOff x="0" y="0"/>
          <a:chExt cx="0" cy="0"/>
        </a:xfrm>
      </p:grpSpPr>
      <p:sp>
        <p:nvSpPr>
          <p:cNvPr id="47" name="Google Shape;47;p3"/>
          <p:cNvSpPr txBox="1">
            <a:spLocks noGrp="1"/>
          </p:cNvSpPr>
          <p:nvPr>
            <p:ph type="title"/>
          </p:nvPr>
        </p:nvSpPr>
        <p:spPr>
          <a:xfrm>
            <a:off x="624879" y="473075"/>
            <a:ext cx="10180200" cy="539700"/>
          </a:xfrm>
          <a:prstGeom prst="rect">
            <a:avLst/>
          </a:prstGeom>
          <a:noFill/>
          <a:ln>
            <a:noFill/>
          </a:ln>
        </p:spPr>
        <p:txBody>
          <a:bodyPr spcFirstLastPara="1" wrap="square" lIns="0" tIns="0" rIns="0" bIns="0" anchor="t" anchorCtr="0">
            <a:spAutoFit/>
          </a:bodyPr>
          <a:lstStyle>
            <a:lvl1pPr lvl="0" algn="l" rtl="0">
              <a:spcBef>
                <a:spcPts val="0"/>
              </a:spcBef>
              <a:spcAft>
                <a:spcPts val="0"/>
              </a:spcAft>
              <a:buSzPts val="1400"/>
              <a:buNone/>
              <a:defRPr sz="3350" b="1" i="0">
                <a:solidFill>
                  <a:schemeClr val="lt1"/>
                </a:solidFill>
                <a:latin typeface="Trebuchet MS"/>
                <a:ea typeface="Trebuchet MS"/>
                <a:cs typeface="Trebuchet MS"/>
                <a:sym typeface="Trebuchet MS"/>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8" name="Google Shape;48;p3"/>
          <p:cNvSpPr txBox="1">
            <a:spLocks noGrp="1"/>
          </p:cNvSpPr>
          <p:nvPr>
            <p:ph type="body" idx="1"/>
          </p:nvPr>
        </p:nvSpPr>
        <p:spPr>
          <a:xfrm>
            <a:off x="571500" y="1482407"/>
            <a:ext cx="10287000" cy="4254000"/>
          </a:xfrm>
          <a:prstGeom prst="rect">
            <a:avLst/>
          </a:prstGeom>
          <a:noFill/>
          <a:ln>
            <a:noFill/>
          </a:ln>
        </p:spPr>
        <p:txBody>
          <a:bodyPr spcFirstLastPara="1" wrap="square" lIns="0" tIns="0" rIns="0" bIns="0" anchor="t" anchorCtr="0">
            <a:spAutoFit/>
          </a:bodyPr>
          <a:lstStyle>
            <a:lvl1pPr marL="457200" lvl="0" indent="-228600" algn="l" rtl="0">
              <a:spcBef>
                <a:spcPts val="0"/>
              </a:spcBef>
              <a:spcAft>
                <a:spcPts val="0"/>
              </a:spcAft>
              <a:buSzPts val="1400"/>
              <a:buNone/>
              <a:defRPr/>
            </a:lvl1pPr>
            <a:lvl2pPr marL="914400" lvl="1" indent="-228600" algn="l" rtl="0">
              <a:spcBef>
                <a:spcPts val="0"/>
              </a:spcBef>
              <a:spcAft>
                <a:spcPts val="0"/>
              </a:spcAft>
              <a:buSzPts val="1400"/>
              <a:buNone/>
              <a:defRPr/>
            </a:lvl2pPr>
            <a:lvl3pPr marL="1371600" lvl="2" indent="-228600" algn="l" rtl="0">
              <a:spcBef>
                <a:spcPts val="0"/>
              </a:spcBef>
              <a:spcAft>
                <a:spcPts val="0"/>
              </a:spcAft>
              <a:buSzPts val="1400"/>
              <a:buNone/>
              <a:defRPr/>
            </a:lvl3pPr>
            <a:lvl4pPr marL="1828800" lvl="3" indent="-228600" algn="l" rtl="0">
              <a:spcBef>
                <a:spcPts val="0"/>
              </a:spcBef>
              <a:spcAft>
                <a:spcPts val="0"/>
              </a:spcAft>
              <a:buSzPts val="1400"/>
              <a:buNone/>
              <a:defRPr/>
            </a:lvl4pPr>
            <a:lvl5pPr marL="2286000" lvl="4" indent="-228600" algn="l" rtl="0">
              <a:spcBef>
                <a:spcPts val="0"/>
              </a:spcBef>
              <a:spcAft>
                <a:spcPts val="0"/>
              </a:spcAft>
              <a:buSzPts val="1400"/>
              <a:buNone/>
              <a:defRPr/>
            </a:lvl5pPr>
            <a:lvl6pPr marL="2743200" lvl="5" indent="-228600" algn="l" rtl="0">
              <a:spcBef>
                <a:spcPts val="0"/>
              </a:spcBef>
              <a:spcAft>
                <a:spcPts val="0"/>
              </a:spcAft>
              <a:buSzPts val="1400"/>
              <a:buNone/>
              <a:defRPr/>
            </a:lvl6pPr>
            <a:lvl7pPr marL="3200400" lvl="6" indent="-228600" algn="l" rtl="0">
              <a:spcBef>
                <a:spcPts val="0"/>
              </a:spcBef>
              <a:spcAft>
                <a:spcPts val="0"/>
              </a:spcAft>
              <a:buSzPts val="1400"/>
              <a:buNone/>
              <a:defRPr/>
            </a:lvl7pPr>
            <a:lvl8pPr marL="3657600" lvl="7" indent="-228600" algn="l" rtl="0">
              <a:spcBef>
                <a:spcPts val="0"/>
              </a:spcBef>
              <a:spcAft>
                <a:spcPts val="0"/>
              </a:spcAft>
              <a:buSzPts val="1400"/>
              <a:buNone/>
              <a:defRPr/>
            </a:lvl8pPr>
            <a:lvl9pPr marL="4114800" lvl="8" indent="-228600" algn="l" rtl="0">
              <a:spcBef>
                <a:spcPts val="0"/>
              </a:spcBef>
              <a:spcAft>
                <a:spcPts val="0"/>
              </a:spcAft>
              <a:buSzPts val="1400"/>
              <a:buNone/>
              <a:defRPr/>
            </a:lvl9pPr>
          </a:lstStyle>
          <a:p>
            <a:endParaRPr/>
          </a:p>
        </p:txBody>
      </p:sp>
      <p:sp>
        <p:nvSpPr>
          <p:cNvPr id="49" name="Google Shape;49;p3"/>
          <p:cNvSpPr txBox="1">
            <a:spLocks noGrp="1"/>
          </p:cNvSpPr>
          <p:nvPr>
            <p:ph type="ftr" idx="11"/>
          </p:nvPr>
        </p:nvSpPr>
        <p:spPr>
          <a:xfrm>
            <a:off x="3886200" y="5994082"/>
            <a:ext cx="3657600" cy="322200"/>
          </a:xfrm>
          <a:prstGeom prst="rect">
            <a:avLst/>
          </a:prstGeom>
          <a:noFill/>
          <a:ln>
            <a:noFill/>
          </a:ln>
        </p:spPr>
        <p:txBody>
          <a:bodyPr spcFirstLastPara="1" wrap="square" lIns="0" tIns="0" rIns="0" bIns="0" anchor="t" anchorCtr="0">
            <a:spAutoFit/>
          </a:bodyPr>
          <a:lstStyle>
            <a:lvl1pPr lvl="0" algn="ctr" rtl="0">
              <a:spcBef>
                <a:spcPts val="0"/>
              </a:spcBef>
              <a:spcAft>
                <a:spcPts val="0"/>
              </a:spcAft>
              <a:buSzPts val="1400"/>
              <a:buNone/>
              <a:defRPr>
                <a:solidFill>
                  <a:srgbClr val="888888"/>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0" name="Google Shape;50;p3"/>
          <p:cNvSpPr txBox="1">
            <a:spLocks noGrp="1"/>
          </p:cNvSpPr>
          <p:nvPr>
            <p:ph type="dt" idx="10"/>
          </p:nvPr>
        </p:nvSpPr>
        <p:spPr>
          <a:xfrm>
            <a:off x="571500" y="5994082"/>
            <a:ext cx="2628900" cy="322200"/>
          </a:xfrm>
          <a:prstGeom prst="rect">
            <a:avLst/>
          </a:prstGeom>
          <a:noFill/>
          <a:ln>
            <a:noFill/>
          </a:ln>
        </p:spPr>
        <p:txBody>
          <a:bodyPr spcFirstLastPara="1" wrap="square" lIns="0" tIns="0" rIns="0" bIns="0" anchor="t" anchorCtr="0">
            <a:spAutoFit/>
          </a:bodyPr>
          <a:lstStyle>
            <a:lvl1pPr lvl="0" algn="l" rtl="0">
              <a:spcBef>
                <a:spcPts val="0"/>
              </a:spcBef>
              <a:spcAft>
                <a:spcPts val="0"/>
              </a:spcAft>
              <a:buSzPts val="1400"/>
              <a:buNone/>
              <a:defRPr>
                <a:solidFill>
                  <a:srgbClr val="888888"/>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1" name="Google Shape;51;p3"/>
          <p:cNvSpPr txBox="1">
            <a:spLocks noGrp="1"/>
          </p:cNvSpPr>
          <p:nvPr>
            <p:ph type="sldNum" idx="12"/>
          </p:nvPr>
        </p:nvSpPr>
        <p:spPr>
          <a:xfrm>
            <a:off x="8229600" y="5994082"/>
            <a:ext cx="2628900" cy="322200"/>
          </a:xfrm>
          <a:prstGeom prst="rect">
            <a:avLst/>
          </a:prstGeom>
          <a:noFill/>
          <a:ln>
            <a:noFill/>
          </a:ln>
        </p:spPr>
        <p:txBody>
          <a:bodyPr spcFirstLastPara="1" wrap="square" lIns="0" tIns="0" rIns="0" bIns="0" anchor="t" anchorCtr="0">
            <a:spAutoFit/>
          </a:bodyPr>
          <a:lstStyle>
            <a:lvl1pPr lvl="0" indent="0" algn="r" rtl="0">
              <a:spcBef>
                <a:spcPts val="0"/>
              </a:spcBef>
              <a:buNone/>
              <a:defRPr>
                <a:solidFill>
                  <a:srgbClr val="888888"/>
                </a:solidFill>
              </a:defRPr>
            </a:lvl1pPr>
            <a:lvl2pPr lvl="1" indent="0" algn="r" rtl="0">
              <a:spcBef>
                <a:spcPts val="0"/>
              </a:spcBef>
              <a:buNone/>
              <a:defRPr>
                <a:solidFill>
                  <a:srgbClr val="888888"/>
                </a:solidFill>
              </a:defRPr>
            </a:lvl2pPr>
            <a:lvl3pPr lvl="2" indent="0" algn="r" rtl="0">
              <a:spcBef>
                <a:spcPts val="0"/>
              </a:spcBef>
              <a:buNone/>
              <a:defRPr>
                <a:solidFill>
                  <a:srgbClr val="888888"/>
                </a:solidFill>
              </a:defRPr>
            </a:lvl3pPr>
            <a:lvl4pPr lvl="3" indent="0" algn="r" rtl="0">
              <a:spcBef>
                <a:spcPts val="0"/>
              </a:spcBef>
              <a:buNone/>
              <a:defRPr>
                <a:solidFill>
                  <a:srgbClr val="888888"/>
                </a:solidFill>
              </a:defRPr>
            </a:lvl4pPr>
            <a:lvl5pPr lvl="4" indent="0" algn="r" rtl="0">
              <a:spcBef>
                <a:spcPts val="0"/>
              </a:spcBef>
              <a:buNone/>
              <a:defRPr>
                <a:solidFill>
                  <a:srgbClr val="888888"/>
                </a:solidFill>
              </a:defRPr>
            </a:lvl5pPr>
            <a:lvl6pPr lvl="5" indent="0" algn="r" rtl="0">
              <a:spcBef>
                <a:spcPts val="0"/>
              </a:spcBef>
              <a:buNone/>
              <a:defRPr>
                <a:solidFill>
                  <a:srgbClr val="888888"/>
                </a:solidFill>
              </a:defRPr>
            </a:lvl6pPr>
            <a:lvl7pPr lvl="6" indent="0" algn="r" rtl="0">
              <a:spcBef>
                <a:spcPts val="0"/>
              </a:spcBef>
              <a:buNone/>
              <a:defRPr>
                <a:solidFill>
                  <a:srgbClr val="888888"/>
                </a:solidFill>
              </a:defRPr>
            </a:lvl7pPr>
            <a:lvl8pPr lvl="7" indent="0" algn="r" rtl="0">
              <a:spcBef>
                <a:spcPts val="0"/>
              </a:spcBef>
              <a:buNone/>
              <a:defRPr>
                <a:solidFill>
                  <a:srgbClr val="888888"/>
                </a:solidFill>
              </a:defRPr>
            </a:lvl8pPr>
            <a:lvl9pPr lvl="8" indent="0" algn="r" rtl="0">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59"/>
        <p:cNvGrpSpPr/>
        <p:nvPr/>
      </p:nvGrpSpPr>
      <p:grpSpPr>
        <a:xfrm>
          <a:off x="0" y="0"/>
          <a:ext cx="0" cy="0"/>
          <a:chOff x="0" y="0"/>
          <a:chExt cx="0" cy="0"/>
        </a:xfrm>
      </p:grpSpPr>
      <p:sp>
        <p:nvSpPr>
          <p:cNvPr id="60" name="Google Shape;60;p5"/>
          <p:cNvSpPr txBox="1">
            <a:spLocks noGrp="1"/>
          </p:cNvSpPr>
          <p:nvPr>
            <p:ph type="title"/>
          </p:nvPr>
        </p:nvSpPr>
        <p:spPr>
          <a:xfrm>
            <a:off x="624879" y="473075"/>
            <a:ext cx="10180200" cy="539700"/>
          </a:xfrm>
          <a:prstGeom prst="rect">
            <a:avLst/>
          </a:prstGeom>
          <a:noFill/>
          <a:ln>
            <a:noFill/>
          </a:ln>
        </p:spPr>
        <p:txBody>
          <a:bodyPr spcFirstLastPara="1" wrap="square" lIns="0" tIns="0" rIns="0" bIns="0" anchor="t" anchorCtr="0">
            <a:spAutoFit/>
          </a:bodyPr>
          <a:lstStyle>
            <a:lvl1pPr lvl="0" algn="l" rtl="0">
              <a:spcBef>
                <a:spcPts val="0"/>
              </a:spcBef>
              <a:spcAft>
                <a:spcPts val="0"/>
              </a:spcAft>
              <a:buSzPts val="1400"/>
              <a:buNone/>
              <a:defRPr sz="3350" b="1" i="0">
                <a:solidFill>
                  <a:schemeClr val="lt1"/>
                </a:solidFill>
                <a:latin typeface="Trebuchet MS"/>
                <a:ea typeface="Trebuchet MS"/>
                <a:cs typeface="Trebuchet MS"/>
                <a:sym typeface="Trebuchet MS"/>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1" name="Google Shape;61;p5"/>
          <p:cNvSpPr txBox="1">
            <a:spLocks noGrp="1"/>
          </p:cNvSpPr>
          <p:nvPr>
            <p:ph type="ftr" idx="11"/>
          </p:nvPr>
        </p:nvSpPr>
        <p:spPr>
          <a:xfrm>
            <a:off x="3886200" y="5994082"/>
            <a:ext cx="3657600" cy="322200"/>
          </a:xfrm>
          <a:prstGeom prst="rect">
            <a:avLst/>
          </a:prstGeom>
          <a:noFill/>
          <a:ln>
            <a:noFill/>
          </a:ln>
        </p:spPr>
        <p:txBody>
          <a:bodyPr spcFirstLastPara="1" wrap="square" lIns="0" tIns="0" rIns="0" bIns="0" anchor="t" anchorCtr="0">
            <a:spAutoFit/>
          </a:bodyPr>
          <a:lstStyle>
            <a:lvl1pPr lvl="0" algn="ctr" rtl="0">
              <a:spcBef>
                <a:spcPts val="0"/>
              </a:spcBef>
              <a:spcAft>
                <a:spcPts val="0"/>
              </a:spcAft>
              <a:buSzPts val="1400"/>
              <a:buNone/>
              <a:defRPr>
                <a:solidFill>
                  <a:srgbClr val="888888"/>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5"/>
          <p:cNvSpPr txBox="1">
            <a:spLocks noGrp="1"/>
          </p:cNvSpPr>
          <p:nvPr>
            <p:ph type="dt" idx="10"/>
          </p:nvPr>
        </p:nvSpPr>
        <p:spPr>
          <a:xfrm>
            <a:off x="571500" y="5994082"/>
            <a:ext cx="2628900" cy="322200"/>
          </a:xfrm>
          <a:prstGeom prst="rect">
            <a:avLst/>
          </a:prstGeom>
          <a:noFill/>
          <a:ln>
            <a:noFill/>
          </a:ln>
        </p:spPr>
        <p:txBody>
          <a:bodyPr spcFirstLastPara="1" wrap="square" lIns="0" tIns="0" rIns="0" bIns="0" anchor="t" anchorCtr="0">
            <a:spAutoFit/>
          </a:bodyPr>
          <a:lstStyle>
            <a:lvl1pPr lvl="0" algn="l" rtl="0">
              <a:spcBef>
                <a:spcPts val="0"/>
              </a:spcBef>
              <a:spcAft>
                <a:spcPts val="0"/>
              </a:spcAft>
              <a:buSzPts val="1400"/>
              <a:buNone/>
              <a:defRPr>
                <a:solidFill>
                  <a:srgbClr val="888888"/>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3" name="Google Shape;63;p5"/>
          <p:cNvSpPr txBox="1">
            <a:spLocks noGrp="1"/>
          </p:cNvSpPr>
          <p:nvPr>
            <p:ph type="sldNum" idx="12"/>
          </p:nvPr>
        </p:nvSpPr>
        <p:spPr>
          <a:xfrm>
            <a:off x="8229600" y="5994082"/>
            <a:ext cx="2628900" cy="322200"/>
          </a:xfrm>
          <a:prstGeom prst="rect">
            <a:avLst/>
          </a:prstGeom>
          <a:noFill/>
          <a:ln>
            <a:noFill/>
          </a:ln>
        </p:spPr>
        <p:txBody>
          <a:bodyPr spcFirstLastPara="1" wrap="square" lIns="0" tIns="0" rIns="0" bIns="0" anchor="t" anchorCtr="0">
            <a:spAutoFit/>
          </a:bodyPr>
          <a:lstStyle>
            <a:lvl1pPr lvl="0" indent="0" algn="r" rtl="0">
              <a:spcBef>
                <a:spcPts val="0"/>
              </a:spcBef>
              <a:buNone/>
              <a:defRPr>
                <a:solidFill>
                  <a:srgbClr val="888888"/>
                </a:solidFill>
              </a:defRPr>
            </a:lvl1pPr>
            <a:lvl2pPr lvl="1" indent="0" algn="r" rtl="0">
              <a:spcBef>
                <a:spcPts val="0"/>
              </a:spcBef>
              <a:buNone/>
              <a:defRPr>
                <a:solidFill>
                  <a:srgbClr val="888888"/>
                </a:solidFill>
              </a:defRPr>
            </a:lvl2pPr>
            <a:lvl3pPr lvl="2" indent="0" algn="r" rtl="0">
              <a:spcBef>
                <a:spcPts val="0"/>
              </a:spcBef>
              <a:buNone/>
              <a:defRPr>
                <a:solidFill>
                  <a:srgbClr val="888888"/>
                </a:solidFill>
              </a:defRPr>
            </a:lvl3pPr>
            <a:lvl4pPr lvl="3" indent="0" algn="r" rtl="0">
              <a:spcBef>
                <a:spcPts val="0"/>
              </a:spcBef>
              <a:buNone/>
              <a:defRPr>
                <a:solidFill>
                  <a:srgbClr val="888888"/>
                </a:solidFill>
              </a:defRPr>
            </a:lvl4pPr>
            <a:lvl5pPr lvl="4" indent="0" algn="r" rtl="0">
              <a:spcBef>
                <a:spcPts val="0"/>
              </a:spcBef>
              <a:buNone/>
              <a:defRPr>
                <a:solidFill>
                  <a:srgbClr val="888888"/>
                </a:solidFill>
              </a:defRPr>
            </a:lvl5pPr>
            <a:lvl6pPr lvl="5" indent="0" algn="r" rtl="0">
              <a:spcBef>
                <a:spcPts val="0"/>
              </a:spcBef>
              <a:buNone/>
              <a:defRPr>
                <a:solidFill>
                  <a:srgbClr val="888888"/>
                </a:solidFill>
              </a:defRPr>
            </a:lvl6pPr>
            <a:lvl7pPr lvl="6" indent="0" algn="r" rtl="0">
              <a:spcBef>
                <a:spcPts val="0"/>
              </a:spcBef>
              <a:buNone/>
              <a:defRPr>
                <a:solidFill>
                  <a:srgbClr val="888888"/>
                </a:solidFill>
              </a:defRPr>
            </a:lvl7pPr>
            <a:lvl8pPr lvl="7" indent="0" algn="r" rtl="0">
              <a:spcBef>
                <a:spcPts val="0"/>
              </a:spcBef>
              <a:buNone/>
              <a:defRPr>
                <a:solidFill>
                  <a:srgbClr val="888888"/>
                </a:solidFill>
              </a:defRPr>
            </a:lvl8pPr>
            <a:lvl9pPr lvl="8" indent="0" algn="r" rtl="0">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64"/>
        <p:cNvGrpSpPr/>
        <p:nvPr/>
      </p:nvGrpSpPr>
      <p:grpSpPr>
        <a:xfrm>
          <a:off x="0" y="0"/>
          <a:ext cx="0" cy="0"/>
          <a:chOff x="0" y="0"/>
          <a:chExt cx="0" cy="0"/>
        </a:xfrm>
      </p:grpSpPr>
      <p:sp>
        <p:nvSpPr>
          <p:cNvPr id="65" name="Google Shape;65;p6"/>
          <p:cNvSpPr txBox="1">
            <a:spLocks noGrp="1"/>
          </p:cNvSpPr>
          <p:nvPr>
            <p:ph type="ftr" idx="11"/>
          </p:nvPr>
        </p:nvSpPr>
        <p:spPr>
          <a:xfrm>
            <a:off x="3886200" y="5994082"/>
            <a:ext cx="3657600" cy="322200"/>
          </a:xfrm>
          <a:prstGeom prst="rect">
            <a:avLst/>
          </a:prstGeom>
          <a:noFill/>
          <a:ln>
            <a:noFill/>
          </a:ln>
        </p:spPr>
        <p:txBody>
          <a:bodyPr spcFirstLastPara="1" wrap="square" lIns="0" tIns="0" rIns="0" bIns="0" anchor="t" anchorCtr="0">
            <a:spAutoFit/>
          </a:bodyPr>
          <a:lstStyle>
            <a:lvl1pPr lvl="0" algn="ctr" rtl="0">
              <a:spcBef>
                <a:spcPts val="0"/>
              </a:spcBef>
              <a:spcAft>
                <a:spcPts val="0"/>
              </a:spcAft>
              <a:buSzPts val="1400"/>
              <a:buNone/>
              <a:defRPr>
                <a:solidFill>
                  <a:srgbClr val="888888"/>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6"/>
          <p:cNvSpPr txBox="1">
            <a:spLocks noGrp="1"/>
          </p:cNvSpPr>
          <p:nvPr>
            <p:ph type="dt" idx="10"/>
          </p:nvPr>
        </p:nvSpPr>
        <p:spPr>
          <a:xfrm>
            <a:off x="571500" y="5994082"/>
            <a:ext cx="2628900" cy="322200"/>
          </a:xfrm>
          <a:prstGeom prst="rect">
            <a:avLst/>
          </a:prstGeom>
          <a:noFill/>
          <a:ln>
            <a:noFill/>
          </a:ln>
        </p:spPr>
        <p:txBody>
          <a:bodyPr spcFirstLastPara="1" wrap="square" lIns="0" tIns="0" rIns="0" bIns="0" anchor="t" anchorCtr="0">
            <a:spAutoFit/>
          </a:bodyPr>
          <a:lstStyle>
            <a:lvl1pPr lvl="0" algn="l" rtl="0">
              <a:spcBef>
                <a:spcPts val="0"/>
              </a:spcBef>
              <a:spcAft>
                <a:spcPts val="0"/>
              </a:spcAft>
              <a:buSzPts val="1400"/>
              <a:buNone/>
              <a:defRPr>
                <a:solidFill>
                  <a:srgbClr val="888888"/>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7" name="Google Shape;67;p6"/>
          <p:cNvSpPr txBox="1">
            <a:spLocks noGrp="1"/>
          </p:cNvSpPr>
          <p:nvPr>
            <p:ph type="sldNum" idx="12"/>
          </p:nvPr>
        </p:nvSpPr>
        <p:spPr>
          <a:xfrm>
            <a:off x="8229600" y="5994082"/>
            <a:ext cx="2628900" cy="322200"/>
          </a:xfrm>
          <a:prstGeom prst="rect">
            <a:avLst/>
          </a:prstGeom>
          <a:noFill/>
          <a:ln>
            <a:noFill/>
          </a:ln>
        </p:spPr>
        <p:txBody>
          <a:bodyPr spcFirstLastPara="1" wrap="square" lIns="0" tIns="0" rIns="0" bIns="0" anchor="t" anchorCtr="0">
            <a:spAutoFit/>
          </a:bodyPr>
          <a:lstStyle>
            <a:lvl1pPr lvl="0" indent="0" algn="r" rtl="0">
              <a:spcBef>
                <a:spcPts val="0"/>
              </a:spcBef>
              <a:buNone/>
              <a:defRPr>
                <a:solidFill>
                  <a:srgbClr val="888888"/>
                </a:solidFill>
              </a:defRPr>
            </a:lvl1pPr>
            <a:lvl2pPr lvl="1" indent="0" algn="r" rtl="0">
              <a:spcBef>
                <a:spcPts val="0"/>
              </a:spcBef>
              <a:buNone/>
              <a:defRPr>
                <a:solidFill>
                  <a:srgbClr val="888888"/>
                </a:solidFill>
              </a:defRPr>
            </a:lvl2pPr>
            <a:lvl3pPr lvl="2" indent="0" algn="r" rtl="0">
              <a:spcBef>
                <a:spcPts val="0"/>
              </a:spcBef>
              <a:buNone/>
              <a:defRPr>
                <a:solidFill>
                  <a:srgbClr val="888888"/>
                </a:solidFill>
              </a:defRPr>
            </a:lvl3pPr>
            <a:lvl4pPr lvl="3" indent="0" algn="r" rtl="0">
              <a:spcBef>
                <a:spcPts val="0"/>
              </a:spcBef>
              <a:buNone/>
              <a:defRPr>
                <a:solidFill>
                  <a:srgbClr val="888888"/>
                </a:solidFill>
              </a:defRPr>
            </a:lvl4pPr>
            <a:lvl5pPr lvl="4" indent="0" algn="r" rtl="0">
              <a:spcBef>
                <a:spcPts val="0"/>
              </a:spcBef>
              <a:buNone/>
              <a:defRPr>
                <a:solidFill>
                  <a:srgbClr val="888888"/>
                </a:solidFill>
              </a:defRPr>
            </a:lvl5pPr>
            <a:lvl6pPr lvl="5" indent="0" algn="r" rtl="0">
              <a:spcBef>
                <a:spcPts val="0"/>
              </a:spcBef>
              <a:buNone/>
              <a:defRPr>
                <a:solidFill>
                  <a:srgbClr val="888888"/>
                </a:solidFill>
              </a:defRPr>
            </a:lvl6pPr>
            <a:lvl7pPr lvl="6" indent="0" algn="r" rtl="0">
              <a:spcBef>
                <a:spcPts val="0"/>
              </a:spcBef>
              <a:buNone/>
              <a:defRPr>
                <a:solidFill>
                  <a:srgbClr val="888888"/>
                </a:solidFill>
              </a:defRPr>
            </a:lvl7pPr>
            <a:lvl8pPr lvl="7" indent="0" algn="r" rtl="0">
              <a:spcBef>
                <a:spcPts val="0"/>
              </a:spcBef>
              <a:buNone/>
              <a:defRPr>
                <a:solidFill>
                  <a:srgbClr val="888888"/>
                </a:solidFill>
              </a:defRPr>
            </a:lvl8pPr>
            <a:lvl9pPr lvl="8" indent="0" algn="r" rtl="0">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2"/>
        <p:cNvGrpSpPr/>
        <p:nvPr/>
      </p:nvGrpSpPr>
      <p:grpSpPr>
        <a:xfrm>
          <a:off x="0" y="0"/>
          <a:ext cx="0" cy="0"/>
          <a:chOff x="0" y="0"/>
          <a:chExt cx="0" cy="0"/>
        </a:xfrm>
      </p:grpSpPr>
      <p:sp>
        <p:nvSpPr>
          <p:cNvPr id="33" name="Google Shape;33;p1"/>
          <p:cNvSpPr txBox="1">
            <a:spLocks noGrp="1"/>
          </p:cNvSpPr>
          <p:nvPr>
            <p:ph type="title"/>
          </p:nvPr>
        </p:nvSpPr>
        <p:spPr>
          <a:xfrm>
            <a:off x="624879" y="473075"/>
            <a:ext cx="10180200" cy="539700"/>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3350" b="1" i="0" u="none" strike="noStrike" cap="none">
                <a:solidFill>
                  <a:schemeClr val="lt1"/>
                </a:solidFill>
                <a:latin typeface="Trebuchet MS"/>
                <a:ea typeface="Trebuchet MS"/>
                <a:cs typeface="Trebuchet MS"/>
                <a:sym typeface="Trebuchet MS"/>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34" name="Google Shape;34;p1"/>
          <p:cNvSpPr txBox="1">
            <a:spLocks noGrp="1"/>
          </p:cNvSpPr>
          <p:nvPr>
            <p:ph type="body" idx="1"/>
          </p:nvPr>
        </p:nvSpPr>
        <p:spPr>
          <a:xfrm>
            <a:off x="571500" y="1482407"/>
            <a:ext cx="10287000" cy="4254000"/>
          </a:xfrm>
          <a:prstGeom prst="rect">
            <a:avLst/>
          </a:prstGeom>
          <a:noFill/>
          <a:ln>
            <a:noFill/>
          </a:ln>
        </p:spPr>
        <p:txBody>
          <a:bodyPr spcFirstLastPara="1" wrap="square" lIns="0" tIns="0" rIns="0" bIns="0" anchor="t" anchorCtr="0">
            <a:spAutoFit/>
          </a:bodyPr>
          <a:lstStyle>
            <a:lvl1pPr marL="457200" marR="0" lvl="0" indent="-228600" algn="l" rtl="0">
              <a:spcBef>
                <a:spcPts val="0"/>
              </a:spcBef>
              <a:spcAft>
                <a:spcPts val="0"/>
              </a:spcAft>
              <a:buSzPts val="1400"/>
              <a:buNone/>
              <a:defRPr sz="1800" b="0" i="0" u="none" strike="noStrike" cap="none">
                <a:latin typeface="Calibri"/>
                <a:ea typeface="Calibri"/>
                <a:cs typeface="Calibri"/>
                <a:sym typeface="Calibri"/>
              </a:defRPr>
            </a:lvl1pPr>
            <a:lvl2pPr marL="914400" marR="0" lvl="1" indent="-228600" algn="l" rtl="0">
              <a:spcBef>
                <a:spcPts val="0"/>
              </a:spcBef>
              <a:spcAft>
                <a:spcPts val="0"/>
              </a:spcAft>
              <a:buSzPts val="1400"/>
              <a:buNone/>
              <a:defRPr sz="1800" b="0" i="0" u="none" strike="noStrike" cap="none">
                <a:latin typeface="Calibri"/>
                <a:ea typeface="Calibri"/>
                <a:cs typeface="Calibri"/>
                <a:sym typeface="Calibri"/>
              </a:defRPr>
            </a:lvl2pPr>
            <a:lvl3pPr marL="1371600" marR="0" lvl="2" indent="-228600" algn="l" rtl="0">
              <a:spcBef>
                <a:spcPts val="0"/>
              </a:spcBef>
              <a:spcAft>
                <a:spcPts val="0"/>
              </a:spcAft>
              <a:buSzPts val="1400"/>
              <a:buNone/>
              <a:defRPr sz="1800" b="0" i="0" u="none" strike="noStrike" cap="none">
                <a:latin typeface="Calibri"/>
                <a:ea typeface="Calibri"/>
                <a:cs typeface="Calibri"/>
                <a:sym typeface="Calibri"/>
              </a:defRPr>
            </a:lvl3pPr>
            <a:lvl4pPr marL="1828800" marR="0" lvl="3" indent="-228600" algn="l" rtl="0">
              <a:spcBef>
                <a:spcPts val="0"/>
              </a:spcBef>
              <a:spcAft>
                <a:spcPts val="0"/>
              </a:spcAft>
              <a:buSzPts val="1400"/>
              <a:buNone/>
              <a:defRPr sz="1800" b="0" i="0" u="none" strike="noStrike" cap="none">
                <a:latin typeface="Calibri"/>
                <a:ea typeface="Calibri"/>
                <a:cs typeface="Calibri"/>
                <a:sym typeface="Calibri"/>
              </a:defRPr>
            </a:lvl4pPr>
            <a:lvl5pPr marL="2286000" marR="0" lvl="4" indent="-228600" algn="l" rtl="0">
              <a:spcBef>
                <a:spcPts val="0"/>
              </a:spcBef>
              <a:spcAft>
                <a:spcPts val="0"/>
              </a:spcAft>
              <a:buSzPts val="1400"/>
              <a:buNone/>
              <a:defRPr sz="1800" b="0" i="0" u="none" strike="noStrike" cap="none">
                <a:latin typeface="Calibri"/>
                <a:ea typeface="Calibri"/>
                <a:cs typeface="Calibri"/>
                <a:sym typeface="Calibri"/>
              </a:defRPr>
            </a:lvl5pPr>
            <a:lvl6pPr marL="2743200" marR="0" lvl="5" indent="-228600" algn="l" rtl="0">
              <a:spcBef>
                <a:spcPts val="0"/>
              </a:spcBef>
              <a:spcAft>
                <a:spcPts val="0"/>
              </a:spcAft>
              <a:buSzPts val="1400"/>
              <a:buNone/>
              <a:defRPr sz="1800" b="0" i="0" u="none" strike="noStrike" cap="none">
                <a:latin typeface="Calibri"/>
                <a:ea typeface="Calibri"/>
                <a:cs typeface="Calibri"/>
                <a:sym typeface="Calibri"/>
              </a:defRPr>
            </a:lvl6pPr>
            <a:lvl7pPr marL="3200400" marR="0" lvl="6" indent="-228600" algn="l" rtl="0">
              <a:spcBef>
                <a:spcPts val="0"/>
              </a:spcBef>
              <a:spcAft>
                <a:spcPts val="0"/>
              </a:spcAft>
              <a:buSzPts val="1400"/>
              <a:buNone/>
              <a:defRPr sz="1800" b="0" i="0" u="none" strike="noStrike" cap="none">
                <a:latin typeface="Calibri"/>
                <a:ea typeface="Calibri"/>
                <a:cs typeface="Calibri"/>
                <a:sym typeface="Calibri"/>
              </a:defRPr>
            </a:lvl7pPr>
            <a:lvl8pPr marL="3657600" marR="0" lvl="7" indent="-228600" algn="l" rtl="0">
              <a:spcBef>
                <a:spcPts val="0"/>
              </a:spcBef>
              <a:spcAft>
                <a:spcPts val="0"/>
              </a:spcAft>
              <a:buSzPts val="1400"/>
              <a:buNone/>
              <a:defRPr sz="1800" b="0" i="0" u="none" strike="noStrike" cap="none">
                <a:latin typeface="Calibri"/>
                <a:ea typeface="Calibri"/>
                <a:cs typeface="Calibri"/>
                <a:sym typeface="Calibri"/>
              </a:defRPr>
            </a:lvl8pPr>
            <a:lvl9pPr marL="4114800" marR="0" lvl="8" indent="-228600" algn="l" rtl="0">
              <a:spcBef>
                <a:spcPts val="0"/>
              </a:spcBef>
              <a:spcAft>
                <a:spcPts val="0"/>
              </a:spcAft>
              <a:buSzPts val="1400"/>
              <a:buNone/>
              <a:defRPr sz="1800" b="0" i="0" u="none" strike="noStrike" cap="none">
                <a:latin typeface="Calibri"/>
                <a:ea typeface="Calibri"/>
                <a:cs typeface="Calibri"/>
                <a:sym typeface="Calibri"/>
              </a:defRPr>
            </a:lvl9pPr>
          </a:lstStyle>
          <a:p>
            <a:endParaRPr/>
          </a:p>
        </p:txBody>
      </p:sp>
      <p:sp>
        <p:nvSpPr>
          <p:cNvPr id="35" name="Google Shape;35;p1"/>
          <p:cNvSpPr txBox="1">
            <a:spLocks noGrp="1"/>
          </p:cNvSpPr>
          <p:nvPr>
            <p:ph type="ftr" idx="11"/>
          </p:nvPr>
        </p:nvSpPr>
        <p:spPr>
          <a:xfrm>
            <a:off x="3886200" y="5994082"/>
            <a:ext cx="3657600" cy="322200"/>
          </a:xfrm>
          <a:prstGeom prst="rect">
            <a:avLst/>
          </a:prstGeom>
          <a:noFill/>
          <a:ln>
            <a:noFill/>
          </a:ln>
        </p:spPr>
        <p:txBody>
          <a:bodyPr spcFirstLastPara="1" wrap="square" lIns="0" tIns="0" rIns="0" bIns="0" anchor="t" anchorCtr="0">
            <a:spAutoFit/>
          </a:bodyPr>
          <a:lstStyle>
            <a:lvl1pPr lvl="0" algn="ctr" rtl="0">
              <a:spcBef>
                <a:spcPts val="0"/>
              </a:spcBef>
              <a:spcAft>
                <a:spcPts val="0"/>
              </a:spcAft>
              <a:buSzPts val="1400"/>
              <a:buNone/>
              <a:defRPr sz="1800">
                <a:solidFill>
                  <a:srgbClr val="888888"/>
                </a:solidFill>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36" name="Google Shape;36;p1"/>
          <p:cNvSpPr txBox="1">
            <a:spLocks noGrp="1"/>
          </p:cNvSpPr>
          <p:nvPr>
            <p:ph type="dt" idx="10"/>
          </p:nvPr>
        </p:nvSpPr>
        <p:spPr>
          <a:xfrm>
            <a:off x="571500" y="5994082"/>
            <a:ext cx="2628900" cy="322200"/>
          </a:xfrm>
          <a:prstGeom prst="rect">
            <a:avLst/>
          </a:prstGeom>
          <a:noFill/>
          <a:ln>
            <a:noFill/>
          </a:ln>
        </p:spPr>
        <p:txBody>
          <a:bodyPr spcFirstLastPara="1" wrap="square" lIns="0" tIns="0" rIns="0" bIns="0" anchor="t" anchorCtr="0">
            <a:spAutoFit/>
          </a:bodyPr>
          <a:lstStyle>
            <a:lvl1pPr lvl="0" algn="l" rtl="0">
              <a:spcBef>
                <a:spcPts val="0"/>
              </a:spcBef>
              <a:spcAft>
                <a:spcPts val="0"/>
              </a:spcAft>
              <a:buSzPts val="1400"/>
              <a:buNone/>
              <a:defRPr sz="1800">
                <a:solidFill>
                  <a:srgbClr val="888888"/>
                </a:solidFill>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37" name="Google Shape;37;p1"/>
          <p:cNvSpPr txBox="1">
            <a:spLocks noGrp="1"/>
          </p:cNvSpPr>
          <p:nvPr>
            <p:ph type="sldNum" idx="12"/>
          </p:nvPr>
        </p:nvSpPr>
        <p:spPr>
          <a:xfrm>
            <a:off x="8229600" y="5994082"/>
            <a:ext cx="2628900" cy="322200"/>
          </a:xfrm>
          <a:prstGeom prst="rect">
            <a:avLst/>
          </a:prstGeom>
          <a:noFill/>
          <a:ln>
            <a:noFill/>
          </a:ln>
        </p:spPr>
        <p:txBody>
          <a:bodyPr spcFirstLastPara="1" wrap="square" lIns="0" tIns="0" rIns="0" bIns="0" anchor="t" anchorCtr="0">
            <a:spAutoFit/>
          </a:bodyPr>
          <a:lstStyle>
            <a:lvl1pPr lvl="0" indent="0" algn="r" rtl="0">
              <a:spcBef>
                <a:spcPts val="0"/>
              </a:spcBef>
              <a:buNone/>
              <a:defRPr sz="1800">
                <a:solidFill>
                  <a:srgbClr val="888888"/>
                </a:solidFill>
              </a:defRPr>
            </a:lvl1pPr>
            <a:lvl2pPr lvl="1" indent="0" algn="r" rtl="0">
              <a:spcBef>
                <a:spcPts val="0"/>
              </a:spcBef>
              <a:buNone/>
              <a:defRPr sz="1800">
                <a:solidFill>
                  <a:srgbClr val="888888"/>
                </a:solidFill>
              </a:defRPr>
            </a:lvl2pPr>
            <a:lvl3pPr lvl="2" indent="0" algn="r" rtl="0">
              <a:spcBef>
                <a:spcPts val="0"/>
              </a:spcBef>
              <a:buNone/>
              <a:defRPr sz="1800">
                <a:solidFill>
                  <a:srgbClr val="888888"/>
                </a:solidFill>
              </a:defRPr>
            </a:lvl3pPr>
            <a:lvl4pPr lvl="3" indent="0" algn="r" rtl="0">
              <a:spcBef>
                <a:spcPts val="0"/>
              </a:spcBef>
              <a:buNone/>
              <a:defRPr sz="1800">
                <a:solidFill>
                  <a:srgbClr val="888888"/>
                </a:solidFill>
              </a:defRPr>
            </a:lvl4pPr>
            <a:lvl5pPr lvl="4" indent="0" algn="r" rtl="0">
              <a:spcBef>
                <a:spcPts val="0"/>
              </a:spcBef>
              <a:buNone/>
              <a:defRPr sz="1800">
                <a:solidFill>
                  <a:srgbClr val="888888"/>
                </a:solidFill>
              </a:defRPr>
            </a:lvl5pPr>
            <a:lvl6pPr lvl="5" indent="0" algn="r" rtl="0">
              <a:spcBef>
                <a:spcPts val="0"/>
              </a:spcBef>
              <a:buNone/>
              <a:defRPr sz="1800">
                <a:solidFill>
                  <a:srgbClr val="888888"/>
                </a:solidFill>
              </a:defRPr>
            </a:lvl6pPr>
            <a:lvl7pPr lvl="6" indent="0" algn="r" rtl="0">
              <a:spcBef>
                <a:spcPts val="0"/>
              </a:spcBef>
              <a:buNone/>
              <a:defRPr sz="1800">
                <a:solidFill>
                  <a:srgbClr val="888888"/>
                </a:solidFill>
              </a:defRPr>
            </a:lvl7pPr>
            <a:lvl8pPr lvl="7" indent="0" algn="r" rtl="0">
              <a:spcBef>
                <a:spcPts val="0"/>
              </a:spcBef>
              <a:buNone/>
              <a:defRPr sz="1800">
                <a:solidFill>
                  <a:srgbClr val="888888"/>
                </a:solidFill>
              </a:defRPr>
            </a:lvl8pPr>
            <a:lvl9pPr lvl="8" indent="0" algn="r" rtl="0">
              <a:spcBef>
                <a:spcPts val="0"/>
              </a:spcBef>
              <a:buNone/>
              <a:defRPr sz="1800">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55" r:id="rId2"/>
    <p:sldLayoutId id="2147483657" r:id="rId3"/>
    <p:sldLayoutId id="2147483658"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8"/>
          <p:cNvSpPr txBox="1">
            <a:spLocks noGrp="1"/>
          </p:cNvSpPr>
          <p:nvPr>
            <p:ph type="ctrTitle"/>
          </p:nvPr>
        </p:nvSpPr>
        <p:spPr>
          <a:xfrm>
            <a:off x="4911128" y="2082800"/>
            <a:ext cx="4448700" cy="1073100"/>
          </a:xfrm>
          <a:prstGeom prst="rect">
            <a:avLst/>
          </a:prstGeom>
          <a:noFill/>
          <a:ln>
            <a:noFill/>
          </a:ln>
        </p:spPr>
        <p:txBody>
          <a:bodyPr spcFirstLastPara="1" wrap="square" lIns="0" tIns="6350" rIns="0" bIns="0" anchor="t" anchorCtr="0">
            <a:spAutoFit/>
          </a:bodyPr>
          <a:lstStyle/>
          <a:p>
            <a:pPr marL="12700" marR="5080" lvl="0" indent="0" algn="l" rtl="0">
              <a:lnSpc>
                <a:spcPct val="127272"/>
              </a:lnSpc>
              <a:spcBef>
                <a:spcPts val="0"/>
              </a:spcBef>
              <a:spcAft>
                <a:spcPts val="0"/>
              </a:spcAft>
              <a:buNone/>
            </a:pPr>
            <a:r>
              <a:rPr lang="en-US"/>
              <a:t>LED Resistor Value Calculator</a:t>
            </a:r>
            <a:endParaRPr/>
          </a:p>
        </p:txBody>
      </p:sp>
      <p:sp>
        <p:nvSpPr>
          <p:cNvPr id="76" name="Google Shape;76;p8"/>
          <p:cNvSpPr txBox="1">
            <a:spLocks noGrp="1"/>
          </p:cNvSpPr>
          <p:nvPr>
            <p:ph type="subTitle" idx="1"/>
          </p:nvPr>
        </p:nvSpPr>
        <p:spPr>
          <a:xfrm>
            <a:off x="4911128" y="3395573"/>
            <a:ext cx="5448900" cy="892200"/>
          </a:xfrm>
          <a:prstGeom prst="rect">
            <a:avLst/>
          </a:prstGeom>
          <a:noFill/>
          <a:ln>
            <a:noFill/>
          </a:ln>
        </p:spPr>
        <p:txBody>
          <a:bodyPr spcFirstLastPara="1" wrap="square" lIns="0" tIns="6975" rIns="0" bIns="0" anchor="t" anchorCtr="0">
            <a:spAutoFit/>
          </a:bodyPr>
          <a:lstStyle/>
          <a:p>
            <a:pPr marL="12700" marR="5080" lvl="0" indent="0" algn="l" rtl="0">
              <a:lnSpc>
                <a:spcPct val="136000"/>
              </a:lnSpc>
              <a:spcBef>
                <a:spcPts val="0"/>
              </a:spcBef>
              <a:spcAft>
                <a:spcPts val="0"/>
              </a:spcAft>
              <a:buNone/>
            </a:pPr>
            <a:r>
              <a:rPr lang="en-US" sz="1400">
                <a:solidFill>
                  <a:srgbClr val="D9E1FF"/>
                </a:solidFill>
                <a:latin typeface="Arial"/>
                <a:ea typeface="Arial"/>
                <a:cs typeface="Arial"/>
                <a:sym typeface="Arial"/>
              </a:rPr>
              <a:t>A systematic tool for designing safe, efficient LED circuits — with automatic validation, resistor calculation, power analysis, and batch report generation.</a:t>
            </a:r>
            <a:endParaRPr sz="1400">
              <a:latin typeface="Arial"/>
              <a:ea typeface="Arial"/>
              <a:cs typeface="Arial"/>
              <a:sym typeface="Arial"/>
            </a:endParaRPr>
          </a:p>
        </p:txBody>
      </p:sp>
      <p:sp>
        <p:nvSpPr>
          <p:cNvPr id="77" name="Google Shape;77;p8"/>
          <p:cNvSpPr txBox="1"/>
          <p:nvPr/>
        </p:nvSpPr>
        <p:spPr>
          <a:xfrm>
            <a:off x="5943727" y="271272"/>
            <a:ext cx="2609100" cy="359400"/>
          </a:xfrm>
          <a:prstGeom prst="rect">
            <a:avLst/>
          </a:prstGeom>
          <a:gradFill>
            <a:gsLst>
              <a:gs pos="0">
                <a:srgbClr val="5D427D"/>
              </a:gs>
              <a:gs pos="80000">
                <a:srgbClr val="7A57A5"/>
              </a:gs>
              <a:gs pos="100000">
                <a:srgbClr val="7A56A7"/>
              </a:gs>
            </a:gsLst>
            <a:lin ang="16200038" scaled="0"/>
          </a:gradFill>
          <a:ln>
            <a:noFill/>
          </a:ln>
        </p:spPr>
        <p:txBody>
          <a:bodyPr spcFirstLastPara="1" wrap="square" lIns="269875" tIns="136525" rIns="269875" bIns="136525" anchor="ctr" anchorCtr="0">
            <a:noAutofit/>
          </a:bodyPr>
          <a:lstStyle/>
          <a:p>
            <a:pPr marL="0" lvl="0" indent="0" algn="ctr" rtl="0">
              <a:spcBef>
                <a:spcPts val="0"/>
              </a:spcBef>
              <a:spcAft>
                <a:spcPts val="0"/>
              </a:spcAft>
              <a:buNone/>
            </a:pPr>
            <a:r>
              <a:rPr lang="en-US" sz="1800">
                <a:solidFill>
                  <a:schemeClr val="lt1"/>
                </a:solidFill>
                <a:latin typeface="Calibri"/>
                <a:ea typeface="Calibri"/>
                <a:cs typeface="Calibri"/>
                <a:sym typeface="Calibri"/>
              </a:rPr>
              <a:t>GROUP NUMBER</a:t>
            </a:r>
            <a:endParaRPr sz="1800">
              <a:solidFill>
                <a:schemeClr val="l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Shape 94"/>
        <p:cNvGrpSpPr/>
        <p:nvPr/>
      </p:nvGrpSpPr>
      <p:grpSpPr>
        <a:xfrm>
          <a:off x="0" y="0"/>
          <a:ext cx="0" cy="0"/>
          <a:chOff x="0" y="0"/>
          <a:chExt cx="0" cy="0"/>
        </a:xfrm>
      </p:grpSpPr>
      <p:sp>
        <p:nvSpPr>
          <p:cNvPr id="95" name="Google Shape;95;p11"/>
          <p:cNvSpPr/>
          <p:nvPr/>
        </p:nvSpPr>
        <p:spPr>
          <a:xfrm>
            <a:off x="0" y="0"/>
            <a:ext cx="11430000" cy="7732776"/>
          </a:xfrm>
          <a:custGeom>
            <a:avLst/>
            <a:gdLst/>
            <a:ahLst/>
            <a:cxnLst/>
            <a:rect l="l" t="t" r="r" b="b"/>
            <a:pathLst>
              <a:path w="11430000" h="6553200" extrusionOk="0">
                <a:moveTo>
                  <a:pt x="11430000" y="0"/>
                </a:moveTo>
                <a:lnTo>
                  <a:pt x="0" y="0"/>
                </a:lnTo>
                <a:lnTo>
                  <a:pt x="0" y="6553200"/>
                </a:lnTo>
                <a:lnTo>
                  <a:pt x="11430000" y="6553200"/>
                </a:lnTo>
                <a:lnTo>
                  <a:pt x="11430000" y="0"/>
                </a:lnTo>
                <a:close/>
              </a:path>
            </a:pathLst>
          </a:custGeom>
          <a:solidFill>
            <a:srgbClr val="0C0932"/>
          </a:solidFill>
          <a:ln>
            <a:noFill/>
          </a:ln>
        </p:spPr>
        <p:txBody>
          <a:bodyPr spcFirstLastPara="1" wrap="square" lIns="0" tIns="0" rIns="0" bIns="0" anchor="t" anchorCtr="0">
            <a:noAutofit/>
          </a:bodyPr>
          <a:lstStyle/>
          <a:p>
            <a:pPr marL="0" lvl="0" indent="0" algn="l" rtl="0">
              <a:spcBef>
                <a:spcPts val="0"/>
              </a:spcBef>
              <a:spcAft>
                <a:spcPts val="0"/>
              </a:spcAft>
              <a:buNone/>
            </a:pPr>
            <a:endParaRPr dirty="0"/>
          </a:p>
        </p:txBody>
      </p:sp>
      <p:sp>
        <p:nvSpPr>
          <p:cNvPr id="98" name="Google Shape;98;p11"/>
          <p:cNvSpPr/>
          <p:nvPr/>
        </p:nvSpPr>
        <p:spPr>
          <a:xfrm>
            <a:off x="7524750" y="3419475"/>
            <a:ext cx="1895475" cy="247650"/>
          </a:xfrm>
          <a:custGeom>
            <a:avLst/>
            <a:gdLst/>
            <a:ahLst/>
            <a:cxnLst/>
            <a:rect l="l" t="t" r="r" b="b"/>
            <a:pathLst>
              <a:path w="1895475" h="247650" extrusionOk="0">
                <a:moveTo>
                  <a:pt x="1875726" y="0"/>
                </a:moveTo>
                <a:lnTo>
                  <a:pt x="19748" y="0"/>
                </a:lnTo>
                <a:lnTo>
                  <a:pt x="16840" y="571"/>
                </a:lnTo>
                <a:lnTo>
                  <a:pt x="0" y="19748"/>
                </a:lnTo>
                <a:lnTo>
                  <a:pt x="0" y="224878"/>
                </a:lnTo>
                <a:lnTo>
                  <a:pt x="0" y="227901"/>
                </a:lnTo>
                <a:lnTo>
                  <a:pt x="19748" y="247650"/>
                </a:lnTo>
                <a:lnTo>
                  <a:pt x="1875726" y="247650"/>
                </a:lnTo>
                <a:lnTo>
                  <a:pt x="1895475" y="227901"/>
                </a:lnTo>
                <a:lnTo>
                  <a:pt x="1895475" y="19748"/>
                </a:lnTo>
                <a:lnTo>
                  <a:pt x="1878622" y="571"/>
                </a:lnTo>
                <a:lnTo>
                  <a:pt x="1875726" y="0"/>
                </a:lnTo>
                <a:close/>
              </a:path>
            </a:pathLst>
          </a:custGeom>
          <a:solidFill>
            <a:srgbClr val="18163F"/>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9" name="Google Shape;99;p11"/>
          <p:cNvSpPr/>
          <p:nvPr/>
        </p:nvSpPr>
        <p:spPr>
          <a:xfrm>
            <a:off x="7581900" y="4457700"/>
            <a:ext cx="57150" cy="57150"/>
          </a:xfrm>
          <a:custGeom>
            <a:avLst/>
            <a:gdLst/>
            <a:ahLst/>
            <a:cxnLst/>
            <a:rect l="l" t="t" r="r" b="b"/>
            <a:pathLst>
              <a:path w="57150" h="57150" extrusionOk="0">
                <a:moveTo>
                  <a:pt x="32359" y="0"/>
                </a:moveTo>
                <a:lnTo>
                  <a:pt x="24790" y="0"/>
                </a:lnTo>
                <a:lnTo>
                  <a:pt x="21132" y="723"/>
                </a:lnTo>
                <a:lnTo>
                  <a:pt x="0" y="24790"/>
                </a:lnTo>
                <a:lnTo>
                  <a:pt x="0" y="32359"/>
                </a:lnTo>
                <a:lnTo>
                  <a:pt x="24790" y="57150"/>
                </a:lnTo>
                <a:lnTo>
                  <a:pt x="32359" y="57150"/>
                </a:lnTo>
                <a:lnTo>
                  <a:pt x="57150" y="32359"/>
                </a:lnTo>
                <a:lnTo>
                  <a:pt x="57150" y="28575"/>
                </a:lnTo>
                <a:lnTo>
                  <a:pt x="57150" y="24790"/>
                </a:lnTo>
                <a:lnTo>
                  <a:pt x="36004" y="723"/>
                </a:lnTo>
                <a:lnTo>
                  <a:pt x="32359" y="0"/>
                </a:lnTo>
                <a:close/>
              </a:path>
            </a:pathLst>
          </a:custGeom>
          <a:solidFill>
            <a:srgbClr val="D9E1FF"/>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00" name="Google Shape;100;p11"/>
          <p:cNvSpPr/>
          <p:nvPr/>
        </p:nvSpPr>
        <p:spPr>
          <a:xfrm>
            <a:off x="7581900" y="5105400"/>
            <a:ext cx="57150" cy="57150"/>
          </a:xfrm>
          <a:custGeom>
            <a:avLst/>
            <a:gdLst/>
            <a:ahLst/>
            <a:cxnLst/>
            <a:rect l="l" t="t" r="r" b="b"/>
            <a:pathLst>
              <a:path w="57150" h="57150" extrusionOk="0">
                <a:moveTo>
                  <a:pt x="32359" y="0"/>
                </a:moveTo>
                <a:lnTo>
                  <a:pt x="24790" y="0"/>
                </a:lnTo>
                <a:lnTo>
                  <a:pt x="21132" y="723"/>
                </a:lnTo>
                <a:lnTo>
                  <a:pt x="0" y="24790"/>
                </a:lnTo>
                <a:lnTo>
                  <a:pt x="0" y="32359"/>
                </a:lnTo>
                <a:lnTo>
                  <a:pt x="24790" y="57150"/>
                </a:lnTo>
                <a:lnTo>
                  <a:pt x="32359" y="57150"/>
                </a:lnTo>
                <a:lnTo>
                  <a:pt x="57150" y="32359"/>
                </a:lnTo>
                <a:lnTo>
                  <a:pt x="57150" y="28575"/>
                </a:lnTo>
                <a:lnTo>
                  <a:pt x="57150" y="24790"/>
                </a:lnTo>
                <a:lnTo>
                  <a:pt x="36004" y="723"/>
                </a:lnTo>
                <a:lnTo>
                  <a:pt x="32359" y="0"/>
                </a:lnTo>
                <a:close/>
              </a:path>
            </a:pathLst>
          </a:custGeom>
          <a:solidFill>
            <a:srgbClr val="D9E1FF"/>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01" name="Google Shape;101;p11"/>
          <p:cNvSpPr/>
          <p:nvPr/>
        </p:nvSpPr>
        <p:spPr>
          <a:xfrm>
            <a:off x="7581900" y="5457825"/>
            <a:ext cx="57150" cy="57150"/>
          </a:xfrm>
          <a:custGeom>
            <a:avLst/>
            <a:gdLst/>
            <a:ahLst/>
            <a:cxnLst/>
            <a:rect l="l" t="t" r="r" b="b"/>
            <a:pathLst>
              <a:path w="57150" h="57150" extrusionOk="0">
                <a:moveTo>
                  <a:pt x="32359" y="0"/>
                </a:moveTo>
                <a:lnTo>
                  <a:pt x="24790" y="0"/>
                </a:lnTo>
                <a:lnTo>
                  <a:pt x="21132" y="723"/>
                </a:lnTo>
                <a:lnTo>
                  <a:pt x="0" y="24785"/>
                </a:lnTo>
                <a:lnTo>
                  <a:pt x="0" y="32364"/>
                </a:lnTo>
                <a:lnTo>
                  <a:pt x="24790" y="57150"/>
                </a:lnTo>
                <a:lnTo>
                  <a:pt x="32359" y="57150"/>
                </a:lnTo>
                <a:lnTo>
                  <a:pt x="57150" y="32364"/>
                </a:lnTo>
                <a:lnTo>
                  <a:pt x="57150" y="28575"/>
                </a:lnTo>
                <a:lnTo>
                  <a:pt x="57150" y="24785"/>
                </a:lnTo>
                <a:lnTo>
                  <a:pt x="36004" y="723"/>
                </a:lnTo>
                <a:lnTo>
                  <a:pt x="32359" y="0"/>
                </a:lnTo>
                <a:close/>
              </a:path>
            </a:pathLst>
          </a:custGeom>
          <a:solidFill>
            <a:srgbClr val="D9E1FF"/>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02" name="Google Shape;102;p11"/>
          <p:cNvSpPr/>
          <p:nvPr/>
        </p:nvSpPr>
        <p:spPr>
          <a:xfrm>
            <a:off x="7581900" y="5819775"/>
            <a:ext cx="57150" cy="57150"/>
          </a:xfrm>
          <a:custGeom>
            <a:avLst/>
            <a:gdLst/>
            <a:ahLst/>
            <a:cxnLst/>
            <a:rect l="l" t="t" r="r" b="b"/>
            <a:pathLst>
              <a:path w="57150" h="57150" extrusionOk="0">
                <a:moveTo>
                  <a:pt x="32359" y="0"/>
                </a:moveTo>
                <a:lnTo>
                  <a:pt x="24790" y="0"/>
                </a:lnTo>
                <a:lnTo>
                  <a:pt x="21132" y="723"/>
                </a:lnTo>
                <a:lnTo>
                  <a:pt x="0" y="24785"/>
                </a:lnTo>
                <a:lnTo>
                  <a:pt x="0" y="32364"/>
                </a:lnTo>
                <a:lnTo>
                  <a:pt x="24790" y="57150"/>
                </a:lnTo>
                <a:lnTo>
                  <a:pt x="32359" y="57150"/>
                </a:lnTo>
                <a:lnTo>
                  <a:pt x="57150" y="32364"/>
                </a:lnTo>
                <a:lnTo>
                  <a:pt x="57150" y="28575"/>
                </a:lnTo>
                <a:lnTo>
                  <a:pt x="57150" y="24785"/>
                </a:lnTo>
                <a:lnTo>
                  <a:pt x="36004" y="723"/>
                </a:lnTo>
                <a:lnTo>
                  <a:pt x="32359" y="0"/>
                </a:lnTo>
                <a:close/>
              </a:path>
            </a:pathLst>
          </a:custGeom>
          <a:solidFill>
            <a:srgbClr val="D9E1FF"/>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03" name="Google Shape;103;p11"/>
          <p:cNvSpPr txBox="1"/>
          <p:nvPr/>
        </p:nvSpPr>
        <p:spPr>
          <a:xfrm>
            <a:off x="709863" y="1468437"/>
            <a:ext cx="10065047" cy="5526493"/>
          </a:xfrm>
          <a:prstGeom prst="rect">
            <a:avLst/>
          </a:prstGeom>
          <a:noFill/>
          <a:ln>
            <a:noFill/>
          </a:ln>
        </p:spPr>
        <p:txBody>
          <a:bodyPr spcFirstLastPara="1" wrap="square" lIns="0" tIns="17125" rIns="0" bIns="0" anchor="t" anchorCtr="0">
            <a:spAutoFit/>
          </a:bodyPr>
          <a:lstStyle/>
          <a:p>
            <a:pPr marL="0" lvl="0" indent="0" algn="l" rtl="0">
              <a:spcBef>
                <a:spcPts val="0"/>
              </a:spcBef>
              <a:spcAft>
                <a:spcPts val="0"/>
              </a:spcAft>
              <a:buNone/>
            </a:pPr>
            <a:r>
              <a:rPr lang="en-US" dirty="0">
                <a:solidFill>
                  <a:schemeClr val="bg1"/>
                </a:solidFill>
              </a:rPr>
              <a:t>Introduction</a:t>
            </a:r>
          </a:p>
          <a:p>
            <a:pPr marL="0" lvl="0" indent="0" algn="l" rtl="0">
              <a:spcBef>
                <a:spcPts val="0"/>
              </a:spcBef>
              <a:spcAft>
                <a:spcPts val="0"/>
              </a:spcAft>
              <a:buNone/>
            </a:pPr>
            <a:r>
              <a:rPr lang="en-US" dirty="0">
                <a:solidFill>
                  <a:schemeClr val="bg1"/>
                </a:solidFill>
              </a:rPr>
              <a:t>Before I explain our program, I'd like to ask everyone a simple question. Have you ever connected an LED directly to a battery? Many beginners do exactly that. Sometimes the LED lights up for a few seconds and then suddenly burns out. Other times it becomes extremely hot or doesn't shine properly. Why does this happen? The answer is simple. An LED cannot control the amount of current flowing through it. Think of an LED as a person drinking water through a straw. If the water pressure is gentle, the person drinks comfortably. But if you connect a fire hose to the straw, the pressure is too much. The person cannot handle it. The LED behaves the same way. Too much current destroys it. That is why every LED requires a current-limiting resistor connected in series. Our software calculates that resistor automatically. Instead of guessing resistor values, users obtain accurate electrical calculations within seconds.</a:t>
            </a:r>
          </a:p>
          <a:p>
            <a:pPr marL="0" lvl="0" indent="0" algn="l" rtl="0">
              <a:spcBef>
                <a:spcPts val="0"/>
              </a:spcBef>
              <a:spcAft>
                <a:spcPts val="0"/>
              </a:spcAft>
              <a:buNone/>
            </a:pPr>
            <a:endParaRPr lang="en-US" dirty="0">
              <a:solidFill>
                <a:schemeClr val="bg1"/>
              </a:solidFill>
            </a:endParaRPr>
          </a:p>
          <a:p>
            <a:pPr marL="0" lvl="0" indent="0" algn="l" rtl="0">
              <a:spcBef>
                <a:spcPts val="0"/>
              </a:spcBef>
              <a:spcAft>
                <a:spcPts val="0"/>
              </a:spcAft>
              <a:buNone/>
            </a:pPr>
            <a:r>
              <a:rPr lang="en-US" dirty="0">
                <a:solidFill>
                  <a:schemeClr val="bg1"/>
                </a:solidFill>
              </a:rPr>
              <a:t>PROBLEM STATEMENT</a:t>
            </a:r>
          </a:p>
          <a:p>
            <a:pPr marL="0" lvl="0" indent="0" algn="l" rtl="0">
              <a:spcBef>
                <a:spcPts val="0"/>
              </a:spcBef>
              <a:spcAft>
                <a:spcPts val="0"/>
              </a:spcAft>
              <a:buNone/>
            </a:pPr>
            <a:r>
              <a:rPr lang="en-US" dirty="0">
                <a:solidFill>
                  <a:schemeClr val="bg1"/>
                </a:solidFill>
              </a:rPr>
              <a:t>Many students simply copy resistor values from YouTube videos, laboratory manuals or previous circuits. However, every circuit is different. Changing the battery voltage or changing the LED color changes the electrical requirements. Guessing resistor values may lead to:</a:t>
            </a:r>
          </a:p>
          <a:p>
            <a:pPr marL="0" lvl="0" indent="0" algn="l" rtl="0">
              <a:spcBef>
                <a:spcPts val="0"/>
              </a:spcBef>
              <a:spcAft>
                <a:spcPts val="0"/>
              </a:spcAft>
              <a:buNone/>
            </a:pPr>
            <a:r>
              <a:rPr lang="en-US" dirty="0">
                <a:solidFill>
                  <a:schemeClr val="bg1"/>
                </a:solidFill>
              </a:rPr>
              <a:t>Damaged LEDs, poor brightness, wasted components, incorrect circuit operation. Therefore, we developed a C++ application that performs these calculations correctly before the circuit is built.</a:t>
            </a:r>
          </a:p>
          <a:p>
            <a:pPr marL="0" lvl="0" indent="0" algn="l" rtl="0">
              <a:spcBef>
                <a:spcPts val="0"/>
              </a:spcBef>
              <a:spcAft>
                <a:spcPts val="0"/>
              </a:spcAft>
              <a:buNone/>
            </a:pPr>
            <a:endParaRPr lang="en-US" dirty="0">
              <a:highlight>
                <a:srgbClr val="FFFF00"/>
              </a:highlight>
            </a:endParaRPr>
          </a:p>
          <a:p>
            <a:pPr marL="12700" lvl="0" indent="0" algn="l" rtl="0">
              <a:lnSpc>
                <a:spcPct val="100000"/>
              </a:lnSpc>
              <a:spcBef>
                <a:spcPts val="0"/>
              </a:spcBef>
              <a:spcAft>
                <a:spcPts val="0"/>
              </a:spcAft>
              <a:buNone/>
            </a:pPr>
            <a:endParaRPr sz="1600" dirty="0">
              <a:solidFill>
                <a:schemeClr val="bg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Shape 94"/>
        <p:cNvGrpSpPr/>
        <p:nvPr/>
      </p:nvGrpSpPr>
      <p:grpSpPr>
        <a:xfrm>
          <a:off x="0" y="0"/>
          <a:ext cx="0" cy="0"/>
          <a:chOff x="0" y="0"/>
          <a:chExt cx="0" cy="0"/>
        </a:xfrm>
      </p:grpSpPr>
      <p:sp>
        <p:nvSpPr>
          <p:cNvPr id="95" name="Google Shape;95;p11"/>
          <p:cNvSpPr/>
          <p:nvPr/>
        </p:nvSpPr>
        <p:spPr>
          <a:xfrm>
            <a:off x="0" y="0"/>
            <a:ext cx="11430000" cy="7732776"/>
          </a:xfrm>
          <a:custGeom>
            <a:avLst/>
            <a:gdLst/>
            <a:ahLst/>
            <a:cxnLst/>
            <a:rect l="l" t="t" r="r" b="b"/>
            <a:pathLst>
              <a:path w="11430000" h="6553200" extrusionOk="0">
                <a:moveTo>
                  <a:pt x="11430000" y="0"/>
                </a:moveTo>
                <a:lnTo>
                  <a:pt x="0" y="0"/>
                </a:lnTo>
                <a:lnTo>
                  <a:pt x="0" y="6553200"/>
                </a:lnTo>
                <a:lnTo>
                  <a:pt x="11430000" y="6553200"/>
                </a:lnTo>
                <a:lnTo>
                  <a:pt x="11430000" y="0"/>
                </a:lnTo>
                <a:close/>
              </a:path>
            </a:pathLst>
          </a:custGeom>
          <a:solidFill>
            <a:srgbClr val="0C0932"/>
          </a:solidFill>
          <a:ln>
            <a:noFill/>
          </a:ln>
        </p:spPr>
        <p:txBody>
          <a:bodyPr spcFirstLastPara="1" wrap="square" lIns="0" tIns="0" rIns="0" bIns="0" anchor="t" anchorCtr="0">
            <a:noAutofit/>
          </a:bodyPr>
          <a:lstStyle/>
          <a:p>
            <a:pPr marL="0" lvl="0" indent="0" algn="l" rtl="0">
              <a:spcBef>
                <a:spcPts val="0"/>
              </a:spcBef>
              <a:spcAft>
                <a:spcPts val="0"/>
              </a:spcAft>
              <a:buNone/>
            </a:pPr>
            <a:endParaRPr dirty="0"/>
          </a:p>
        </p:txBody>
      </p:sp>
      <p:sp>
        <p:nvSpPr>
          <p:cNvPr id="98" name="Google Shape;98;p11"/>
          <p:cNvSpPr/>
          <p:nvPr/>
        </p:nvSpPr>
        <p:spPr>
          <a:xfrm>
            <a:off x="7524750" y="3419475"/>
            <a:ext cx="1895475" cy="247650"/>
          </a:xfrm>
          <a:custGeom>
            <a:avLst/>
            <a:gdLst/>
            <a:ahLst/>
            <a:cxnLst/>
            <a:rect l="l" t="t" r="r" b="b"/>
            <a:pathLst>
              <a:path w="1895475" h="247650" extrusionOk="0">
                <a:moveTo>
                  <a:pt x="1875726" y="0"/>
                </a:moveTo>
                <a:lnTo>
                  <a:pt x="19748" y="0"/>
                </a:lnTo>
                <a:lnTo>
                  <a:pt x="16840" y="571"/>
                </a:lnTo>
                <a:lnTo>
                  <a:pt x="0" y="19748"/>
                </a:lnTo>
                <a:lnTo>
                  <a:pt x="0" y="224878"/>
                </a:lnTo>
                <a:lnTo>
                  <a:pt x="0" y="227901"/>
                </a:lnTo>
                <a:lnTo>
                  <a:pt x="19748" y="247650"/>
                </a:lnTo>
                <a:lnTo>
                  <a:pt x="1875726" y="247650"/>
                </a:lnTo>
                <a:lnTo>
                  <a:pt x="1895475" y="227901"/>
                </a:lnTo>
                <a:lnTo>
                  <a:pt x="1895475" y="19748"/>
                </a:lnTo>
                <a:lnTo>
                  <a:pt x="1878622" y="571"/>
                </a:lnTo>
                <a:lnTo>
                  <a:pt x="1875726" y="0"/>
                </a:lnTo>
                <a:close/>
              </a:path>
            </a:pathLst>
          </a:custGeom>
          <a:solidFill>
            <a:srgbClr val="18163F"/>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9" name="Google Shape;99;p11"/>
          <p:cNvSpPr/>
          <p:nvPr/>
        </p:nvSpPr>
        <p:spPr>
          <a:xfrm>
            <a:off x="7581900" y="4457700"/>
            <a:ext cx="57150" cy="57150"/>
          </a:xfrm>
          <a:custGeom>
            <a:avLst/>
            <a:gdLst/>
            <a:ahLst/>
            <a:cxnLst/>
            <a:rect l="l" t="t" r="r" b="b"/>
            <a:pathLst>
              <a:path w="57150" h="57150" extrusionOk="0">
                <a:moveTo>
                  <a:pt x="32359" y="0"/>
                </a:moveTo>
                <a:lnTo>
                  <a:pt x="24790" y="0"/>
                </a:lnTo>
                <a:lnTo>
                  <a:pt x="21132" y="723"/>
                </a:lnTo>
                <a:lnTo>
                  <a:pt x="0" y="24790"/>
                </a:lnTo>
                <a:lnTo>
                  <a:pt x="0" y="32359"/>
                </a:lnTo>
                <a:lnTo>
                  <a:pt x="24790" y="57150"/>
                </a:lnTo>
                <a:lnTo>
                  <a:pt x="32359" y="57150"/>
                </a:lnTo>
                <a:lnTo>
                  <a:pt x="57150" y="32359"/>
                </a:lnTo>
                <a:lnTo>
                  <a:pt x="57150" y="28575"/>
                </a:lnTo>
                <a:lnTo>
                  <a:pt x="57150" y="24790"/>
                </a:lnTo>
                <a:lnTo>
                  <a:pt x="36004" y="723"/>
                </a:lnTo>
                <a:lnTo>
                  <a:pt x="32359" y="0"/>
                </a:lnTo>
                <a:close/>
              </a:path>
            </a:pathLst>
          </a:custGeom>
          <a:solidFill>
            <a:srgbClr val="D9E1FF"/>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00" name="Google Shape;100;p11"/>
          <p:cNvSpPr/>
          <p:nvPr/>
        </p:nvSpPr>
        <p:spPr>
          <a:xfrm>
            <a:off x="7581900" y="5105400"/>
            <a:ext cx="57150" cy="57150"/>
          </a:xfrm>
          <a:custGeom>
            <a:avLst/>
            <a:gdLst/>
            <a:ahLst/>
            <a:cxnLst/>
            <a:rect l="l" t="t" r="r" b="b"/>
            <a:pathLst>
              <a:path w="57150" h="57150" extrusionOk="0">
                <a:moveTo>
                  <a:pt x="32359" y="0"/>
                </a:moveTo>
                <a:lnTo>
                  <a:pt x="24790" y="0"/>
                </a:lnTo>
                <a:lnTo>
                  <a:pt x="21132" y="723"/>
                </a:lnTo>
                <a:lnTo>
                  <a:pt x="0" y="24790"/>
                </a:lnTo>
                <a:lnTo>
                  <a:pt x="0" y="32359"/>
                </a:lnTo>
                <a:lnTo>
                  <a:pt x="24790" y="57150"/>
                </a:lnTo>
                <a:lnTo>
                  <a:pt x="32359" y="57150"/>
                </a:lnTo>
                <a:lnTo>
                  <a:pt x="57150" y="32359"/>
                </a:lnTo>
                <a:lnTo>
                  <a:pt x="57150" y="28575"/>
                </a:lnTo>
                <a:lnTo>
                  <a:pt x="57150" y="24790"/>
                </a:lnTo>
                <a:lnTo>
                  <a:pt x="36004" y="723"/>
                </a:lnTo>
                <a:lnTo>
                  <a:pt x="32359" y="0"/>
                </a:lnTo>
                <a:close/>
              </a:path>
            </a:pathLst>
          </a:custGeom>
          <a:solidFill>
            <a:srgbClr val="D9E1FF"/>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01" name="Google Shape;101;p11"/>
          <p:cNvSpPr/>
          <p:nvPr/>
        </p:nvSpPr>
        <p:spPr>
          <a:xfrm>
            <a:off x="7581900" y="5457825"/>
            <a:ext cx="57150" cy="57150"/>
          </a:xfrm>
          <a:custGeom>
            <a:avLst/>
            <a:gdLst/>
            <a:ahLst/>
            <a:cxnLst/>
            <a:rect l="l" t="t" r="r" b="b"/>
            <a:pathLst>
              <a:path w="57150" h="57150" extrusionOk="0">
                <a:moveTo>
                  <a:pt x="32359" y="0"/>
                </a:moveTo>
                <a:lnTo>
                  <a:pt x="24790" y="0"/>
                </a:lnTo>
                <a:lnTo>
                  <a:pt x="21132" y="723"/>
                </a:lnTo>
                <a:lnTo>
                  <a:pt x="0" y="24785"/>
                </a:lnTo>
                <a:lnTo>
                  <a:pt x="0" y="32364"/>
                </a:lnTo>
                <a:lnTo>
                  <a:pt x="24790" y="57150"/>
                </a:lnTo>
                <a:lnTo>
                  <a:pt x="32359" y="57150"/>
                </a:lnTo>
                <a:lnTo>
                  <a:pt x="57150" y="32364"/>
                </a:lnTo>
                <a:lnTo>
                  <a:pt x="57150" y="28575"/>
                </a:lnTo>
                <a:lnTo>
                  <a:pt x="57150" y="24785"/>
                </a:lnTo>
                <a:lnTo>
                  <a:pt x="36004" y="723"/>
                </a:lnTo>
                <a:lnTo>
                  <a:pt x="32359" y="0"/>
                </a:lnTo>
                <a:close/>
              </a:path>
            </a:pathLst>
          </a:custGeom>
          <a:solidFill>
            <a:srgbClr val="D9E1FF"/>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02" name="Google Shape;102;p11"/>
          <p:cNvSpPr/>
          <p:nvPr/>
        </p:nvSpPr>
        <p:spPr>
          <a:xfrm>
            <a:off x="7581900" y="5819775"/>
            <a:ext cx="57150" cy="57150"/>
          </a:xfrm>
          <a:custGeom>
            <a:avLst/>
            <a:gdLst/>
            <a:ahLst/>
            <a:cxnLst/>
            <a:rect l="l" t="t" r="r" b="b"/>
            <a:pathLst>
              <a:path w="57150" h="57150" extrusionOk="0">
                <a:moveTo>
                  <a:pt x="32359" y="0"/>
                </a:moveTo>
                <a:lnTo>
                  <a:pt x="24790" y="0"/>
                </a:lnTo>
                <a:lnTo>
                  <a:pt x="21132" y="723"/>
                </a:lnTo>
                <a:lnTo>
                  <a:pt x="0" y="24785"/>
                </a:lnTo>
                <a:lnTo>
                  <a:pt x="0" y="32364"/>
                </a:lnTo>
                <a:lnTo>
                  <a:pt x="24790" y="57150"/>
                </a:lnTo>
                <a:lnTo>
                  <a:pt x="32359" y="57150"/>
                </a:lnTo>
                <a:lnTo>
                  <a:pt x="57150" y="32364"/>
                </a:lnTo>
                <a:lnTo>
                  <a:pt x="57150" y="28575"/>
                </a:lnTo>
                <a:lnTo>
                  <a:pt x="57150" y="24785"/>
                </a:lnTo>
                <a:lnTo>
                  <a:pt x="36004" y="723"/>
                </a:lnTo>
                <a:lnTo>
                  <a:pt x="32359" y="0"/>
                </a:lnTo>
                <a:close/>
              </a:path>
            </a:pathLst>
          </a:custGeom>
          <a:solidFill>
            <a:srgbClr val="D9E1FF"/>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03" name="Google Shape;103;p11"/>
          <p:cNvSpPr txBox="1"/>
          <p:nvPr/>
        </p:nvSpPr>
        <p:spPr>
          <a:xfrm>
            <a:off x="842211" y="1596376"/>
            <a:ext cx="10065047" cy="4726274"/>
          </a:xfrm>
          <a:prstGeom prst="rect">
            <a:avLst/>
          </a:prstGeom>
          <a:noFill/>
          <a:ln>
            <a:noFill/>
          </a:ln>
        </p:spPr>
        <p:txBody>
          <a:bodyPr spcFirstLastPara="1" wrap="square" lIns="0" tIns="17125" rIns="0" bIns="0" anchor="t" anchorCtr="0">
            <a:spAutoFit/>
          </a:bodyPr>
          <a:lstStyle/>
          <a:p>
            <a:pPr marL="0" lvl="0" indent="0" algn="l" rtl="0">
              <a:spcBef>
                <a:spcPts val="0"/>
              </a:spcBef>
              <a:spcAft>
                <a:spcPts val="0"/>
              </a:spcAft>
              <a:buNone/>
            </a:pPr>
            <a:r>
              <a:rPr lang="en-US" sz="2800" dirty="0">
                <a:solidFill>
                  <a:schemeClr val="bg1"/>
                </a:solidFill>
              </a:rPr>
              <a:t>OBJECTIVES</a:t>
            </a:r>
          </a:p>
          <a:p>
            <a:pPr marL="0" lvl="0" indent="0" algn="l" rtl="0">
              <a:spcBef>
                <a:spcPts val="0"/>
              </a:spcBef>
              <a:spcAft>
                <a:spcPts val="0"/>
              </a:spcAft>
              <a:buNone/>
            </a:pPr>
            <a:endParaRPr lang="en-US" sz="2800" dirty="0">
              <a:solidFill>
                <a:schemeClr val="bg1"/>
              </a:solidFill>
            </a:endParaRPr>
          </a:p>
          <a:p>
            <a:pPr marL="0" lvl="0" indent="0" algn="just" rtl="0">
              <a:spcBef>
                <a:spcPts val="0"/>
              </a:spcBef>
              <a:spcAft>
                <a:spcPts val="0"/>
              </a:spcAft>
              <a:buNone/>
            </a:pPr>
            <a:r>
              <a:rPr lang="en-US" dirty="0">
                <a:solidFill>
                  <a:schemeClr val="bg1"/>
                </a:solidFill>
              </a:rPr>
              <a:t>Our application can:</a:t>
            </a:r>
          </a:p>
          <a:p>
            <a:pPr marL="0" lvl="0" indent="0" algn="just" rtl="0">
              <a:spcBef>
                <a:spcPts val="0"/>
              </a:spcBef>
              <a:spcAft>
                <a:spcPts val="0"/>
              </a:spcAft>
              <a:buNone/>
            </a:pPr>
            <a:endParaRPr lang="en-US" dirty="0">
              <a:solidFill>
                <a:schemeClr val="bg1"/>
              </a:solidFill>
            </a:endParaRPr>
          </a:p>
          <a:p>
            <a:pPr marL="0" lvl="0" indent="0" algn="just" rtl="0">
              <a:spcBef>
                <a:spcPts val="0"/>
              </a:spcBef>
              <a:spcAft>
                <a:spcPts val="0"/>
              </a:spcAft>
              <a:buNone/>
            </a:pPr>
            <a:r>
              <a:rPr lang="en-US" dirty="0">
                <a:solidFill>
                  <a:schemeClr val="bg1"/>
                </a:solidFill>
              </a:rPr>
              <a:t>- receive the LED color or name,</a:t>
            </a:r>
          </a:p>
          <a:p>
            <a:pPr marL="0" lvl="0" indent="0" algn="just" rtl="0">
              <a:spcBef>
                <a:spcPts val="0"/>
              </a:spcBef>
              <a:spcAft>
                <a:spcPts val="0"/>
              </a:spcAft>
              <a:buNone/>
            </a:pPr>
            <a:r>
              <a:rPr lang="en-US" dirty="0">
                <a:solidFill>
                  <a:schemeClr val="bg1"/>
                </a:solidFill>
              </a:rPr>
              <a:t>- receive the supply voltage,</a:t>
            </a:r>
          </a:p>
          <a:p>
            <a:pPr marL="0" lvl="0" indent="0" algn="just" rtl="0">
              <a:spcBef>
                <a:spcPts val="0"/>
              </a:spcBef>
              <a:spcAft>
                <a:spcPts val="0"/>
              </a:spcAft>
              <a:buNone/>
            </a:pPr>
            <a:r>
              <a:rPr lang="en-US" dirty="0">
                <a:solidFill>
                  <a:schemeClr val="bg1"/>
                </a:solidFill>
              </a:rPr>
              <a:t>- receive the LED forward voltage,</a:t>
            </a:r>
          </a:p>
          <a:p>
            <a:pPr marL="0" lvl="0" indent="0" algn="just" rtl="0">
              <a:spcBef>
                <a:spcPts val="0"/>
              </a:spcBef>
              <a:spcAft>
                <a:spcPts val="0"/>
              </a:spcAft>
              <a:buNone/>
            </a:pPr>
            <a:r>
              <a:rPr lang="en-US" dirty="0">
                <a:solidFill>
                  <a:schemeClr val="bg1"/>
                </a:solidFill>
              </a:rPr>
              <a:t>- receive the desired LED current,</a:t>
            </a:r>
          </a:p>
          <a:p>
            <a:pPr marL="0" lvl="0" indent="0" algn="just" rtl="0">
              <a:spcBef>
                <a:spcPts val="0"/>
              </a:spcBef>
              <a:spcAft>
                <a:spcPts val="0"/>
              </a:spcAft>
              <a:buNone/>
            </a:pPr>
            <a:r>
              <a:rPr lang="en-US" dirty="0">
                <a:solidFill>
                  <a:schemeClr val="bg1"/>
                </a:solidFill>
              </a:rPr>
              <a:t>- validate user inputs,</a:t>
            </a:r>
          </a:p>
          <a:p>
            <a:pPr marL="0" lvl="0" indent="0" algn="just" rtl="0">
              <a:spcBef>
                <a:spcPts val="0"/>
              </a:spcBef>
              <a:spcAft>
                <a:spcPts val="0"/>
              </a:spcAft>
              <a:buNone/>
            </a:pPr>
            <a:r>
              <a:rPr lang="en-US" dirty="0">
                <a:solidFill>
                  <a:schemeClr val="bg1"/>
                </a:solidFill>
              </a:rPr>
              <a:t>- calculate the resistor value,</a:t>
            </a:r>
          </a:p>
          <a:p>
            <a:pPr marL="0" lvl="0" indent="0" algn="just" rtl="0">
              <a:spcBef>
                <a:spcPts val="0"/>
              </a:spcBef>
              <a:spcAft>
                <a:spcPts val="0"/>
              </a:spcAft>
              <a:buNone/>
            </a:pPr>
            <a:r>
              <a:rPr lang="en-US" dirty="0">
                <a:solidFill>
                  <a:schemeClr val="bg1"/>
                </a:solidFill>
              </a:rPr>
              <a:t>- calculate the resistor power rating,</a:t>
            </a:r>
          </a:p>
          <a:p>
            <a:pPr marL="0" lvl="0" indent="0" algn="just" rtl="0">
              <a:spcBef>
                <a:spcPts val="0"/>
              </a:spcBef>
              <a:spcAft>
                <a:spcPts val="0"/>
              </a:spcAft>
              <a:buNone/>
            </a:pPr>
            <a:r>
              <a:rPr lang="en-US" dirty="0">
                <a:solidFill>
                  <a:schemeClr val="bg1"/>
                </a:solidFill>
              </a:rPr>
              <a:t>- determine whether the design is acceptable,</a:t>
            </a:r>
          </a:p>
          <a:p>
            <a:pPr marL="0" lvl="0" indent="0" algn="just" rtl="0">
              <a:spcBef>
                <a:spcPts val="0"/>
              </a:spcBef>
              <a:spcAft>
                <a:spcPts val="0"/>
              </a:spcAft>
              <a:buNone/>
            </a:pPr>
            <a:r>
              <a:rPr lang="en-US" dirty="0">
                <a:solidFill>
                  <a:schemeClr val="bg1"/>
                </a:solidFill>
              </a:rPr>
              <a:t>- display the results clearly,</a:t>
            </a:r>
          </a:p>
          <a:p>
            <a:pPr marL="0" lvl="0" indent="0" algn="just" rtl="0">
              <a:spcBef>
                <a:spcPts val="0"/>
              </a:spcBef>
              <a:spcAft>
                <a:spcPts val="0"/>
              </a:spcAft>
              <a:buNone/>
            </a:pPr>
            <a:r>
              <a:rPr lang="en-US" dirty="0">
                <a:solidFill>
                  <a:schemeClr val="bg1"/>
                </a:solidFill>
              </a:rPr>
              <a:t>- save all calculations into a text file</a:t>
            </a:r>
          </a:p>
          <a:p>
            <a:pPr marL="0" lvl="0" indent="0" algn="l" rtl="0">
              <a:spcBef>
                <a:spcPts val="0"/>
              </a:spcBef>
              <a:spcAft>
                <a:spcPts val="0"/>
              </a:spcAft>
              <a:buNone/>
            </a:pPr>
            <a:endParaRPr lang="en-US" dirty="0">
              <a:solidFill>
                <a:schemeClr val="bg1"/>
              </a:solidFill>
            </a:endParaRPr>
          </a:p>
          <a:p>
            <a:pPr marL="12700" lvl="0" indent="0" algn="l" rtl="0">
              <a:lnSpc>
                <a:spcPct val="100000"/>
              </a:lnSpc>
              <a:spcBef>
                <a:spcPts val="0"/>
              </a:spcBef>
              <a:spcAft>
                <a:spcPts val="0"/>
              </a:spcAft>
              <a:buNone/>
            </a:pPr>
            <a:endParaRPr lang="en-US" sz="1600" dirty="0">
              <a:solidFill>
                <a:schemeClr val="bg1"/>
              </a:solidFill>
              <a:latin typeface="Arial"/>
              <a:ea typeface="Arial"/>
              <a:cs typeface="Arial"/>
              <a:sym typeface="Arial"/>
            </a:endParaRPr>
          </a:p>
        </p:txBody>
      </p:sp>
    </p:spTree>
    <p:extLst>
      <p:ext uri="{BB962C8B-B14F-4D97-AF65-F5344CB8AC3E}">
        <p14:creationId xmlns:p14="http://schemas.microsoft.com/office/powerpoint/2010/main" val="39772097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Shape 94"/>
        <p:cNvGrpSpPr/>
        <p:nvPr/>
      </p:nvGrpSpPr>
      <p:grpSpPr>
        <a:xfrm>
          <a:off x="0" y="0"/>
          <a:ext cx="0" cy="0"/>
          <a:chOff x="0" y="0"/>
          <a:chExt cx="0" cy="0"/>
        </a:xfrm>
      </p:grpSpPr>
      <p:sp>
        <p:nvSpPr>
          <p:cNvPr id="95" name="Google Shape;95;p11"/>
          <p:cNvSpPr/>
          <p:nvPr/>
        </p:nvSpPr>
        <p:spPr>
          <a:xfrm>
            <a:off x="0" y="0"/>
            <a:ext cx="11430000" cy="7732776"/>
          </a:xfrm>
          <a:custGeom>
            <a:avLst/>
            <a:gdLst/>
            <a:ahLst/>
            <a:cxnLst/>
            <a:rect l="l" t="t" r="r" b="b"/>
            <a:pathLst>
              <a:path w="11430000" h="6553200" extrusionOk="0">
                <a:moveTo>
                  <a:pt x="11430000" y="0"/>
                </a:moveTo>
                <a:lnTo>
                  <a:pt x="0" y="0"/>
                </a:lnTo>
                <a:lnTo>
                  <a:pt x="0" y="6553200"/>
                </a:lnTo>
                <a:lnTo>
                  <a:pt x="11430000" y="6553200"/>
                </a:lnTo>
                <a:lnTo>
                  <a:pt x="11430000" y="0"/>
                </a:lnTo>
                <a:close/>
              </a:path>
            </a:pathLst>
          </a:custGeom>
          <a:solidFill>
            <a:srgbClr val="0C0932"/>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6" name="Google Shape;96;p11"/>
          <p:cNvSpPr txBox="1">
            <a:spLocks noGrp="1"/>
          </p:cNvSpPr>
          <p:nvPr>
            <p:ph type="title"/>
          </p:nvPr>
        </p:nvSpPr>
        <p:spPr>
          <a:xfrm>
            <a:off x="624879" y="473075"/>
            <a:ext cx="10180200" cy="539700"/>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a:t>System Overview</a:t>
            </a:r>
            <a:endParaRPr/>
          </a:p>
        </p:txBody>
      </p:sp>
      <p:pic>
        <p:nvPicPr>
          <p:cNvPr id="97" name="Google Shape;97;p11"/>
          <p:cNvPicPr preferRelativeResize="0"/>
          <p:nvPr/>
        </p:nvPicPr>
        <p:blipFill rotWithShape="1">
          <a:blip r:embed="rId2">
            <a:alphaModFix/>
          </a:blip>
          <a:srcRect/>
          <a:stretch/>
        </p:blipFill>
        <p:spPr>
          <a:xfrm>
            <a:off x="638175" y="1857375"/>
            <a:ext cx="6448426" cy="3648075"/>
          </a:xfrm>
          <a:prstGeom prst="rect">
            <a:avLst/>
          </a:prstGeom>
          <a:noFill/>
          <a:ln>
            <a:noFill/>
          </a:ln>
        </p:spPr>
      </p:pic>
      <p:sp>
        <p:nvSpPr>
          <p:cNvPr id="98" name="Google Shape;98;p11"/>
          <p:cNvSpPr/>
          <p:nvPr/>
        </p:nvSpPr>
        <p:spPr>
          <a:xfrm>
            <a:off x="7524750" y="3419475"/>
            <a:ext cx="1895475" cy="247650"/>
          </a:xfrm>
          <a:custGeom>
            <a:avLst/>
            <a:gdLst/>
            <a:ahLst/>
            <a:cxnLst/>
            <a:rect l="l" t="t" r="r" b="b"/>
            <a:pathLst>
              <a:path w="1895475" h="247650" extrusionOk="0">
                <a:moveTo>
                  <a:pt x="1875726" y="0"/>
                </a:moveTo>
                <a:lnTo>
                  <a:pt x="19748" y="0"/>
                </a:lnTo>
                <a:lnTo>
                  <a:pt x="16840" y="571"/>
                </a:lnTo>
                <a:lnTo>
                  <a:pt x="0" y="19748"/>
                </a:lnTo>
                <a:lnTo>
                  <a:pt x="0" y="224878"/>
                </a:lnTo>
                <a:lnTo>
                  <a:pt x="0" y="227901"/>
                </a:lnTo>
                <a:lnTo>
                  <a:pt x="19748" y="247650"/>
                </a:lnTo>
                <a:lnTo>
                  <a:pt x="1875726" y="247650"/>
                </a:lnTo>
                <a:lnTo>
                  <a:pt x="1895475" y="227901"/>
                </a:lnTo>
                <a:lnTo>
                  <a:pt x="1895475" y="19748"/>
                </a:lnTo>
                <a:lnTo>
                  <a:pt x="1878622" y="571"/>
                </a:lnTo>
                <a:lnTo>
                  <a:pt x="1875726" y="0"/>
                </a:lnTo>
                <a:close/>
              </a:path>
            </a:pathLst>
          </a:custGeom>
          <a:solidFill>
            <a:srgbClr val="18163F"/>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9" name="Google Shape;99;p11"/>
          <p:cNvSpPr/>
          <p:nvPr/>
        </p:nvSpPr>
        <p:spPr>
          <a:xfrm>
            <a:off x="7581900" y="4457700"/>
            <a:ext cx="57150" cy="57150"/>
          </a:xfrm>
          <a:custGeom>
            <a:avLst/>
            <a:gdLst/>
            <a:ahLst/>
            <a:cxnLst/>
            <a:rect l="l" t="t" r="r" b="b"/>
            <a:pathLst>
              <a:path w="57150" h="57150" extrusionOk="0">
                <a:moveTo>
                  <a:pt x="32359" y="0"/>
                </a:moveTo>
                <a:lnTo>
                  <a:pt x="24790" y="0"/>
                </a:lnTo>
                <a:lnTo>
                  <a:pt x="21132" y="723"/>
                </a:lnTo>
                <a:lnTo>
                  <a:pt x="0" y="24790"/>
                </a:lnTo>
                <a:lnTo>
                  <a:pt x="0" y="32359"/>
                </a:lnTo>
                <a:lnTo>
                  <a:pt x="24790" y="57150"/>
                </a:lnTo>
                <a:lnTo>
                  <a:pt x="32359" y="57150"/>
                </a:lnTo>
                <a:lnTo>
                  <a:pt x="57150" y="32359"/>
                </a:lnTo>
                <a:lnTo>
                  <a:pt x="57150" y="28575"/>
                </a:lnTo>
                <a:lnTo>
                  <a:pt x="57150" y="24790"/>
                </a:lnTo>
                <a:lnTo>
                  <a:pt x="36004" y="723"/>
                </a:lnTo>
                <a:lnTo>
                  <a:pt x="32359" y="0"/>
                </a:lnTo>
                <a:close/>
              </a:path>
            </a:pathLst>
          </a:custGeom>
          <a:solidFill>
            <a:srgbClr val="D9E1FF"/>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00" name="Google Shape;100;p11"/>
          <p:cNvSpPr/>
          <p:nvPr/>
        </p:nvSpPr>
        <p:spPr>
          <a:xfrm>
            <a:off x="7581900" y="5105400"/>
            <a:ext cx="57150" cy="57150"/>
          </a:xfrm>
          <a:custGeom>
            <a:avLst/>
            <a:gdLst/>
            <a:ahLst/>
            <a:cxnLst/>
            <a:rect l="l" t="t" r="r" b="b"/>
            <a:pathLst>
              <a:path w="57150" h="57150" extrusionOk="0">
                <a:moveTo>
                  <a:pt x="32359" y="0"/>
                </a:moveTo>
                <a:lnTo>
                  <a:pt x="24790" y="0"/>
                </a:lnTo>
                <a:lnTo>
                  <a:pt x="21132" y="723"/>
                </a:lnTo>
                <a:lnTo>
                  <a:pt x="0" y="24790"/>
                </a:lnTo>
                <a:lnTo>
                  <a:pt x="0" y="32359"/>
                </a:lnTo>
                <a:lnTo>
                  <a:pt x="24790" y="57150"/>
                </a:lnTo>
                <a:lnTo>
                  <a:pt x="32359" y="57150"/>
                </a:lnTo>
                <a:lnTo>
                  <a:pt x="57150" y="32359"/>
                </a:lnTo>
                <a:lnTo>
                  <a:pt x="57150" y="28575"/>
                </a:lnTo>
                <a:lnTo>
                  <a:pt x="57150" y="24790"/>
                </a:lnTo>
                <a:lnTo>
                  <a:pt x="36004" y="723"/>
                </a:lnTo>
                <a:lnTo>
                  <a:pt x="32359" y="0"/>
                </a:lnTo>
                <a:close/>
              </a:path>
            </a:pathLst>
          </a:custGeom>
          <a:solidFill>
            <a:srgbClr val="D9E1FF"/>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01" name="Google Shape;101;p11"/>
          <p:cNvSpPr/>
          <p:nvPr/>
        </p:nvSpPr>
        <p:spPr>
          <a:xfrm>
            <a:off x="7581900" y="5457825"/>
            <a:ext cx="57150" cy="57150"/>
          </a:xfrm>
          <a:custGeom>
            <a:avLst/>
            <a:gdLst/>
            <a:ahLst/>
            <a:cxnLst/>
            <a:rect l="l" t="t" r="r" b="b"/>
            <a:pathLst>
              <a:path w="57150" h="57150" extrusionOk="0">
                <a:moveTo>
                  <a:pt x="32359" y="0"/>
                </a:moveTo>
                <a:lnTo>
                  <a:pt x="24790" y="0"/>
                </a:lnTo>
                <a:lnTo>
                  <a:pt x="21132" y="723"/>
                </a:lnTo>
                <a:lnTo>
                  <a:pt x="0" y="24785"/>
                </a:lnTo>
                <a:lnTo>
                  <a:pt x="0" y="32364"/>
                </a:lnTo>
                <a:lnTo>
                  <a:pt x="24790" y="57150"/>
                </a:lnTo>
                <a:lnTo>
                  <a:pt x="32359" y="57150"/>
                </a:lnTo>
                <a:lnTo>
                  <a:pt x="57150" y="32364"/>
                </a:lnTo>
                <a:lnTo>
                  <a:pt x="57150" y="28575"/>
                </a:lnTo>
                <a:lnTo>
                  <a:pt x="57150" y="24785"/>
                </a:lnTo>
                <a:lnTo>
                  <a:pt x="36004" y="723"/>
                </a:lnTo>
                <a:lnTo>
                  <a:pt x="32359" y="0"/>
                </a:lnTo>
                <a:close/>
              </a:path>
            </a:pathLst>
          </a:custGeom>
          <a:solidFill>
            <a:srgbClr val="D9E1FF"/>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02" name="Google Shape;102;p11"/>
          <p:cNvSpPr/>
          <p:nvPr/>
        </p:nvSpPr>
        <p:spPr>
          <a:xfrm>
            <a:off x="7581900" y="5819775"/>
            <a:ext cx="57150" cy="57150"/>
          </a:xfrm>
          <a:custGeom>
            <a:avLst/>
            <a:gdLst/>
            <a:ahLst/>
            <a:cxnLst/>
            <a:rect l="l" t="t" r="r" b="b"/>
            <a:pathLst>
              <a:path w="57150" h="57150" extrusionOk="0">
                <a:moveTo>
                  <a:pt x="32359" y="0"/>
                </a:moveTo>
                <a:lnTo>
                  <a:pt x="24790" y="0"/>
                </a:lnTo>
                <a:lnTo>
                  <a:pt x="21132" y="723"/>
                </a:lnTo>
                <a:lnTo>
                  <a:pt x="0" y="24785"/>
                </a:lnTo>
                <a:lnTo>
                  <a:pt x="0" y="32364"/>
                </a:lnTo>
                <a:lnTo>
                  <a:pt x="24790" y="57150"/>
                </a:lnTo>
                <a:lnTo>
                  <a:pt x="32359" y="57150"/>
                </a:lnTo>
                <a:lnTo>
                  <a:pt x="57150" y="32364"/>
                </a:lnTo>
                <a:lnTo>
                  <a:pt x="57150" y="28575"/>
                </a:lnTo>
                <a:lnTo>
                  <a:pt x="57150" y="24785"/>
                </a:lnTo>
                <a:lnTo>
                  <a:pt x="36004" y="723"/>
                </a:lnTo>
                <a:lnTo>
                  <a:pt x="32359" y="0"/>
                </a:lnTo>
                <a:close/>
              </a:path>
            </a:pathLst>
          </a:custGeom>
          <a:solidFill>
            <a:srgbClr val="D9E1FF"/>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03" name="Google Shape;103;p11"/>
          <p:cNvSpPr txBox="1"/>
          <p:nvPr/>
        </p:nvSpPr>
        <p:spPr>
          <a:xfrm>
            <a:off x="7523810" y="1468437"/>
            <a:ext cx="3251100" cy="4476900"/>
          </a:xfrm>
          <a:prstGeom prst="rect">
            <a:avLst/>
          </a:prstGeom>
          <a:noFill/>
          <a:ln>
            <a:noFill/>
          </a:ln>
        </p:spPr>
        <p:txBody>
          <a:bodyPr spcFirstLastPara="1" wrap="square" lIns="0" tIns="17125" rIns="0" bIns="0" anchor="t" anchorCtr="0">
            <a:spAutoFit/>
          </a:bodyPr>
          <a:lstStyle/>
          <a:p>
            <a:pPr marL="12700" lvl="0" indent="0" algn="l" rtl="0">
              <a:lnSpc>
                <a:spcPct val="100000"/>
              </a:lnSpc>
              <a:spcBef>
                <a:spcPts val="0"/>
              </a:spcBef>
              <a:spcAft>
                <a:spcPts val="0"/>
              </a:spcAft>
              <a:buNone/>
            </a:pPr>
            <a:r>
              <a:rPr lang="en-US" sz="1650" b="1" dirty="0">
                <a:solidFill>
                  <a:srgbClr val="FFFFFF"/>
                </a:solidFill>
                <a:latin typeface="Trebuchet MS"/>
                <a:ea typeface="Trebuchet MS"/>
                <a:cs typeface="Trebuchet MS"/>
                <a:sym typeface="Trebuchet MS"/>
              </a:rPr>
              <a:t>What It Does</a:t>
            </a:r>
            <a:endParaRPr sz="1650" dirty="0">
              <a:latin typeface="Trebuchet MS"/>
              <a:ea typeface="Trebuchet MS"/>
              <a:cs typeface="Trebuchet MS"/>
              <a:sym typeface="Trebuchet MS"/>
            </a:endParaRPr>
          </a:p>
          <a:p>
            <a:pPr marL="12700" marR="63500" lvl="0" indent="0" algn="l" rtl="0">
              <a:lnSpc>
                <a:spcPct val="138000"/>
              </a:lnSpc>
              <a:spcBef>
                <a:spcPts val="1165"/>
              </a:spcBef>
              <a:spcAft>
                <a:spcPts val="0"/>
              </a:spcAft>
              <a:buNone/>
            </a:pPr>
            <a:r>
              <a:rPr lang="en-US" sz="1400" dirty="0">
                <a:solidFill>
                  <a:srgbClr val="D9E1FF"/>
                </a:solidFill>
                <a:latin typeface="Arial"/>
                <a:ea typeface="Arial"/>
                <a:cs typeface="Arial"/>
                <a:sym typeface="Arial"/>
              </a:rPr>
              <a:t>The calculator accepts LED circuit parameters, validates inputs, computes the required resistor value and power dissipation, flags high-current designs, and saves a complete report to </a:t>
            </a:r>
            <a:r>
              <a:rPr lang="en-US" sz="1400" dirty="0">
                <a:solidFill>
                  <a:srgbClr val="D9E1FF"/>
                </a:solidFill>
                <a:latin typeface="Lucida Sans"/>
                <a:ea typeface="Lucida Sans"/>
                <a:cs typeface="Lucida Sans"/>
                <a:sym typeface="Lucida Sans"/>
              </a:rPr>
              <a:t>led_resistor_report.txt</a:t>
            </a:r>
            <a:r>
              <a:rPr lang="en-US" sz="1400" dirty="0">
                <a:solidFill>
                  <a:srgbClr val="D9E1FF"/>
                </a:solidFill>
                <a:latin typeface="Arial"/>
                <a:ea typeface="Arial"/>
                <a:cs typeface="Arial"/>
                <a:sym typeface="Arial"/>
              </a:rPr>
              <a:t>.</a:t>
            </a:r>
            <a:endParaRPr sz="1400" dirty="0">
              <a:latin typeface="Arial"/>
              <a:ea typeface="Arial"/>
              <a:cs typeface="Arial"/>
              <a:sym typeface="Arial"/>
            </a:endParaRPr>
          </a:p>
          <a:p>
            <a:pPr marL="0" lvl="0" indent="0" algn="l" rtl="0">
              <a:lnSpc>
                <a:spcPct val="100000"/>
              </a:lnSpc>
              <a:spcBef>
                <a:spcPts val="210"/>
              </a:spcBef>
              <a:spcAft>
                <a:spcPts val="0"/>
              </a:spcAft>
              <a:buNone/>
            </a:pPr>
            <a:endParaRPr sz="1400" dirty="0">
              <a:latin typeface="Arial"/>
              <a:ea typeface="Arial"/>
              <a:cs typeface="Arial"/>
              <a:sym typeface="Arial"/>
            </a:endParaRPr>
          </a:p>
          <a:p>
            <a:pPr marL="12700" lvl="0" indent="0" algn="l" rtl="0">
              <a:lnSpc>
                <a:spcPct val="100000"/>
              </a:lnSpc>
              <a:spcBef>
                <a:spcPts val="0"/>
              </a:spcBef>
              <a:spcAft>
                <a:spcPts val="0"/>
              </a:spcAft>
              <a:buNone/>
            </a:pPr>
            <a:r>
              <a:rPr lang="en-US" sz="1650" b="1" dirty="0">
                <a:solidFill>
                  <a:srgbClr val="FFFFFF"/>
                </a:solidFill>
                <a:latin typeface="Trebuchet MS"/>
                <a:ea typeface="Trebuchet MS"/>
                <a:cs typeface="Trebuchet MS"/>
                <a:sym typeface="Trebuchet MS"/>
              </a:rPr>
              <a:t>Core Workflow</a:t>
            </a:r>
            <a:endParaRPr sz="1650" dirty="0">
              <a:latin typeface="Trebuchet MS"/>
              <a:ea typeface="Trebuchet MS"/>
              <a:cs typeface="Trebuchet MS"/>
              <a:sym typeface="Trebuchet MS"/>
            </a:endParaRPr>
          </a:p>
          <a:p>
            <a:pPr marL="303530" marR="925195" lvl="0" indent="0" algn="l" rtl="0">
              <a:lnSpc>
                <a:spcPct val="138000"/>
              </a:lnSpc>
              <a:spcBef>
                <a:spcPts val="1150"/>
              </a:spcBef>
              <a:spcAft>
                <a:spcPts val="0"/>
              </a:spcAft>
              <a:buNone/>
            </a:pPr>
            <a:r>
              <a:rPr lang="en-US" sz="1400" dirty="0">
                <a:solidFill>
                  <a:srgbClr val="D9E1FF"/>
                </a:solidFill>
                <a:latin typeface="Arial"/>
                <a:ea typeface="Arial"/>
                <a:cs typeface="Arial"/>
                <a:sym typeface="Arial"/>
              </a:rPr>
              <a:t>Enter the number of LED calculations (N)</a:t>
            </a:r>
            <a:endParaRPr sz="1400" dirty="0">
              <a:latin typeface="Arial"/>
              <a:ea typeface="Arial"/>
              <a:cs typeface="Arial"/>
              <a:sym typeface="Arial"/>
            </a:endParaRPr>
          </a:p>
          <a:p>
            <a:pPr marL="303530" marR="34925" lvl="0" indent="0" algn="l" rtl="0">
              <a:lnSpc>
                <a:spcPct val="165000"/>
              </a:lnSpc>
              <a:spcBef>
                <a:spcPts val="0"/>
              </a:spcBef>
              <a:spcAft>
                <a:spcPts val="0"/>
              </a:spcAft>
              <a:buNone/>
            </a:pPr>
            <a:r>
              <a:rPr lang="en-US" sz="1400" dirty="0">
                <a:solidFill>
                  <a:srgbClr val="D9E1FF"/>
                </a:solidFill>
                <a:latin typeface="Arial"/>
                <a:ea typeface="Arial"/>
                <a:cs typeface="Arial"/>
                <a:sym typeface="Arial"/>
              </a:rPr>
              <a:t>Loop through each LED circuit entry Validate, calculate, and save results</a:t>
            </a:r>
            <a:endParaRPr sz="1400" dirty="0">
              <a:latin typeface="Arial"/>
              <a:ea typeface="Arial"/>
              <a:cs typeface="Arial"/>
              <a:sym typeface="Arial"/>
            </a:endParaRPr>
          </a:p>
          <a:p>
            <a:pPr marL="303530" lvl="0" indent="0" algn="l" rtl="0">
              <a:lnSpc>
                <a:spcPct val="100000"/>
              </a:lnSpc>
              <a:spcBef>
                <a:spcPts val="1170"/>
              </a:spcBef>
              <a:spcAft>
                <a:spcPts val="0"/>
              </a:spcAft>
              <a:buNone/>
            </a:pPr>
            <a:r>
              <a:rPr lang="en-US" sz="1400" dirty="0">
                <a:solidFill>
                  <a:srgbClr val="D9E1FF"/>
                </a:solidFill>
                <a:latin typeface="Arial"/>
                <a:ea typeface="Arial"/>
                <a:cs typeface="Arial"/>
                <a:sym typeface="Arial"/>
              </a:rPr>
              <a:t>Close file and confirm on completion</a:t>
            </a:r>
            <a:endParaRPr sz="1400" dirty="0">
              <a:latin typeface="Arial"/>
              <a:ea typeface="Arial"/>
              <a:cs typeface="Arial"/>
              <a:sym typeface="Arial"/>
            </a:endParaRPr>
          </a:p>
        </p:txBody>
      </p:sp>
    </p:spTree>
    <p:extLst>
      <p:ext uri="{BB962C8B-B14F-4D97-AF65-F5344CB8AC3E}">
        <p14:creationId xmlns:p14="http://schemas.microsoft.com/office/powerpoint/2010/main" val="39354915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Shape 104"/>
        <p:cNvGrpSpPr/>
        <p:nvPr/>
      </p:nvGrpSpPr>
      <p:grpSpPr>
        <a:xfrm>
          <a:off x="0" y="0"/>
          <a:ext cx="0" cy="0"/>
          <a:chOff x="0" y="0"/>
          <a:chExt cx="0" cy="0"/>
        </a:xfrm>
      </p:grpSpPr>
      <p:sp>
        <p:nvSpPr>
          <p:cNvPr id="105" name="Google Shape;105;p12"/>
          <p:cNvSpPr/>
          <p:nvPr/>
        </p:nvSpPr>
        <p:spPr>
          <a:xfrm>
            <a:off x="0" y="0"/>
            <a:ext cx="11430000" cy="7682865"/>
          </a:xfrm>
          <a:custGeom>
            <a:avLst/>
            <a:gdLst/>
            <a:ahLst/>
            <a:cxnLst/>
            <a:rect l="l" t="t" r="r" b="b"/>
            <a:pathLst>
              <a:path w="11430000" h="7048500" extrusionOk="0">
                <a:moveTo>
                  <a:pt x="11430000" y="0"/>
                </a:moveTo>
                <a:lnTo>
                  <a:pt x="0" y="0"/>
                </a:lnTo>
                <a:lnTo>
                  <a:pt x="0" y="7048500"/>
                </a:lnTo>
                <a:lnTo>
                  <a:pt x="11430000" y="7048500"/>
                </a:lnTo>
                <a:lnTo>
                  <a:pt x="11430000" y="0"/>
                </a:lnTo>
                <a:close/>
              </a:path>
            </a:pathLst>
          </a:custGeom>
          <a:solidFill>
            <a:srgbClr val="0C0932"/>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pic>
        <p:nvPicPr>
          <p:cNvPr id="106" name="Google Shape;106;p12"/>
          <p:cNvPicPr preferRelativeResize="0"/>
          <p:nvPr/>
        </p:nvPicPr>
        <p:blipFill rotWithShape="1">
          <a:blip r:embed="rId2">
            <a:alphaModFix/>
          </a:blip>
          <a:srcRect/>
          <a:stretch/>
        </p:blipFill>
        <p:spPr>
          <a:xfrm>
            <a:off x="7143750" y="0"/>
            <a:ext cx="4286250" cy="7048500"/>
          </a:xfrm>
          <a:prstGeom prst="rect">
            <a:avLst/>
          </a:prstGeom>
          <a:noFill/>
          <a:ln>
            <a:noFill/>
          </a:ln>
        </p:spPr>
      </p:pic>
      <p:sp>
        <p:nvSpPr>
          <p:cNvPr id="107" name="Google Shape;107;p12"/>
          <p:cNvSpPr txBox="1">
            <a:spLocks noGrp="1"/>
          </p:cNvSpPr>
          <p:nvPr>
            <p:ph type="title"/>
          </p:nvPr>
        </p:nvSpPr>
        <p:spPr>
          <a:xfrm>
            <a:off x="624879" y="444500"/>
            <a:ext cx="3370500" cy="1111200"/>
          </a:xfrm>
          <a:prstGeom prst="rect">
            <a:avLst/>
          </a:prstGeom>
          <a:noFill/>
          <a:ln>
            <a:noFill/>
          </a:ln>
        </p:spPr>
        <p:txBody>
          <a:bodyPr spcFirstLastPara="1" wrap="square" lIns="0" tIns="12050" rIns="0" bIns="0" anchor="t" anchorCtr="0">
            <a:spAutoFit/>
          </a:bodyPr>
          <a:lstStyle/>
          <a:p>
            <a:pPr marL="12700" marR="5080" lvl="0" indent="0" algn="l" rtl="0">
              <a:lnSpc>
                <a:spcPct val="106000"/>
              </a:lnSpc>
              <a:spcBef>
                <a:spcPts val="0"/>
              </a:spcBef>
              <a:spcAft>
                <a:spcPts val="0"/>
              </a:spcAft>
              <a:buNone/>
            </a:pPr>
            <a:r>
              <a:rPr lang="en-US"/>
              <a:t>Step 1: System Initialization</a:t>
            </a:r>
            <a:endParaRPr/>
          </a:p>
        </p:txBody>
      </p:sp>
      <p:sp>
        <p:nvSpPr>
          <p:cNvPr id="108" name="Google Shape;108;p12"/>
          <p:cNvSpPr/>
          <p:nvPr/>
        </p:nvSpPr>
        <p:spPr>
          <a:xfrm>
            <a:off x="638175" y="1857374"/>
            <a:ext cx="5867400" cy="1028700"/>
          </a:xfrm>
          <a:custGeom>
            <a:avLst/>
            <a:gdLst/>
            <a:ahLst/>
            <a:cxnLst/>
            <a:rect l="l" t="t" r="r" b="b"/>
            <a:pathLst>
              <a:path w="5867400" h="1028700" extrusionOk="0">
                <a:moveTo>
                  <a:pt x="5847651" y="0"/>
                </a:moveTo>
                <a:lnTo>
                  <a:pt x="19749" y="0"/>
                </a:lnTo>
                <a:lnTo>
                  <a:pt x="16847" y="571"/>
                </a:lnTo>
                <a:lnTo>
                  <a:pt x="0" y="19748"/>
                </a:lnTo>
                <a:lnTo>
                  <a:pt x="0" y="1005928"/>
                </a:lnTo>
                <a:lnTo>
                  <a:pt x="0" y="1008951"/>
                </a:lnTo>
                <a:lnTo>
                  <a:pt x="19749" y="1028700"/>
                </a:lnTo>
                <a:lnTo>
                  <a:pt x="5847651" y="1028700"/>
                </a:lnTo>
                <a:lnTo>
                  <a:pt x="5867400" y="1008951"/>
                </a:lnTo>
                <a:lnTo>
                  <a:pt x="5867400" y="19748"/>
                </a:lnTo>
                <a:lnTo>
                  <a:pt x="5850547" y="571"/>
                </a:lnTo>
                <a:lnTo>
                  <a:pt x="5847651" y="0"/>
                </a:lnTo>
                <a:close/>
              </a:path>
            </a:pathLst>
          </a:custGeom>
          <a:solidFill>
            <a:srgbClr val="2B2951"/>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09" name="Google Shape;109;p12"/>
          <p:cNvSpPr txBox="1"/>
          <p:nvPr/>
        </p:nvSpPr>
        <p:spPr>
          <a:xfrm>
            <a:off x="807045" y="2011362"/>
            <a:ext cx="4220700" cy="647700"/>
          </a:xfrm>
          <a:prstGeom prst="rect">
            <a:avLst/>
          </a:prstGeom>
          <a:noFill/>
          <a:ln>
            <a:noFill/>
          </a:ln>
        </p:spPr>
        <p:txBody>
          <a:bodyPr spcFirstLastPara="1" wrap="square" lIns="0" tIns="17125" rIns="0" bIns="0" anchor="t" anchorCtr="0">
            <a:spAutoFit/>
          </a:bodyPr>
          <a:lstStyle/>
          <a:p>
            <a:pPr marL="12700" lvl="0" indent="0" algn="l" rtl="0">
              <a:lnSpc>
                <a:spcPct val="100000"/>
              </a:lnSpc>
              <a:spcBef>
                <a:spcPts val="0"/>
              </a:spcBef>
              <a:spcAft>
                <a:spcPts val="0"/>
              </a:spcAft>
              <a:buNone/>
            </a:pPr>
            <a:r>
              <a:rPr lang="en-US" sz="1650" b="1">
                <a:solidFill>
                  <a:srgbClr val="D9E1FF"/>
                </a:solidFill>
                <a:latin typeface="Trebuchet MS"/>
                <a:ea typeface="Trebuchet MS"/>
                <a:cs typeface="Trebuchet MS"/>
                <a:sym typeface="Trebuchet MS"/>
              </a:rPr>
              <a:t>Display System</a:t>
            </a:r>
            <a:endParaRPr sz="1650">
              <a:latin typeface="Trebuchet MS"/>
              <a:ea typeface="Trebuchet MS"/>
              <a:cs typeface="Trebuchet MS"/>
              <a:sym typeface="Trebuchet MS"/>
            </a:endParaRPr>
          </a:p>
          <a:p>
            <a:pPr marL="12700" lvl="0" indent="0" algn="l" rtl="0">
              <a:lnSpc>
                <a:spcPct val="100000"/>
              </a:lnSpc>
              <a:spcBef>
                <a:spcPts val="1195"/>
              </a:spcBef>
              <a:spcAft>
                <a:spcPts val="0"/>
              </a:spcAft>
              <a:buNone/>
            </a:pPr>
            <a:r>
              <a:rPr lang="en-US" sz="1400">
                <a:solidFill>
                  <a:srgbClr val="D9E1FF"/>
                </a:solidFill>
                <a:latin typeface="Arial"/>
                <a:ea typeface="Arial"/>
                <a:cs typeface="Arial"/>
                <a:sym typeface="Arial"/>
              </a:rPr>
              <a:t>Launch the LED Resistor Value Calculator interface.</a:t>
            </a:r>
            <a:endParaRPr sz="1400">
              <a:latin typeface="Arial"/>
              <a:ea typeface="Arial"/>
              <a:cs typeface="Arial"/>
              <a:sym typeface="Arial"/>
            </a:endParaRPr>
          </a:p>
        </p:txBody>
      </p:sp>
      <p:sp>
        <p:nvSpPr>
          <p:cNvPr id="110" name="Google Shape;110;p12"/>
          <p:cNvSpPr/>
          <p:nvPr/>
        </p:nvSpPr>
        <p:spPr>
          <a:xfrm>
            <a:off x="638175" y="3067049"/>
            <a:ext cx="5867400" cy="1038225"/>
          </a:xfrm>
          <a:custGeom>
            <a:avLst/>
            <a:gdLst/>
            <a:ahLst/>
            <a:cxnLst/>
            <a:rect l="l" t="t" r="r" b="b"/>
            <a:pathLst>
              <a:path w="5867400" h="1038225" extrusionOk="0">
                <a:moveTo>
                  <a:pt x="5847651" y="0"/>
                </a:moveTo>
                <a:lnTo>
                  <a:pt x="19749" y="0"/>
                </a:lnTo>
                <a:lnTo>
                  <a:pt x="16847" y="571"/>
                </a:lnTo>
                <a:lnTo>
                  <a:pt x="0" y="19748"/>
                </a:lnTo>
                <a:lnTo>
                  <a:pt x="0" y="1015453"/>
                </a:lnTo>
                <a:lnTo>
                  <a:pt x="0" y="1018476"/>
                </a:lnTo>
                <a:lnTo>
                  <a:pt x="19749" y="1038225"/>
                </a:lnTo>
                <a:lnTo>
                  <a:pt x="5847651" y="1038225"/>
                </a:lnTo>
                <a:lnTo>
                  <a:pt x="5867400" y="1018476"/>
                </a:lnTo>
                <a:lnTo>
                  <a:pt x="5867400" y="19748"/>
                </a:lnTo>
                <a:lnTo>
                  <a:pt x="5850547" y="571"/>
                </a:lnTo>
                <a:lnTo>
                  <a:pt x="5847651" y="0"/>
                </a:lnTo>
                <a:close/>
              </a:path>
            </a:pathLst>
          </a:custGeom>
          <a:solidFill>
            <a:srgbClr val="2B2951"/>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11" name="Google Shape;111;p12"/>
          <p:cNvSpPr txBox="1"/>
          <p:nvPr/>
        </p:nvSpPr>
        <p:spPr>
          <a:xfrm>
            <a:off x="807045" y="3221037"/>
            <a:ext cx="4467300" cy="657300"/>
          </a:xfrm>
          <a:prstGeom prst="rect">
            <a:avLst/>
          </a:prstGeom>
          <a:noFill/>
          <a:ln>
            <a:noFill/>
          </a:ln>
        </p:spPr>
        <p:txBody>
          <a:bodyPr spcFirstLastPara="1" wrap="square" lIns="0" tIns="17125" rIns="0" bIns="0" anchor="t" anchorCtr="0">
            <a:spAutoFit/>
          </a:bodyPr>
          <a:lstStyle/>
          <a:p>
            <a:pPr marL="12700" lvl="0" indent="0" algn="l" rtl="0">
              <a:lnSpc>
                <a:spcPct val="100000"/>
              </a:lnSpc>
              <a:spcBef>
                <a:spcPts val="0"/>
              </a:spcBef>
              <a:spcAft>
                <a:spcPts val="0"/>
              </a:spcAft>
              <a:buNone/>
            </a:pPr>
            <a:r>
              <a:rPr lang="en-US" sz="1650" b="1">
                <a:solidFill>
                  <a:srgbClr val="D9E1FF"/>
                </a:solidFill>
                <a:latin typeface="Trebuchet MS"/>
                <a:ea typeface="Trebuchet MS"/>
                <a:cs typeface="Trebuchet MS"/>
                <a:sym typeface="Trebuchet MS"/>
              </a:rPr>
              <a:t>Enter N</a:t>
            </a:r>
            <a:endParaRPr sz="1650">
              <a:latin typeface="Trebuchet MS"/>
              <a:ea typeface="Trebuchet MS"/>
              <a:cs typeface="Trebuchet MS"/>
              <a:sym typeface="Trebuchet MS"/>
            </a:endParaRPr>
          </a:p>
          <a:p>
            <a:pPr marL="12700" lvl="0" indent="0" algn="l" rtl="0">
              <a:lnSpc>
                <a:spcPct val="100000"/>
              </a:lnSpc>
              <a:spcBef>
                <a:spcPts val="1270"/>
              </a:spcBef>
              <a:spcAft>
                <a:spcPts val="0"/>
              </a:spcAft>
              <a:buNone/>
            </a:pPr>
            <a:r>
              <a:rPr lang="en-US" sz="1400">
                <a:solidFill>
                  <a:srgbClr val="D9E1FF"/>
                </a:solidFill>
                <a:latin typeface="Arial"/>
                <a:ea typeface="Arial"/>
                <a:cs typeface="Arial"/>
                <a:sym typeface="Arial"/>
              </a:rPr>
              <a:t>Input the number of LED circuit calculations to perform.</a:t>
            </a:r>
            <a:endParaRPr sz="1400">
              <a:latin typeface="Arial"/>
              <a:ea typeface="Arial"/>
              <a:cs typeface="Arial"/>
              <a:sym typeface="Arial"/>
            </a:endParaRPr>
          </a:p>
        </p:txBody>
      </p:sp>
      <p:grpSp>
        <p:nvGrpSpPr>
          <p:cNvPr id="112" name="Google Shape;112;p12"/>
          <p:cNvGrpSpPr/>
          <p:nvPr/>
        </p:nvGrpSpPr>
        <p:grpSpPr>
          <a:xfrm>
            <a:off x="638175" y="4286250"/>
            <a:ext cx="5867400" cy="1038225"/>
            <a:chOff x="638175" y="4286250"/>
            <a:chExt cx="5867400" cy="1038225"/>
          </a:xfrm>
        </p:grpSpPr>
        <p:sp>
          <p:nvSpPr>
            <p:cNvPr id="113" name="Google Shape;113;p12"/>
            <p:cNvSpPr/>
            <p:nvPr/>
          </p:nvSpPr>
          <p:spPr>
            <a:xfrm>
              <a:off x="638175" y="4286250"/>
              <a:ext cx="5867400" cy="1038225"/>
            </a:xfrm>
            <a:custGeom>
              <a:avLst/>
              <a:gdLst/>
              <a:ahLst/>
              <a:cxnLst/>
              <a:rect l="l" t="t" r="r" b="b"/>
              <a:pathLst>
                <a:path w="5867400" h="1038225" extrusionOk="0">
                  <a:moveTo>
                    <a:pt x="5847651" y="0"/>
                  </a:moveTo>
                  <a:lnTo>
                    <a:pt x="19749" y="0"/>
                  </a:lnTo>
                  <a:lnTo>
                    <a:pt x="16847" y="571"/>
                  </a:lnTo>
                  <a:lnTo>
                    <a:pt x="0" y="19748"/>
                  </a:lnTo>
                  <a:lnTo>
                    <a:pt x="0" y="1015453"/>
                  </a:lnTo>
                  <a:lnTo>
                    <a:pt x="0" y="1018476"/>
                  </a:lnTo>
                  <a:lnTo>
                    <a:pt x="19749" y="1038225"/>
                  </a:lnTo>
                  <a:lnTo>
                    <a:pt x="5847651" y="1038225"/>
                  </a:lnTo>
                  <a:lnTo>
                    <a:pt x="5867400" y="1018476"/>
                  </a:lnTo>
                  <a:lnTo>
                    <a:pt x="5867400" y="19748"/>
                  </a:lnTo>
                  <a:lnTo>
                    <a:pt x="5850547" y="571"/>
                  </a:lnTo>
                  <a:lnTo>
                    <a:pt x="5847651" y="0"/>
                  </a:lnTo>
                  <a:close/>
                </a:path>
              </a:pathLst>
            </a:custGeom>
            <a:solidFill>
              <a:srgbClr val="2B2951"/>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14" name="Google Shape;114;p12"/>
            <p:cNvSpPr/>
            <p:nvPr/>
          </p:nvSpPr>
          <p:spPr>
            <a:xfrm>
              <a:off x="1304925" y="4857750"/>
              <a:ext cx="1895475" cy="247650"/>
            </a:xfrm>
            <a:custGeom>
              <a:avLst/>
              <a:gdLst/>
              <a:ahLst/>
              <a:cxnLst/>
              <a:rect l="l" t="t" r="r" b="b"/>
              <a:pathLst>
                <a:path w="1895475" h="247650" extrusionOk="0">
                  <a:moveTo>
                    <a:pt x="1875726" y="0"/>
                  </a:moveTo>
                  <a:lnTo>
                    <a:pt x="19748" y="0"/>
                  </a:lnTo>
                  <a:lnTo>
                    <a:pt x="16852" y="571"/>
                  </a:lnTo>
                  <a:lnTo>
                    <a:pt x="0" y="19748"/>
                  </a:lnTo>
                  <a:lnTo>
                    <a:pt x="0" y="224878"/>
                  </a:lnTo>
                  <a:lnTo>
                    <a:pt x="0" y="227901"/>
                  </a:lnTo>
                  <a:lnTo>
                    <a:pt x="19748" y="247650"/>
                  </a:lnTo>
                  <a:lnTo>
                    <a:pt x="1875726" y="247650"/>
                  </a:lnTo>
                  <a:lnTo>
                    <a:pt x="1895475" y="227901"/>
                  </a:lnTo>
                  <a:lnTo>
                    <a:pt x="1895475" y="19748"/>
                  </a:lnTo>
                  <a:lnTo>
                    <a:pt x="1878622" y="571"/>
                  </a:lnTo>
                  <a:lnTo>
                    <a:pt x="1875726" y="0"/>
                  </a:lnTo>
                  <a:close/>
                </a:path>
              </a:pathLst>
            </a:custGeom>
            <a:solidFill>
              <a:srgbClr val="18163F"/>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15" name="Google Shape;115;p12"/>
          <p:cNvSpPr txBox="1"/>
          <p:nvPr/>
        </p:nvSpPr>
        <p:spPr>
          <a:xfrm>
            <a:off x="807045" y="4440237"/>
            <a:ext cx="3871500" cy="657300"/>
          </a:xfrm>
          <a:prstGeom prst="rect">
            <a:avLst/>
          </a:prstGeom>
          <a:noFill/>
          <a:ln>
            <a:noFill/>
          </a:ln>
        </p:spPr>
        <p:txBody>
          <a:bodyPr spcFirstLastPara="1" wrap="square" lIns="0" tIns="17125" rIns="0" bIns="0" anchor="t" anchorCtr="0">
            <a:spAutoFit/>
          </a:bodyPr>
          <a:lstStyle/>
          <a:p>
            <a:pPr marL="12700" lvl="0" indent="0" algn="l" rtl="0">
              <a:lnSpc>
                <a:spcPct val="100000"/>
              </a:lnSpc>
              <a:spcBef>
                <a:spcPts val="0"/>
              </a:spcBef>
              <a:spcAft>
                <a:spcPts val="0"/>
              </a:spcAft>
              <a:buNone/>
            </a:pPr>
            <a:r>
              <a:rPr lang="en-US" sz="1650" b="1">
                <a:solidFill>
                  <a:srgbClr val="D9E1FF"/>
                </a:solidFill>
                <a:latin typeface="Trebuchet MS"/>
                <a:ea typeface="Trebuchet MS"/>
                <a:cs typeface="Trebuchet MS"/>
                <a:sym typeface="Trebuchet MS"/>
              </a:rPr>
              <a:t>Create Report File</a:t>
            </a:r>
            <a:endParaRPr sz="1650">
              <a:latin typeface="Trebuchet MS"/>
              <a:ea typeface="Trebuchet MS"/>
              <a:cs typeface="Trebuchet MS"/>
              <a:sym typeface="Trebuchet MS"/>
            </a:endParaRPr>
          </a:p>
          <a:p>
            <a:pPr marL="12700" lvl="0" indent="0" algn="l" rtl="0">
              <a:lnSpc>
                <a:spcPct val="100000"/>
              </a:lnSpc>
              <a:spcBef>
                <a:spcPts val="1270"/>
              </a:spcBef>
              <a:spcAft>
                <a:spcPts val="0"/>
              </a:spcAft>
              <a:buNone/>
            </a:pPr>
            <a:r>
              <a:rPr lang="en-US" sz="1400">
                <a:solidFill>
                  <a:srgbClr val="D9E1FF"/>
                </a:solidFill>
                <a:latin typeface="Arial"/>
                <a:ea typeface="Arial"/>
                <a:cs typeface="Arial"/>
                <a:sym typeface="Arial"/>
              </a:rPr>
              <a:t>Open </a:t>
            </a:r>
            <a:r>
              <a:rPr lang="en-US" sz="1400">
                <a:solidFill>
                  <a:srgbClr val="D9E1FF"/>
                </a:solidFill>
                <a:latin typeface="Lucida Sans"/>
                <a:ea typeface="Lucida Sans"/>
                <a:cs typeface="Lucida Sans"/>
                <a:sym typeface="Lucida Sans"/>
              </a:rPr>
              <a:t>led_resistor_report.txt </a:t>
            </a:r>
            <a:r>
              <a:rPr lang="en-US" sz="1400">
                <a:solidFill>
                  <a:srgbClr val="D9E1FF"/>
                </a:solidFill>
                <a:latin typeface="Arial"/>
                <a:ea typeface="Arial"/>
                <a:cs typeface="Arial"/>
                <a:sym typeface="Arial"/>
              </a:rPr>
              <a:t>for writing results.</a:t>
            </a:r>
            <a:endParaRPr sz="1400">
              <a:latin typeface="Arial"/>
              <a:ea typeface="Arial"/>
              <a:cs typeface="Arial"/>
              <a:sym typeface="Arial"/>
            </a:endParaRPr>
          </a:p>
        </p:txBody>
      </p:sp>
      <p:sp>
        <p:nvSpPr>
          <p:cNvPr id="116" name="Google Shape;116;p12"/>
          <p:cNvSpPr/>
          <p:nvPr/>
        </p:nvSpPr>
        <p:spPr>
          <a:xfrm>
            <a:off x="638175" y="5505450"/>
            <a:ext cx="5867400" cy="1038225"/>
          </a:xfrm>
          <a:custGeom>
            <a:avLst/>
            <a:gdLst/>
            <a:ahLst/>
            <a:cxnLst/>
            <a:rect l="l" t="t" r="r" b="b"/>
            <a:pathLst>
              <a:path w="5867400" h="1038225" extrusionOk="0">
                <a:moveTo>
                  <a:pt x="5847651" y="0"/>
                </a:moveTo>
                <a:lnTo>
                  <a:pt x="19749" y="0"/>
                </a:lnTo>
                <a:lnTo>
                  <a:pt x="16847" y="571"/>
                </a:lnTo>
                <a:lnTo>
                  <a:pt x="0" y="19748"/>
                </a:lnTo>
                <a:lnTo>
                  <a:pt x="0" y="1015455"/>
                </a:lnTo>
                <a:lnTo>
                  <a:pt x="0" y="1018471"/>
                </a:lnTo>
                <a:lnTo>
                  <a:pt x="19749" y="1038221"/>
                </a:lnTo>
                <a:lnTo>
                  <a:pt x="5847651" y="1038221"/>
                </a:lnTo>
                <a:lnTo>
                  <a:pt x="5867400" y="1018471"/>
                </a:lnTo>
                <a:lnTo>
                  <a:pt x="5867400" y="19748"/>
                </a:lnTo>
                <a:lnTo>
                  <a:pt x="5850547" y="571"/>
                </a:lnTo>
                <a:lnTo>
                  <a:pt x="5847651" y="0"/>
                </a:lnTo>
                <a:close/>
              </a:path>
            </a:pathLst>
          </a:custGeom>
          <a:solidFill>
            <a:srgbClr val="2B2951"/>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17" name="Google Shape;117;p12"/>
          <p:cNvSpPr txBox="1"/>
          <p:nvPr/>
        </p:nvSpPr>
        <p:spPr>
          <a:xfrm>
            <a:off x="807045" y="5659438"/>
            <a:ext cx="2196600" cy="657300"/>
          </a:xfrm>
          <a:prstGeom prst="rect">
            <a:avLst/>
          </a:prstGeom>
          <a:noFill/>
          <a:ln>
            <a:noFill/>
          </a:ln>
        </p:spPr>
        <p:txBody>
          <a:bodyPr spcFirstLastPara="1" wrap="square" lIns="0" tIns="17125" rIns="0" bIns="0" anchor="t" anchorCtr="0">
            <a:spAutoFit/>
          </a:bodyPr>
          <a:lstStyle/>
          <a:p>
            <a:pPr marL="12700" lvl="0" indent="0" algn="l" rtl="0">
              <a:lnSpc>
                <a:spcPct val="100000"/>
              </a:lnSpc>
              <a:spcBef>
                <a:spcPts val="0"/>
              </a:spcBef>
              <a:spcAft>
                <a:spcPts val="0"/>
              </a:spcAft>
              <a:buNone/>
            </a:pPr>
            <a:r>
              <a:rPr lang="en-US" sz="1650" b="1">
                <a:solidFill>
                  <a:srgbClr val="D9E1FF"/>
                </a:solidFill>
                <a:latin typeface="Trebuchet MS"/>
                <a:ea typeface="Trebuchet MS"/>
                <a:cs typeface="Trebuchet MS"/>
                <a:sym typeface="Trebuchet MS"/>
              </a:rPr>
              <a:t>Set Counter</a:t>
            </a:r>
            <a:endParaRPr sz="1650">
              <a:latin typeface="Trebuchet MS"/>
              <a:ea typeface="Trebuchet MS"/>
              <a:cs typeface="Trebuchet MS"/>
              <a:sym typeface="Trebuchet MS"/>
            </a:endParaRPr>
          </a:p>
          <a:p>
            <a:pPr marL="12700" lvl="0" indent="0" algn="l" rtl="0">
              <a:lnSpc>
                <a:spcPct val="100000"/>
              </a:lnSpc>
              <a:spcBef>
                <a:spcPts val="1270"/>
              </a:spcBef>
              <a:spcAft>
                <a:spcPts val="0"/>
              </a:spcAft>
              <a:buNone/>
            </a:pPr>
            <a:r>
              <a:rPr lang="en-US" sz="1400">
                <a:solidFill>
                  <a:srgbClr val="D9E1FF"/>
                </a:solidFill>
                <a:latin typeface="Arial"/>
                <a:ea typeface="Arial"/>
                <a:cs typeface="Arial"/>
                <a:sym typeface="Arial"/>
              </a:rPr>
              <a:t>Initialize loop counter </a:t>
            </a:r>
            <a:r>
              <a:rPr lang="en-US" sz="1400" b="1">
                <a:solidFill>
                  <a:srgbClr val="D9E1FF"/>
                </a:solidFill>
                <a:latin typeface="Arial"/>
                <a:ea typeface="Arial"/>
                <a:cs typeface="Arial"/>
                <a:sym typeface="Arial"/>
              </a:rPr>
              <a:t>i = 1</a:t>
            </a:r>
            <a:r>
              <a:rPr lang="en-US" sz="1400">
                <a:solidFill>
                  <a:srgbClr val="D9E1FF"/>
                </a:solidFill>
                <a:latin typeface="Arial"/>
                <a:ea typeface="Arial"/>
                <a:cs typeface="Arial"/>
                <a:sym typeface="Arial"/>
              </a:rPr>
              <a:t>.</a:t>
            </a:r>
            <a:endParaRPr sz="1400">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Shape 118"/>
        <p:cNvGrpSpPr/>
        <p:nvPr/>
      </p:nvGrpSpPr>
      <p:grpSpPr>
        <a:xfrm>
          <a:off x="0" y="0"/>
          <a:ext cx="0" cy="0"/>
          <a:chOff x="0" y="0"/>
          <a:chExt cx="0" cy="0"/>
        </a:xfrm>
      </p:grpSpPr>
      <p:sp>
        <p:nvSpPr>
          <p:cNvPr id="119" name="Google Shape;119;p13"/>
          <p:cNvSpPr/>
          <p:nvPr/>
        </p:nvSpPr>
        <p:spPr>
          <a:xfrm>
            <a:off x="0" y="0"/>
            <a:ext cx="11430000" cy="7662291"/>
          </a:xfrm>
          <a:custGeom>
            <a:avLst/>
            <a:gdLst/>
            <a:ahLst/>
            <a:cxnLst/>
            <a:rect l="l" t="t" r="r" b="b"/>
            <a:pathLst>
              <a:path w="11430000" h="6438900" extrusionOk="0">
                <a:moveTo>
                  <a:pt x="11430000" y="6438900"/>
                </a:moveTo>
                <a:lnTo>
                  <a:pt x="0" y="6438900"/>
                </a:lnTo>
                <a:lnTo>
                  <a:pt x="0" y="0"/>
                </a:lnTo>
                <a:lnTo>
                  <a:pt x="11430000" y="0"/>
                </a:lnTo>
                <a:lnTo>
                  <a:pt x="11430000" y="6438900"/>
                </a:lnTo>
                <a:close/>
              </a:path>
            </a:pathLst>
          </a:custGeom>
          <a:solidFill>
            <a:srgbClr val="0C0933"/>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20" name="Google Shape;120;p13"/>
          <p:cNvSpPr txBox="1">
            <a:spLocks noGrp="1"/>
          </p:cNvSpPr>
          <p:nvPr>
            <p:ph type="title"/>
          </p:nvPr>
        </p:nvSpPr>
        <p:spPr>
          <a:xfrm>
            <a:off x="624879" y="777875"/>
            <a:ext cx="6924600" cy="539700"/>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a:t>Step 2: LED Input Parameters</a:t>
            </a:r>
            <a:endParaRPr/>
          </a:p>
        </p:txBody>
      </p:sp>
      <p:sp>
        <p:nvSpPr>
          <p:cNvPr id="121" name="Google Shape;121;p13"/>
          <p:cNvSpPr txBox="1"/>
          <p:nvPr/>
        </p:nvSpPr>
        <p:spPr>
          <a:xfrm>
            <a:off x="624879" y="1719707"/>
            <a:ext cx="4699500" cy="244500"/>
          </a:xfrm>
          <a:prstGeom prst="rect">
            <a:avLst/>
          </a:prstGeom>
          <a:noFill/>
          <a:ln>
            <a:noFill/>
          </a:ln>
        </p:spPr>
        <p:txBody>
          <a:bodyPr spcFirstLastPara="1" wrap="square" lIns="0" tIns="16500" rIns="0" bIns="0" anchor="t" anchorCtr="0">
            <a:spAutoFit/>
          </a:bodyPr>
          <a:lstStyle/>
          <a:p>
            <a:pPr marL="12700" lvl="0" indent="0" algn="l" rtl="0">
              <a:lnSpc>
                <a:spcPct val="100000"/>
              </a:lnSpc>
              <a:spcBef>
                <a:spcPts val="0"/>
              </a:spcBef>
              <a:spcAft>
                <a:spcPts val="0"/>
              </a:spcAft>
              <a:buNone/>
            </a:pPr>
            <a:r>
              <a:rPr lang="en-US" sz="1400">
                <a:solidFill>
                  <a:srgbClr val="D9E1FF"/>
                </a:solidFill>
                <a:latin typeface="Arial"/>
                <a:ea typeface="Arial"/>
                <a:cs typeface="Arial"/>
                <a:sym typeface="Arial"/>
              </a:rPr>
              <a:t>For each LED circuit, the user enters four required values:</a:t>
            </a:r>
            <a:endParaRPr sz="1400">
              <a:latin typeface="Arial"/>
              <a:ea typeface="Arial"/>
              <a:cs typeface="Arial"/>
              <a:sym typeface="Arial"/>
            </a:endParaRPr>
          </a:p>
        </p:txBody>
      </p:sp>
      <p:grpSp>
        <p:nvGrpSpPr>
          <p:cNvPr id="122" name="Google Shape;122;p13"/>
          <p:cNvGrpSpPr/>
          <p:nvPr/>
        </p:nvGrpSpPr>
        <p:grpSpPr>
          <a:xfrm>
            <a:off x="647700" y="2219325"/>
            <a:ext cx="4962525" cy="1600200"/>
            <a:chOff x="647700" y="2219325"/>
            <a:chExt cx="4962525" cy="1600200"/>
          </a:xfrm>
        </p:grpSpPr>
        <p:sp>
          <p:nvSpPr>
            <p:cNvPr id="123" name="Google Shape;123;p13"/>
            <p:cNvSpPr/>
            <p:nvPr/>
          </p:nvSpPr>
          <p:spPr>
            <a:xfrm>
              <a:off x="647700" y="2219325"/>
              <a:ext cx="4962525" cy="1600200"/>
            </a:xfrm>
            <a:custGeom>
              <a:avLst/>
              <a:gdLst/>
              <a:ahLst/>
              <a:cxnLst/>
              <a:rect l="l" t="t" r="r" b="b"/>
              <a:pathLst>
                <a:path w="4962525" h="1600200" extrusionOk="0">
                  <a:moveTo>
                    <a:pt x="4951037" y="1600200"/>
                  </a:moveTo>
                  <a:lnTo>
                    <a:pt x="11489" y="1600200"/>
                  </a:lnTo>
                  <a:lnTo>
                    <a:pt x="9799" y="1599866"/>
                  </a:lnTo>
                  <a:lnTo>
                    <a:pt x="0" y="1588712"/>
                  </a:lnTo>
                  <a:lnTo>
                    <a:pt x="0" y="1586950"/>
                  </a:lnTo>
                  <a:lnTo>
                    <a:pt x="0" y="11487"/>
                  </a:lnTo>
                  <a:lnTo>
                    <a:pt x="11489" y="0"/>
                  </a:lnTo>
                  <a:lnTo>
                    <a:pt x="4951037" y="0"/>
                  </a:lnTo>
                  <a:lnTo>
                    <a:pt x="4962525" y="11487"/>
                  </a:lnTo>
                  <a:lnTo>
                    <a:pt x="4962525" y="1588712"/>
                  </a:lnTo>
                  <a:lnTo>
                    <a:pt x="4952723" y="1599866"/>
                  </a:lnTo>
                  <a:lnTo>
                    <a:pt x="4951037" y="1600200"/>
                  </a:lnTo>
                  <a:close/>
                </a:path>
              </a:pathLst>
            </a:custGeom>
            <a:solidFill>
              <a:srgbClr val="0C0933"/>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24" name="Google Shape;124;p13"/>
            <p:cNvSpPr/>
            <p:nvPr/>
          </p:nvSpPr>
          <p:spPr>
            <a:xfrm>
              <a:off x="647700" y="2219325"/>
              <a:ext cx="4962525" cy="1600200"/>
            </a:xfrm>
            <a:custGeom>
              <a:avLst/>
              <a:gdLst/>
              <a:ahLst/>
              <a:cxnLst/>
              <a:rect l="l" t="t" r="r" b="b"/>
              <a:pathLst>
                <a:path w="4962525" h="1600200" extrusionOk="0">
                  <a:moveTo>
                    <a:pt x="0" y="1586950"/>
                  </a:moveTo>
                  <a:lnTo>
                    <a:pt x="0" y="13249"/>
                  </a:lnTo>
                  <a:lnTo>
                    <a:pt x="0" y="11487"/>
                  </a:lnTo>
                  <a:lnTo>
                    <a:pt x="336" y="9801"/>
                  </a:lnTo>
                  <a:lnTo>
                    <a:pt x="8177" y="1009"/>
                  </a:lnTo>
                  <a:lnTo>
                    <a:pt x="9799" y="333"/>
                  </a:lnTo>
                  <a:lnTo>
                    <a:pt x="11489" y="0"/>
                  </a:lnTo>
                  <a:lnTo>
                    <a:pt x="13245" y="0"/>
                  </a:lnTo>
                  <a:lnTo>
                    <a:pt x="4949275" y="0"/>
                  </a:lnTo>
                  <a:lnTo>
                    <a:pt x="4951037" y="0"/>
                  </a:lnTo>
                  <a:lnTo>
                    <a:pt x="4952723" y="333"/>
                  </a:lnTo>
                  <a:lnTo>
                    <a:pt x="4954343" y="1009"/>
                  </a:lnTo>
                  <a:lnTo>
                    <a:pt x="4955971" y="1676"/>
                  </a:lnTo>
                  <a:lnTo>
                    <a:pt x="4962525" y="11487"/>
                  </a:lnTo>
                  <a:lnTo>
                    <a:pt x="4962525" y="13249"/>
                  </a:lnTo>
                  <a:lnTo>
                    <a:pt x="4962525" y="1586950"/>
                  </a:lnTo>
                  <a:lnTo>
                    <a:pt x="4962525" y="1588712"/>
                  </a:lnTo>
                  <a:lnTo>
                    <a:pt x="4962191" y="1590398"/>
                  </a:lnTo>
                  <a:lnTo>
                    <a:pt x="4961515" y="1592018"/>
                  </a:lnTo>
                  <a:lnTo>
                    <a:pt x="4960839" y="1593646"/>
                  </a:lnTo>
                  <a:lnTo>
                    <a:pt x="4954343" y="1599190"/>
                  </a:lnTo>
                  <a:lnTo>
                    <a:pt x="4952723" y="1599866"/>
                  </a:lnTo>
                  <a:lnTo>
                    <a:pt x="4951037" y="1600200"/>
                  </a:lnTo>
                  <a:lnTo>
                    <a:pt x="4949275" y="1600200"/>
                  </a:lnTo>
                  <a:lnTo>
                    <a:pt x="13245" y="1600200"/>
                  </a:lnTo>
                  <a:lnTo>
                    <a:pt x="11489" y="1600200"/>
                  </a:lnTo>
                  <a:lnTo>
                    <a:pt x="9799" y="1599866"/>
                  </a:lnTo>
                  <a:lnTo>
                    <a:pt x="8177" y="1599190"/>
                  </a:lnTo>
                  <a:lnTo>
                    <a:pt x="6554" y="1598523"/>
                  </a:lnTo>
                  <a:lnTo>
                    <a:pt x="1007" y="1592018"/>
                  </a:lnTo>
                  <a:lnTo>
                    <a:pt x="336" y="1590398"/>
                  </a:lnTo>
                  <a:lnTo>
                    <a:pt x="0" y="1588712"/>
                  </a:lnTo>
                  <a:lnTo>
                    <a:pt x="0" y="1586950"/>
                  </a:lnTo>
                  <a:close/>
                </a:path>
              </a:pathLst>
            </a:custGeom>
            <a:noFill/>
            <a:ln w="19050" cap="flat" cmpd="sng">
              <a:solidFill>
                <a:srgbClr val="44416A"/>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25" name="Google Shape;125;p13"/>
            <p:cNvSpPr/>
            <p:nvPr/>
          </p:nvSpPr>
          <p:spPr>
            <a:xfrm>
              <a:off x="657225" y="2228850"/>
              <a:ext cx="4943475" cy="542925"/>
            </a:xfrm>
            <a:custGeom>
              <a:avLst/>
              <a:gdLst/>
              <a:ahLst/>
              <a:cxnLst/>
              <a:rect l="l" t="t" r="r" b="b"/>
              <a:pathLst>
                <a:path w="4943475" h="542925" extrusionOk="0">
                  <a:moveTo>
                    <a:pt x="4943475" y="542925"/>
                  </a:moveTo>
                  <a:lnTo>
                    <a:pt x="0" y="542925"/>
                  </a:lnTo>
                  <a:lnTo>
                    <a:pt x="0" y="2695"/>
                  </a:lnTo>
                  <a:lnTo>
                    <a:pt x="362" y="1819"/>
                  </a:lnTo>
                  <a:lnTo>
                    <a:pt x="1816" y="361"/>
                  </a:lnTo>
                  <a:lnTo>
                    <a:pt x="2693" y="0"/>
                  </a:lnTo>
                  <a:lnTo>
                    <a:pt x="4940779" y="0"/>
                  </a:lnTo>
                  <a:lnTo>
                    <a:pt x="4941655" y="361"/>
                  </a:lnTo>
                  <a:lnTo>
                    <a:pt x="4943113" y="1819"/>
                  </a:lnTo>
                  <a:lnTo>
                    <a:pt x="4943475" y="2695"/>
                  </a:lnTo>
                  <a:lnTo>
                    <a:pt x="4943475" y="542925"/>
                  </a:lnTo>
                  <a:close/>
                </a:path>
              </a:pathLst>
            </a:custGeom>
            <a:solidFill>
              <a:srgbClr val="2A2952"/>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26" name="Google Shape;126;p13"/>
          <p:cNvSpPr txBox="1"/>
          <p:nvPr/>
        </p:nvSpPr>
        <p:spPr>
          <a:xfrm>
            <a:off x="3077470" y="2295398"/>
            <a:ext cx="119400" cy="353700"/>
          </a:xfrm>
          <a:prstGeom prst="rect">
            <a:avLst/>
          </a:prstGeom>
          <a:noFill/>
          <a:ln>
            <a:noFill/>
          </a:ln>
        </p:spPr>
        <p:txBody>
          <a:bodyPr spcFirstLastPara="1" wrap="square" lIns="0" tIns="12700" rIns="0" bIns="0" anchor="t" anchorCtr="0">
            <a:spAutoFit/>
          </a:bodyPr>
          <a:lstStyle/>
          <a:p>
            <a:pPr marL="0" lvl="0" indent="0" algn="l" rtl="0">
              <a:lnSpc>
                <a:spcPct val="100000"/>
              </a:lnSpc>
              <a:spcBef>
                <a:spcPts val="0"/>
              </a:spcBef>
              <a:spcAft>
                <a:spcPts val="0"/>
              </a:spcAft>
              <a:buNone/>
            </a:pPr>
            <a:r>
              <a:rPr lang="en-US" sz="2150" b="1">
                <a:solidFill>
                  <a:srgbClr val="D9E1FF"/>
                </a:solidFill>
                <a:latin typeface="Trebuchet MS"/>
                <a:ea typeface="Trebuchet MS"/>
                <a:cs typeface="Trebuchet MS"/>
                <a:sym typeface="Trebuchet MS"/>
              </a:rPr>
              <a:t>1</a:t>
            </a:r>
            <a:endParaRPr sz="2150">
              <a:latin typeface="Trebuchet MS"/>
              <a:ea typeface="Trebuchet MS"/>
              <a:cs typeface="Trebuchet MS"/>
              <a:sym typeface="Trebuchet MS"/>
            </a:endParaRPr>
          </a:p>
        </p:txBody>
      </p:sp>
      <p:sp>
        <p:nvSpPr>
          <p:cNvPr id="127" name="Google Shape;127;p13"/>
          <p:cNvSpPr txBox="1"/>
          <p:nvPr/>
        </p:nvSpPr>
        <p:spPr>
          <a:xfrm>
            <a:off x="662969" y="2925762"/>
            <a:ext cx="4932000" cy="657300"/>
          </a:xfrm>
          <a:prstGeom prst="rect">
            <a:avLst/>
          </a:prstGeom>
          <a:noFill/>
          <a:ln>
            <a:noFill/>
          </a:ln>
        </p:spPr>
        <p:txBody>
          <a:bodyPr spcFirstLastPara="1" wrap="square" lIns="0" tIns="17125" rIns="0" bIns="0" anchor="t" anchorCtr="0">
            <a:spAutoFit/>
          </a:bodyPr>
          <a:lstStyle/>
          <a:p>
            <a:pPr marL="175260" lvl="0" indent="0" algn="l" rtl="0">
              <a:lnSpc>
                <a:spcPct val="100000"/>
              </a:lnSpc>
              <a:spcBef>
                <a:spcPts val="0"/>
              </a:spcBef>
              <a:spcAft>
                <a:spcPts val="0"/>
              </a:spcAft>
              <a:buNone/>
            </a:pPr>
            <a:r>
              <a:rPr lang="en-US" sz="1650" b="1">
                <a:solidFill>
                  <a:srgbClr val="D9E1FF"/>
                </a:solidFill>
                <a:latin typeface="Trebuchet MS"/>
                <a:ea typeface="Trebuchet MS"/>
                <a:cs typeface="Trebuchet MS"/>
                <a:sym typeface="Trebuchet MS"/>
              </a:rPr>
              <a:t>LED Name</a:t>
            </a:r>
            <a:endParaRPr sz="1650">
              <a:latin typeface="Trebuchet MS"/>
              <a:ea typeface="Trebuchet MS"/>
              <a:cs typeface="Trebuchet MS"/>
              <a:sym typeface="Trebuchet MS"/>
            </a:endParaRPr>
          </a:p>
          <a:p>
            <a:pPr marL="175260" lvl="0" indent="0" algn="l" rtl="0">
              <a:lnSpc>
                <a:spcPct val="100000"/>
              </a:lnSpc>
              <a:spcBef>
                <a:spcPts val="1270"/>
              </a:spcBef>
              <a:spcAft>
                <a:spcPts val="0"/>
              </a:spcAft>
              <a:buNone/>
            </a:pPr>
            <a:r>
              <a:rPr lang="en-US" sz="1400">
                <a:solidFill>
                  <a:srgbClr val="D9E1FF"/>
                </a:solidFill>
                <a:latin typeface="Arial"/>
                <a:ea typeface="Arial"/>
                <a:cs typeface="Arial"/>
                <a:sym typeface="Arial"/>
              </a:rPr>
              <a:t>A label to identify the circuit in the report.</a:t>
            </a:r>
            <a:endParaRPr sz="1400">
              <a:latin typeface="Arial"/>
              <a:ea typeface="Arial"/>
              <a:cs typeface="Arial"/>
              <a:sym typeface="Arial"/>
            </a:endParaRPr>
          </a:p>
        </p:txBody>
      </p:sp>
      <p:grpSp>
        <p:nvGrpSpPr>
          <p:cNvPr id="128" name="Google Shape;128;p13"/>
          <p:cNvGrpSpPr/>
          <p:nvPr/>
        </p:nvGrpSpPr>
        <p:grpSpPr>
          <a:xfrm>
            <a:off x="5819775" y="2219325"/>
            <a:ext cx="4962525" cy="1600200"/>
            <a:chOff x="5819775" y="2219325"/>
            <a:chExt cx="4962525" cy="1600200"/>
          </a:xfrm>
        </p:grpSpPr>
        <p:sp>
          <p:nvSpPr>
            <p:cNvPr id="129" name="Google Shape;129;p13"/>
            <p:cNvSpPr/>
            <p:nvPr/>
          </p:nvSpPr>
          <p:spPr>
            <a:xfrm>
              <a:off x="5819775" y="2219325"/>
              <a:ext cx="4962525" cy="1600200"/>
            </a:xfrm>
            <a:custGeom>
              <a:avLst/>
              <a:gdLst/>
              <a:ahLst/>
              <a:cxnLst/>
              <a:rect l="l" t="t" r="r" b="b"/>
              <a:pathLst>
                <a:path w="4962525" h="1600200" extrusionOk="0">
                  <a:moveTo>
                    <a:pt x="4950999" y="1600200"/>
                  </a:moveTo>
                  <a:lnTo>
                    <a:pt x="11487" y="1600200"/>
                  </a:lnTo>
                  <a:lnTo>
                    <a:pt x="9801" y="1599866"/>
                  </a:lnTo>
                  <a:lnTo>
                    <a:pt x="0" y="1588712"/>
                  </a:lnTo>
                  <a:lnTo>
                    <a:pt x="0" y="1586950"/>
                  </a:lnTo>
                  <a:lnTo>
                    <a:pt x="0" y="11487"/>
                  </a:lnTo>
                  <a:lnTo>
                    <a:pt x="11487" y="0"/>
                  </a:lnTo>
                  <a:lnTo>
                    <a:pt x="4950999" y="0"/>
                  </a:lnTo>
                  <a:lnTo>
                    <a:pt x="4962525" y="11487"/>
                  </a:lnTo>
                  <a:lnTo>
                    <a:pt x="4962525" y="1588712"/>
                  </a:lnTo>
                  <a:lnTo>
                    <a:pt x="4952714" y="1599866"/>
                  </a:lnTo>
                  <a:lnTo>
                    <a:pt x="4950999" y="1600200"/>
                  </a:lnTo>
                  <a:close/>
                </a:path>
              </a:pathLst>
            </a:custGeom>
            <a:solidFill>
              <a:srgbClr val="0C0933"/>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30" name="Google Shape;130;p13"/>
            <p:cNvSpPr/>
            <p:nvPr/>
          </p:nvSpPr>
          <p:spPr>
            <a:xfrm>
              <a:off x="5819775" y="2219325"/>
              <a:ext cx="4962525" cy="1600200"/>
            </a:xfrm>
            <a:custGeom>
              <a:avLst/>
              <a:gdLst/>
              <a:ahLst/>
              <a:cxnLst/>
              <a:rect l="l" t="t" r="r" b="b"/>
              <a:pathLst>
                <a:path w="4962525" h="1600200" extrusionOk="0">
                  <a:moveTo>
                    <a:pt x="0" y="1586950"/>
                  </a:moveTo>
                  <a:lnTo>
                    <a:pt x="0" y="13249"/>
                  </a:lnTo>
                  <a:lnTo>
                    <a:pt x="0" y="11487"/>
                  </a:lnTo>
                  <a:lnTo>
                    <a:pt x="333" y="9801"/>
                  </a:lnTo>
                  <a:lnTo>
                    <a:pt x="1009" y="8172"/>
                  </a:lnTo>
                  <a:lnTo>
                    <a:pt x="1676" y="6553"/>
                  </a:lnTo>
                  <a:lnTo>
                    <a:pt x="2638" y="5124"/>
                  </a:lnTo>
                  <a:lnTo>
                    <a:pt x="3876" y="3876"/>
                  </a:lnTo>
                  <a:lnTo>
                    <a:pt x="5124" y="2638"/>
                  </a:lnTo>
                  <a:lnTo>
                    <a:pt x="6553" y="1676"/>
                  </a:lnTo>
                  <a:lnTo>
                    <a:pt x="8172" y="1009"/>
                  </a:lnTo>
                  <a:lnTo>
                    <a:pt x="9801" y="333"/>
                  </a:lnTo>
                  <a:lnTo>
                    <a:pt x="11487" y="0"/>
                  </a:lnTo>
                  <a:lnTo>
                    <a:pt x="13249" y="0"/>
                  </a:lnTo>
                  <a:lnTo>
                    <a:pt x="4949285" y="0"/>
                  </a:lnTo>
                  <a:lnTo>
                    <a:pt x="4950999" y="0"/>
                  </a:lnTo>
                  <a:lnTo>
                    <a:pt x="4952714" y="333"/>
                  </a:lnTo>
                  <a:lnTo>
                    <a:pt x="4954333" y="1009"/>
                  </a:lnTo>
                  <a:lnTo>
                    <a:pt x="4955952" y="1676"/>
                  </a:lnTo>
                  <a:lnTo>
                    <a:pt x="4962525" y="11487"/>
                  </a:lnTo>
                  <a:lnTo>
                    <a:pt x="4962525" y="13249"/>
                  </a:lnTo>
                  <a:lnTo>
                    <a:pt x="4962525" y="1586950"/>
                  </a:lnTo>
                  <a:lnTo>
                    <a:pt x="4962525" y="1588712"/>
                  </a:lnTo>
                  <a:lnTo>
                    <a:pt x="4962144" y="1590398"/>
                  </a:lnTo>
                  <a:lnTo>
                    <a:pt x="4961477" y="1592018"/>
                  </a:lnTo>
                  <a:lnTo>
                    <a:pt x="4960810" y="1593646"/>
                  </a:lnTo>
                  <a:lnTo>
                    <a:pt x="4954333" y="1599190"/>
                  </a:lnTo>
                  <a:lnTo>
                    <a:pt x="4952714" y="1599866"/>
                  </a:lnTo>
                  <a:lnTo>
                    <a:pt x="4950999" y="1600200"/>
                  </a:lnTo>
                  <a:lnTo>
                    <a:pt x="4949285" y="1600200"/>
                  </a:lnTo>
                  <a:lnTo>
                    <a:pt x="13249" y="1600200"/>
                  </a:lnTo>
                  <a:lnTo>
                    <a:pt x="11487" y="1600200"/>
                  </a:lnTo>
                  <a:lnTo>
                    <a:pt x="9801" y="1599866"/>
                  </a:lnTo>
                  <a:lnTo>
                    <a:pt x="8172" y="1599190"/>
                  </a:lnTo>
                  <a:lnTo>
                    <a:pt x="6553" y="1598523"/>
                  </a:lnTo>
                  <a:lnTo>
                    <a:pt x="1009" y="1592018"/>
                  </a:lnTo>
                  <a:lnTo>
                    <a:pt x="333" y="1590398"/>
                  </a:lnTo>
                  <a:lnTo>
                    <a:pt x="0" y="1588712"/>
                  </a:lnTo>
                  <a:lnTo>
                    <a:pt x="0" y="1586950"/>
                  </a:lnTo>
                  <a:close/>
                </a:path>
              </a:pathLst>
            </a:custGeom>
            <a:noFill/>
            <a:ln w="19050" cap="flat" cmpd="sng">
              <a:solidFill>
                <a:srgbClr val="44416A"/>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31" name="Google Shape;131;p13"/>
            <p:cNvSpPr/>
            <p:nvPr/>
          </p:nvSpPr>
          <p:spPr>
            <a:xfrm>
              <a:off x="5829300" y="2228850"/>
              <a:ext cx="4943475" cy="542925"/>
            </a:xfrm>
            <a:custGeom>
              <a:avLst/>
              <a:gdLst/>
              <a:ahLst/>
              <a:cxnLst/>
              <a:rect l="l" t="t" r="r" b="b"/>
              <a:pathLst>
                <a:path w="4943475" h="542925" extrusionOk="0">
                  <a:moveTo>
                    <a:pt x="4943475" y="542925"/>
                  </a:moveTo>
                  <a:lnTo>
                    <a:pt x="0" y="542925"/>
                  </a:lnTo>
                  <a:lnTo>
                    <a:pt x="0" y="2695"/>
                  </a:lnTo>
                  <a:lnTo>
                    <a:pt x="361" y="1819"/>
                  </a:lnTo>
                  <a:lnTo>
                    <a:pt x="1819" y="361"/>
                  </a:lnTo>
                  <a:lnTo>
                    <a:pt x="2695" y="0"/>
                  </a:lnTo>
                  <a:lnTo>
                    <a:pt x="4940808" y="0"/>
                  </a:lnTo>
                  <a:lnTo>
                    <a:pt x="4941665" y="361"/>
                  </a:lnTo>
                  <a:lnTo>
                    <a:pt x="4943094" y="1819"/>
                  </a:lnTo>
                  <a:lnTo>
                    <a:pt x="4943475" y="2695"/>
                  </a:lnTo>
                  <a:lnTo>
                    <a:pt x="4943475" y="542925"/>
                  </a:lnTo>
                  <a:close/>
                </a:path>
              </a:pathLst>
            </a:custGeom>
            <a:solidFill>
              <a:srgbClr val="2A2952"/>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32" name="Google Shape;132;p13"/>
          <p:cNvSpPr txBox="1"/>
          <p:nvPr/>
        </p:nvSpPr>
        <p:spPr>
          <a:xfrm>
            <a:off x="8213969" y="2295398"/>
            <a:ext cx="183600" cy="353700"/>
          </a:xfrm>
          <a:prstGeom prst="rect">
            <a:avLst/>
          </a:prstGeom>
          <a:noFill/>
          <a:ln>
            <a:noFill/>
          </a:ln>
        </p:spPr>
        <p:txBody>
          <a:bodyPr spcFirstLastPara="1" wrap="square" lIns="0" tIns="12700" rIns="0" bIns="0" anchor="t" anchorCtr="0">
            <a:spAutoFit/>
          </a:bodyPr>
          <a:lstStyle/>
          <a:p>
            <a:pPr marL="0" lvl="0" indent="0" algn="l" rtl="0">
              <a:lnSpc>
                <a:spcPct val="100000"/>
              </a:lnSpc>
              <a:spcBef>
                <a:spcPts val="0"/>
              </a:spcBef>
              <a:spcAft>
                <a:spcPts val="0"/>
              </a:spcAft>
              <a:buNone/>
            </a:pPr>
            <a:r>
              <a:rPr lang="en-US" sz="2150" b="1">
                <a:solidFill>
                  <a:srgbClr val="D9E1FF"/>
                </a:solidFill>
                <a:latin typeface="Trebuchet MS"/>
                <a:ea typeface="Trebuchet MS"/>
                <a:cs typeface="Trebuchet MS"/>
                <a:sym typeface="Trebuchet MS"/>
              </a:rPr>
              <a:t>2</a:t>
            </a:r>
            <a:endParaRPr sz="2150">
              <a:latin typeface="Trebuchet MS"/>
              <a:ea typeface="Trebuchet MS"/>
              <a:cs typeface="Trebuchet MS"/>
              <a:sym typeface="Trebuchet MS"/>
            </a:endParaRPr>
          </a:p>
        </p:txBody>
      </p:sp>
      <p:sp>
        <p:nvSpPr>
          <p:cNvPr id="133" name="Google Shape;133;p13"/>
          <p:cNvSpPr txBox="1"/>
          <p:nvPr/>
        </p:nvSpPr>
        <p:spPr>
          <a:xfrm>
            <a:off x="5835043" y="2925762"/>
            <a:ext cx="4932000" cy="657300"/>
          </a:xfrm>
          <a:prstGeom prst="rect">
            <a:avLst/>
          </a:prstGeom>
          <a:noFill/>
          <a:ln>
            <a:noFill/>
          </a:ln>
        </p:spPr>
        <p:txBody>
          <a:bodyPr spcFirstLastPara="1" wrap="square" lIns="0" tIns="17125" rIns="0" bIns="0" anchor="t" anchorCtr="0">
            <a:spAutoFit/>
          </a:bodyPr>
          <a:lstStyle/>
          <a:p>
            <a:pPr marL="172085" lvl="0" indent="0" algn="l" rtl="0">
              <a:lnSpc>
                <a:spcPct val="100000"/>
              </a:lnSpc>
              <a:spcBef>
                <a:spcPts val="0"/>
              </a:spcBef>
              <a:spcAft>
                <a:spcPts val="0"/>
              </a:spcAft>
              <a:buNone/>
            </a:pPr>
            <a:r>
              <a:rPr lang="en-US" sz="1650" b="1">
                <a:solidFill>
                  <a:srgbClr val="D9E1FF"/>
                </a:solidFill>
                <a:latin typeface="Trebuchet MS"/>
                <a:ea typeface="Trebuchet MS"/>
                <a:cs typeface="Trebuchet MS"/>
                <a:sym typeface="Trebuchet MS"/>
              </a:rPr>
              <a:t>Supply Voltaąe (Vs)</a:t>
            </a:r>
            <a:endParaRPr sz="1650">
              <a:latin typeface="Trebuchet MS"/>
              <a:ea typeface="Trebuchet MS"/>
              <a:cs typeface="Trebuchet MS"/>
              <a:sym typeface="Trebuchet MS"/>
            </a:endParaRPr>
          </a:p>
          <a:p>
            <a:pPr marL="172085" lvl="0" indent="0" algn="l" rtl="0">
              <a:lnSpc>
                <a:spcPct val="100000"/>
              </a:lnSpc>
              <a:spcBef>
                <a:spcPts val="1270"/>
              </a:spcBef>
              <a:spcAft>
                <a:spcPts val="0"/>
              </a:spcAft>
              <a:buNone/>
            </a:pPr>
            <a:r>
              <a:rPr lang="en-US" sz="1400">
                <a:solidFill>
                  <a:srgbClr val="D9E1FF"/>
                </a:solidFill>
                <a:latin typeface="Arial"/>
                <a:ea typeface="Arial"/>
                <a:cs typeface="Arial"/>
                <a:sym typeface="Arial"/>
              </a:rPr>
              <a:t>The source voltage powering the circuit, in volts.</a:t>
            </a:r>
            <a:endParaRPr sz="1400">
              <a:latin typeface="Arial"/>
              <a:ea typeface="Arial"/>
              <a:cs typeface="Arial"/>
              <a:sym typeface="Arial"/>
            </a:endParaRPr>
          </a:p>
        </p:txBody>
      </p:sp>
      <p:grpSp>
        <p:nvGrpSpPr>
          <p:cNvPr id="134" name="Google Shape;134;p13"/>
          <p:cNvGrpSpPr/>
          <p:nvPr/>
        </p:nvGrpSpPr>
        <p:grpSpPr>
          <a:xfrm>
            <a:off x="647700" y="4019550"/>
            <a:ext cx="4962525" cy="1600200"/>
            <a:chOff x="647700" y="4019550"/>
            <a:chExt cx="4962525" cy="1600200"/>
          </a:xfrm>
        </p:grpSpPr>
        <p:sp>
          <p:nvSpPr>
            <p:cNvPr id="135" name="Google Shape;135;p13"/>
            <p:cNvSpPr/>
            <p:nvPr/>
          </p:nvSpPr>
          <p:spPr>
            <a:xfrm>
              <a:off x="647700" y="4019550"/>
              <a:ext cx="4962525" cy="1600200"/>
            </a:xfrm>
            <a:custGeom>
              <a:avLst/>
              <a:gdLst/>
              <a:ahLst/>
              <a:cxnLst/>
              <a:rect l="l" t="t" r="r" b="b"/>
              <a:pathLst>
                <a:path w="4962525" h="1600200" extrusionOk="0">
                  <a:moveTo>
                    <a:pt x="4951037" y="1600200"/>
                  </a:moveTo>
                  <a:lnTo>
                    <a:pt x="11489" y="1600200"/>
                  </a:lnTo>
                  <a:lnTo>
                    <a:pt x="9799" y="1599866"/>
                  </a:lnTo>
                  <a:lnTo>
                    <a:pt x="0" y="1588712"/>
                  </a:lnTo>
                  <a:lnTo>
                    <a:pt x="0" y="1586950"/>
                  </a:lnTo>
                  <a:lnTo>
                    <a:pt x="0" y="11487"/>
                  </a:lnTo>
                  <a:lnTo>
                    <a:pt x="11489" y="0"/>
                  </a:lnTo>
                  <a:lnTo>
                    <a:pt x="4951037" y="0"/>
                  </a:lnTo>
                  <a:lnTo>
                    <a:pt x="4962525" y="11487"/>
                  </a:lnTo>
                  <a:lnTo>
                    <a:pt x="4962525" y="1588712"/>
                  </a:lnTo>
                  <a:lnTo>
                    <a:pt x="4952723" y="1599866"/>
                  </a:lnTo>
                  <a:lnTo>
                    <a:pt x="4951037" y="1600200"/>
                  </a:lnTo>
                  <a:close/>
                </a:path>
              </a:pathLst>
            </a:custGeom>
            <a:solidFill>
              <a:srgbClr val="0C0933"/>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36" name="Google Shape;136;p13"/>
            <p:cNvSpPr/>
            <p:nvPr/>
          </p:nvSpPr>
          <p:spPr>
            <a:xfrm>
              <a:off x="647700" y="4019550"/>
              <a:ext cx="4962525" cy="1600200"/>
            </a:xfrm>
            <a:custGeom>
              <a:avLst/>
              <a:gdLst/>
              <a:ahLst/>
              <a:cxnLst/>
              <a:rect l="l" t="t" r="r" b="b"/>
              <a:pathLst>
                <a:path w="4962525" h="1600200" extrusionOk="0">
                  <a:moveTo>
                    <a:pt x="0" y="1586950"/>
                  </a:moveTo>
                  <a:lnTo>
                    <a:pt x="0" y="13249"/>
                  </a:lnTo>
                  <a:lnTo>
                    <a:pt x="0" y="11487"/>
                  </a:lnTo>
                  <a:lnTo>
                    <a:pt x="336" y="9801"/>
                  </a:lnTo>
                  <a:lnTo>
                    <a:pt x="8177" y="1009"/>
                  </a:lnTo>
                  <a:lnTo>
                    <a:pt x="9799" y="333"/>
                  </a:lnTo>
                  <a:lnTo>
                    <a:pt x="11489" y="0"/>
                  </a:lnTo>
                  <a:lnTo>
                    <a:pt x="13245" y="0"/>
                  </a:lnTo>
                  <a:lnTo>
                    <a:pt x="4949275" y="0"/>
                  </a:lnTo>
                  <a:lnTo>
                    <a:pt x="4951037" y="0"/>
                  </a:lnTo>
                  <a:lnTo>
                    <a:pt x="4952723" y="333"/>
                  </a:lnTo>
                  <a:lnTo>
                    <a:pt x="4954343" y="1009"/>
                  </a:lnTo>
                  <a:lnTo>
                    <a:pt x="4955971" y="1676"/>
                  </a:lnTo>
                  <a:lnTo>
                    <a:pt x="4962525" y="11487"/>
                  </a:lnTo>
                  <a:lnTo>
                    <a:pt x="4962525" y="13249"/>
                  </a:lnTo>
                  <a:lnTo>
                    <a:pt x="4962525" y="1586950"/>
                  </a:lnTo>
                  <a:lnTo>
                    <a:pt x="4962525" y="1588712"/>
                  </a:lnTo>
                  <a:lnTo>
                    <a:pt x="4962191" y="1590398"/>
                  </a:lnTo>
                  <a:lnTo>
                    <a:pt x="4961515" y="1592018"/>
                  </a:lnTo>
                  <a:lnTo>
                    <a:pt x="4960839" y="1593646"/>
                  </a:lnTo>
                  <a:lnTo>
                    <a:pt x="4954343" y="1599190"/>
                  </a:lnTo>
                  <a:lnTo>
                    <a:pt x="4952723" y="1599866"/>
                  </a:lnTo>
                  <a:lnTo>
                    <a:pt x="4951037" y="1600200"/>
                  </a:lnTo>
                  <a:lnTo>
                    <a:pt x="4949275" y="1600200"/>
                  </a:lnTo>
                  <a:lnTo>
                    <a:pt x="13245" y="1600200"/>
                  </a:lnTo>
                  <a:lnTo>
                    <a:pt x="11489" y="1600200"/>
                  </a:lnTo>
                  <a:lnTo>
                    <a:pt x="9799" y="1599866"/>
                  </a:lnTo>
                  <a:lnTo>
                    <a:pt x="8177" y="1599190"/>
                  </a:lnTo>
                  <a:lnTo>
                    <a:pt x="6554" y="1598514"/>
                  </a:lnTo>
                  <a:lnTo>
                    <a:pt x="1007" y="1592018"/>
                  </a:lnTo>
                  <a:lnTo>
                    <a:pt x="336" y="1590398"/>
                  </a:lnTo>
                  <a:lnTo>
                    <a:pt x="0" y="1588712"/>
                  </a:lnTo>
                  <a:lnTo>
                    <a:pt x="0" y="1586950"/>
                  </a:lnTo>
                  <a:close/>
                </a:path>
              </a:pathLst>
            </a:custGeom>
            <a:noFill/>
            <a:ln w="19050" cap="flat" cmpd="sng">
              <a:solidFill>
                <a:srgbClr val="44416A"/>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37" name="Google Shape;137;p13"/>
            <p:cNvSpPr/>
            <p:nvPr/>
          </p:nvSpPr>
          <p:spPr>
            <a:xfrm>
              <a:off x="657225" y="4029075"/>
              <a:ext cx="4943475" cy="542925"/>
            </a:xfrm>
            <a:custGeom>
              <a:avLst/>
              <a:gdLst/>
              <a:ahLst/>
              <a:cxnLst/>
              <a:rect l="l" t="t" r="r" b="b"/>
              <a:pathLst>
                <a:path w="4943475" h="542925" extrusionOk="0">
                  <a:moveTo>
                    <a:pt x="4943475" y="542925"/>
                  </a:moveTo>
                  <a:lnTo>
                    <a:pt x="0" y="542925"/>
                  </a:lnTo>
                  <a:lnTo>
                    <a:pt x="0" y="2695"/>
                  </a:lnTo>
                  <a:lnTo>
                    <a:pt x="362" y="1819"/>
                  </a:lnTo>
                  <a:lnTo>
                    <a:pt x="1816" y="361"/>
                  </a:lnTo>
                  <a:lnTo>
                    <a:pt x="2693" y="0"/>
                  </a:lnTo>
                  <a:lnTo>
                    <a:pt x="4940779" y="0"/>
                  </a:lnTo>
                  <a:lnTo>
                    <a:pt x="4941655" y="361"/>
                  </a:lnTo>
                  <a:lnTo>
                    <a:pt x="4943113" y="1819"/>
                  </a:lnTo>
                  <a:lnTo>
                    <a:pt x="4943475" y="2695"/>
                  </a:lnTo>
                  <a:lnTo>
                    <a:pt x="4943475" y="542925"/>
                  </a:lnTo>
                  <a:close/>
                </a:path>
              </a:pathLst>
            </a:custGeom>
            <a:solidFill>
              <a:srgbClr val="2A2952"/>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38" name="Google Shape;138;p13"/>
          <p:cNvSpPr txBox="1"/>
          <p:nvPr/>
        </p:nvSpPr>
        <p:spPr>
          <a:xfrm>
            <a:off x="3043085" y="4095622"/>
            <a:ext cx="188100" cy="353700"/>
          </a:xfrm>
          <a:prstGeom prst="rect">
            <a:avLst/>
          </a:prstGeom>
          <a:noFill/>
          <a:ln>
            <a:noFill/>
          </a:ln>
        </p:spPr>
        <p:txBody>
          <a:bodyPr spcFirstLastPara="1" wrap="square" lIns="0" tIns="12700" rIns="0" bIns="0" anchor="t" anchorCtr="0">
            <a:spAutoFit/>
          </a:bodyPr>
          <a:lstStyle/>
          <a:p>
            <a:pPr marL="0" lvl="0" indent="0" algn="l" rtl="0">
              <a:lnSpc>
                <a:spcPct val="100000"/>
              </a:lnSpc>
              <a:spcBef>
                <a:spcPts val="0"/>
              </a:spcBef>
              <a:spcAft>
                <a:spcPts val="0"/>
              </a:spcAft>
              <a:buNone/>
            </a:pPr>
            <a:r>
              <a:rPr lang="en-US" sz="2150" b="1">
                <a:solidFill>
                  <a:srgbClr val="D9E1FF"/>
                </a:solidFill>
                <a:latin typeface="Trebuchet MS"/>
                <a:ea typeface="Trebuchet MS"/>
                <a:cs typeface="Trebuchet MS"/>
                <a:sym typeface="Trebuchet MS"/>
              </a:rPr>
              <a:t>3</a:t>
            </a:r>
            <a:endParaRPr sz="2150">
              <a:latin typeface="Trebuchet MS"/>
              <a:ea typeface="Trebuchet MS"/>
              <a:cs typeface="Trebuchet MS"/>
              <a:sym typeface="Trebuchet MS"/>
            </a:endParaRPr>
          </a:p>
        </p:txBody>
      </p:sp>
      <p:sp>
        <p:nvSpPr>
          <p:cNvPr id="139" name="Google Shape;139;p13"/>
          <p:cNvSpPr txBox="1"/>
          <p:nvPr/>
        </p:nvSpPr>
        <p:spPr>
          <a:xfrm>
            <a:off x="662969" y="4725987"/>
            <a:ext cx="4932000" cy="657300"/>
          </a:xfrm>
          <a:prstGeom prst="rect">
            <a:avLst/>
          </a:prstGeom>
          <a:noFill/>
          <a:ln>
            <a:noFill/>
          </a:ln>
        </p:spPr>
        <p:txBody>
          <a:bodyPr spcFirstLastPara="1" wrap="square" lIns="0" tIns="17125" rIns="0" bIns="0" anchor="t" anchorCtr="0">
            <a:spAutoFit/>
          </a:bodyPr>
          <a:lstStyle/>
          <a:p>
            <a:pPr marL="175260" lvl="0" indent="0" algn="l" rtl="0">
              <a:lnSpc>
                <a:spcPct val="100000"/>
              </a:lnSpc>
              <a:spcBef>
                <a:spcPts val="0"/>
              </a:spcBef>
              <a:spcAft>
                <a:spcPts val="0"/>
              </a:spcAft>
              <a:buNone/>
            </a:pPr>
            <a:r>
              <a:rPr lang="en-US" sz="1650" b="1">
                <a:solidFill>
                  <a:srgbClr val="D9E1FF"/>
                </a:solidFill>
                <a:latin typeface="Trebuchet MS"/>
                <a:ea typeface="Trebuchet MS"/>
                <a:cs typeface="Trebuchet MS"/>
                <a:sym typeface="Trebuchet MS"/>
              </a:rPr>
              <a:t>Forward Voltaąe (Vf)</a:t>
            </a:r>
            <a:endParaRPr sz="1650">
              <a:latin typeface="Trebuchet MS"/>
              <a:ea typeface="Trebuchet MS"/>
              <a:cs typeface="Trebuchet MS"/>
              <a:sym typeface="Trebuchet MS"/>
            </a:endParaRPr>
          </a:p>
          <a:p>
            <a:pPr marL="175260" lvl="0" indent="0" algn="l" rtl="0">
              <a:lnSpc>
                <a:spcPct val="100000"/>
              </a:lnSpc>
              <a:spcBef>
                <a:spcPts val="1270"/>
              </a:spcBef>
              <a:spcAft>
                <a:spcPts val="0"/>
              </a:spcAft>
              <a:buNone/>
            </a:pPr>
            <a:r>
              <a:rPr lang="en-US" sz="1400">
                <a:solidFill>
                  <a:srgbClr val="D9E1FF"/>
                </a:solidFill>
                <a:latin typeface="Arial"/>
                <a:ea typeface="Arial"/>
                <a:cs typeface="Arial"/>
                <a:sym typeface="Arial"/>
              </a:rPr>
              <a:t>The LED's forward voltage drop, in volts.</a:t>
            </a:r>
            <a:endParaRPr sz="1400">
              <a:latin typeface="Arial"/>
              <a:ea typeface="Arial"/>
              <a:cs typeface="Arial"/>
              <a:sym typeface="Arial"/>
            </a:endParaRPr>
          </a:p>
        </p:txBody>
      </p:sp>
      <p:grpSp>
        <p:nvGrpSpPr>
          <p:cNvPr id="140" name="Google Shape;140;p13"/>
          <p:cNvGrpSpPr/>
          <p:nvPr/>
        </p:nvGrpSpPr>
        <p:grpSpPr>
          <a:xfrm>
            <a:off x="5819775" y="4019550"/>
            <a:ext cx="4962525" cy="1600200"/>
            <a:chOff x="5819775" y="4019550"/>
            <a:chExt cx="4962525" cy="1600200"/>
          </a:xfrm>
        </p:grpSpPr>
        <p:sp>
          <p:nvSpPr>
            <p:cNvPr id="141" name="Google Shape;141;p13"/>
            <p:cNvSpPr/>
            <p:nvPr/>
          </p:nvSpPr>
          <p:spPr>
            <a:xfrm>
              <a:off x="5819775" y="4019550"/>
              <a:ext cx="4962525" cy="1600200"/>
            </a:xfrm>
            <a:custGeom>
              <a:avLst/>
              <a:gdLst/>
              <a:ahLst/>
              <a:cxnLst/>
              <a:rect l="l" t="t" r="r" b="b"/>
              <a:pathLst>
                <a:path w="4962525" h="1600200" extrusionOk="0">
                  <a:moveTo>
                    <a:pt x="4950999" y="1600200"/>
                  </a:moveTo>
                  <a:lnTo>
                    <a:pt x="11487" y="1600200"/>
                  </a:lnTo>
                  <a:lnTo>
                    <a:pt x="9801" y="1599866"/>
                  </a:lnTo>
                  <a:lnTo>
                    <a:pt x="0" y="1588712"/>
                  </a:lnTo>
                  <a:lnTo>
                    <a:pt x="0" y="1586950"/>
                  </a:lnTo>
                  <a:lnTo>
                    <a:pt x="0" y="11487"/>
                  </a:lnTo>
                  <a:lnTo>
                    <a:pt x="11487" y="0"/>
                  </a:lnTo>
                  <a:lnTo>
                    <a:pt x="4950999" y="0"/>
                  </a:lnTo>
                  <a:lnTo>
                    <a:pt x="4962525" y="11487"/>
                  </a:lnTo>
                  <a:lnTo>
                    <a:pt x="4962525" y="1588712"/>
                  </a:lnTo>
                  <a:lnTo>
                    <a:pt x="4952714" y="1599866"/>
                  </a:lnTo>
                  <a:lnTo>
                    <a:pt x="4950999" y="1600200"/>
                  </a:lnTo>
                  <a:close/>
                </a:path>
              </a:pathLst>
            </a:custGeom>
            <a:solidFill>
              <a:srgbClr val="0C0933"/>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42" name="Google Shape;142;p13"/>
            <p:cNvSpPr/>
            <p:nvPr/>
          </p:nvSpPr>
          <p:spPr>
            <a:xfrm>
              <a:off x="5819775" y="4019550"/>
              <a:ext cx="4962525" cy="1600200"/>
            </a:xfrm>
            <a:custGeom>
              <a:avLst/>
              <a:gdLst/>
              <a:ahLst/>
              <a:cxnLst/>
              <a:rect l="l" t="t" r="r" b="b"/>
              <a:pathLst>
                <a:path w="4962525" h="1600200" extrusionOk="0">
                  <a:moveTo>
                    <a:pt x="0" y="1586950"/>
                  </a:moveTo>
                  <a:lnTo>
                    <a:pt x="0" y="13249"/>
                  </a:lnTo>
                  <a:lnTo>
                    <a:pt x="0" y="11487"/>
                  </a:lnTo>
                  <a:lnTo>
                    <a:pt x="333" y="9801"/>
                  </a:lnTo>
                  <a:lnTo>
                    <a:pt x="1009" y="8172"/>
                  </a:lnTo>
                  <a:lnTo>
                    <a:pt x="1676" y="6553"/>
                  </a:lnTo>
                  <a:lnTo>
                    <a:pt x="2638" y="5124"/>
                  </a:lnTo>
                  <a:lnTo>
                    <a:pt x="3876" y="3876"/>
                  </a:lnTo>
                  <a:lnTo>
                    <a:pt x="5124" y="2638"/>
                  </a:lnTo>
                  <a:lnTo>
                    <a:pt x="6553" y="1676"/>
                  </a:lnTo>
                  <a:lnTo>
                    <a:pt x="8172" y="1009"/>
                  </a:lnTo>
                  <a:lnTo>
                    <a:pt x="9801" y="333"/>
                  </a:lnTo>
                  <a:lnTo>
                    <a:pt x="11487" y="0"/>
                  </a:lnTo>
                  <a:lnTo>
                    <a:pt x="13249" y="0"/>
                  </a:lnTo>
                  <a:lnTo>
                    <a:pt x="4949285" y="0"/>
                  </a:lnTo>
                  <a:lnTo>
                    <a:pt x="4950999" y="0"/>
                  </a:lnTo>
                  <a:lnTo>
                    <a:pt x="4952714" y="333"/>
                  </a:lnTo>
                  <a:lnTo>
                    <a:pt x="4954333" y="1009"/>
                  </a:lnTo>
                  <a:lnTo>
                    <a:pt x="4955952" y="1676"/>
                  </a:lnTo>
                  <a:lnTo>
                    <a:pt x="4962525" y="11487"/>
                  </a:lnTo>
                  <a:lnTo>
                    <a:pt x="4962525" y="13249"/>
                  </a:lnTo>
                  <a:lnTo>
                    <a:pt x="4962525" y="1586950"/>
                  </a:lnTo>
                  <a:lnTo>
                    <a:pt x="4962525" y="1588712"/>
                  </a:lnTo>
                  <a:lnTo>
                    <a:pt x="4962144" y="1590398"/>
                  </a:lnTo>
                  <a:lnTo>
                    <a:pt x="4961477" y="1592018"/>
                  </a:lnTo>
                  <a:lnTo>
                    <a:pt x="4960810" y="1593646"/>
                  </a:lnTo>
                  <a:lnTo>
                    <a:pt x="4950999" y="1600200"/>
                  </a:lnTo>
                  <a:lnTo>
                    <a:pt x="4949285" y="1600200"/>
                  </a:lnTo>
                  <a:lnTo>
                    <a:pt x="13249" y="1600200"/>
                  </a:lnTo>
                  <a:lnTo>
                    <a:pt x="11487" y="1600200"/>
                  </a:lnTo>
                  <a:lnTo>
                    <a:pt x="9801" y="1599866"/>
                  </a:lnTo>
                  <a:lnTo>
                    <a:pt x="1009" y="1592018"/>
                  </a:lnTo>
                  <a:lnTo>
                    <a:pt x="333" y="1590398"/>
                  </a:lnTo>
                  <a:lnTo>
                    <a:pt x="0" y="1588712"/>
                  </a:lnTo>
                  <a:lnTo>
                    <a:pt x="0" y="1586950"/>
                  </a:lnTo>
                  <a:close/>
                </a:path>
              </a:pathLst>
            </a:custGeom>
            <a:noFill/>
            <a:ln w="19050" cap="flat" cmpd="sng">
              <a:solidFill>
                <a:srgbClr val="44416A"/>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43" name="Google Shape;143;p13"/>
            <p:cNvSpPr/>
            <p:nvPr/>
          </p:nvSpPr>
          <p:spPr>
            <a:xfrm>
              <a:off x="5829300" y="4029075"/>
              <a:ext cx="4943475" cy="542925"/>
            </a:xfrm>
            <a:custGeom>
              <a:avLst/>
              <a:gdLst/>
              <a:ahLst/>
              <a:cxnLst/>
              <a:rect l="l" t="t" r="r" b="b"/>
              <a:pathLst>
                <a:path w="4943475" h="542925" extrusionOk="0">
                  <a:moveTo>
                    <a:pt x="4943475" y="542925"/>
                  </a:moveTo>
                  <a:lnTo>
                    <a:pt x="0" y="542925"/>
                  </a:lnTo>
                  <a:lnTo>
                    <a:pt x="0" y="2695"/>
                  </a:lnTo>
                  <a:lnTo>
                    <a:pt x="361" y="1819"/>
                  </a:lnTo>
                  <a:lnTo>
                    <a:pt x="1819" y="361"/>
                  </a:lnTo>
                  <a:lnTo>
                    <a:pt x="2695" y="0"/>
                  </a:lnTo>
                  <a:lnTo>
                    <a:pt x="4940808" y="0"/>
                  </a:lnTo>
                  <a:lnTo>
                    <a:pt x="4941665" y="361"/>
                  </a:lnTo>
                  <a:lnTo>
                    <a:pt x="4943094" y="1819"/>
                  </a:lnTo>
                  <a:lnTo>
                    <a:pt x="4943475" y="2695"/>
                  </a:lnTo>
                  <a:lnTo>
                    <a:pt x="4943475" y="542925"/>
                  </a:lnTo>
                  <a:close/>
                </a:path>
              </a:pathLst>
            </a:custGeom>
            <a:solidFill>
              <a:srgbClr val="2A2952"/>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44" name="Google Shape;144;p13"/>
          <p:cNvSpPr txBox="1"/>
          <p:nvPr/>
        </p:nvSpPr>
        <p:spPr>
          <a:xfrm>
            <a:off x="8202062" y="4095622"/>
            <a:ext cx="207000" cy="353700"/>
          </a:xfrm>
          <a:prstGeom prst="rect">
            <a:avLst/>
          </a:prstGeom>
          <a:noFill/>
          <a:ln>
            <a:noFill/>
          </a:ln>
        </p:spPr>
        <p:txBody>
          <a:bodyPr spcFirstLastPara="1" wrap="square" lIns="0" tIns="12700" rIns="0" bIns="0" anchor="t" anchorCtr="0">
            <a:spAutoFit/>
          </a:bodyPr>
          <a:lstStyle/>
          <a:p>
            <a:pPr marL="0" lvl="0" indent="0" algn="l" rtl="0">
              <a:lnSpc>
                <a:spcPct val="100000"/>
              </a:lnSpc>
              <a:spcBef>
                <a:spcPts val="0"/>
              </a:spcBef>
              <a:spcAft>
                <a:spcPts val="0"/>
              </a:spcAft>
              <a:buNone/>
            </a:pPr>
            <a:r>
              <a:rPr lang="en-US" sz="2150" b="1">
                <a:solidFill>
                  <a:srgbClr val="D9E1FF"/>
                </a:solidFill>
                <a:latin typeface="Trebuchet MS"/>
                <a:ea typeface="Trebuchet MS"/>
                <a:cs typeface="Trebuchet MS"/>
                <a:sym typeface="Trebuchet MS"/>
              </a:rPr>
              <a:t>4</a:t>
            </a:r>
            <a:endParaRPr sz="2150">
              <a:latin typeface="Trebuchet MS"/>
              <a:ea typeface="Trebuchet MS"/>
              <a:cs typeface="Trebuchet MS"/>
              <a:sym typeface="Trebuchet MS"/>
            </a:endParaRPr>
          </a:p>
        </p:txBody>
      </p:sp>
      <p:sp>
        <p:nvSpPr>
          <p:cNvPr id="145" name="Google Shape;145;p13"/>
          <p:cNvSpPr txBox="1"/>
          <p:nvPr/>
        </p:nvSpPr>
        <p:spPr>
          <a:xfrm>
            <a:off x="5835043" y="4725987"/>
            <a:ext cx="4932000" cy="657300"/>
          </a:xfrm>
          <a:prstGeom prst="rect">
            <a:avLst/>
          </a:prstGeom>
          <a:noFill/>
          <a:ln>
            <a:noFill/>
          </a:ln>
        </p:spPr>
        <p:txBody>
          <a:bodyPr spcFirstLastPara="1" wrap="square" lIns="0" tIns="17125" rIns="0" bIns="0" anchor="t" anchorCtr="0">
            <a:spAutoFit/>
          </a:bodyPr>
          <a:lstStyle/>
          <a:p>
            <a:pPr marL="172085" lvl="0" indent="0" algn="l" rtl="0">
              <a:lnSpc>
                <a:spcPct val="100000"/>
              </a:lnSpc>
              <a:spcBef>
                <a:spcPts val="0"/>
              </a:spcBef>
              <a:spcAft>
                <a:spcPts val="0"/>
              </a:spcAft>
              <a:buNone/>
            </a:pPr>
            <a:r>
              <a:rPr lang="en-US" sz="1650" b="1">
                <a:solidFill>
                  <a:srgbClr val="D9E1FF"/>
                </a:solidFill>
                <a:latin typeface="Trebuchet MS"/>
                <a:ea typeface="Trebuchet MS"/>
                <a:cs typeface="Trebuchet MS"/>
                <a:sym typeface="Trebuchet MS"/>
              </a:rPr>
              <a:t>LED Current (If)</a:t>
            </a:r>
            <a:endParaRPr sz="1650">
              <a:latin typeface="Trebuchet MS"/>
              <a:ea typeface="Trebuchet MS"/>
              <a:cs typeface="Trebuchet MS"/>
              <a:sym typeface="Trebuchet MS"/>
            </a:endParaRPr>
          </a:p>
          <a:p>
            <a:pPr marL="172085" lvl="0" indent="0" algn="l" rtl="0">
              <a:lnSpc>
                <a:spcPct val="100000"/>
              </a:lnSpc>
              <a:spcBef>
                <a:spcPts val="1270"/>
              </a:spcBef>
              <a:spcAft>
                <a:spcPts val="0"/>
              </a:spcAft>
              <a:buNone/>
            </a:pPr>
            <a:r>
              <a:rPr lang="en-US" sz="1400">
                <a:solidFill>
                  <a:srgbClr val="D9E1FF"/>
                </a:solidFill>
                <a:latin typeface="Arial"/>
                <a:ea typeface="Arial"/>
                <a:cs typeface="Arial"/>
                <a:sym typeface="Arial"/>
              </a:rPr>
              <a:t>Desired current through the LED, in milliamperes (mA).</a:t>
            </a:r>
            <a:endParaRPr sz="1400">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Shape 146"/>
        <p:cNvGrpSpPr/>
        <p:nvPr/>
      </p:nvGrpSpPr>
      <p:grpSpPr>
        <a:xfrm>
          <a:off x="0" y="0"/>
          <a:ext cx="0" cy="0"/>
          <a:chOff x="0" y="0"/>
          <a:chExt cx="0" cy="0"/>
        </a:xfrm>
      </p:grpSpPr>
      <p:sp>
        <p:nvSpPr>
          <p:cNvPr id="147" name="Google Shape;147;p14"/>
          <p:cNvSpPr/>
          <p:nvPr/>
        </p:nvSpPr>
        <p:spPr>
          <a:xfrm>
            <a:off x="0" y="0"/>
            <a:ext cx="11430000" cy="7618095"/>
          </a:xfrm>
          <a:custGeom>
            <a:avLst/>
            <a:gdLst/>
            <a:ahLst/>
            <a:cxnLst/>
            <a:rect l="l" t="t" r="r" b="b"/>
            <a:pathLst>
              <a:path w="11430000" h="7086600" extrusionOk="0">
                <a:moveTo>
                  <a:pt x="11430000" y="0"/>
                </a:moveTo>
                <a:lnTo>
                  <a:pt x="0" y="0"/>
                </a:lnTo>
                <a:lnTo>
                  <a:pt x="0" y="7086600"/>
                </a:lnTo>
                <a:lnTo>
                  <a:pt x="11430000" y="7086600"/>
                </a:lnTo>
                <a:lnTo>
                  <a:pt x="11430000" y="0"/>
                </a:lnTo>
                <a:close/>
              </a:path>
            </a:pathLst>
          </a:custGeom>
          <a:solidFill>
            <a:srgbClr val="0C0932"/>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48" name="Google Shape;148;p14"/>
          <p:cNvSpPr txBox="1">
            <a:spLocks noGrp="1"/>
          </p:cNvSpPr>
          <p:nvPr>
            <p:ph type="title"/>
          </p:nvPr>
        </p:nvSpPr>
        <p:spPr>
          <a:xfrm>
            <a:off x="624879" y="473075"/>
            <a:ext cx="10180200" cy="539700"/>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a:t>Step 3: Input Validation</a:t>
            </a:r>
            <a:endParaRPr/>
          </a:p>
        </p:txBody>
      </p:sp>
      <p:pic>
        <p:nvPicPr>
          <p:cNvPr id="149" name="Google Shape;149;p14"/>
          <p:cNvPicPr preferRelativeResize="0"/>
          <p:nvPr/>
        </p:nvPicPr>
        <p:blipFill rotWithShape="1">
          <a:blip r:embed="rId2">
            <a:alphaModFix/>
          </a:blip>
          <a:srcRect/>
          <a:stretch/>
        </p:blipFill>
        <p:spPr>
          <a:xfrm>
            <a:off x="638175" y="1524000"/>
            <a:ext cx="6448426" cy="3648075"/>
          </a:xfrm>
          <a:prstGeom prst="rect">
            <a:avLst/>
          </a:prstGeom>
          <a:noFill/>
          <a:ln>
            <a:noFill/>
          </a:ln>
        </p:spPr>
      </p:pic>
      <p:sp>
        <p:nvSpPr>
          <p:cNvPr id="150" name="Google Shape;150;p14"/>
          <p:cNvSpPr txBox="1"/>
          <p:nvPr/>
        </p:nvSpPr>
        <p:spPr>
          <a:xfrm>
            <a:off x="7523810" y="2297112"/>
            <a:ext cx="3283500" cy="2057400"/>
          </a:xfrm>
          <a:prstGeom prst="rect">
            <a:avLst/>
          </a:prstGeom>
          <a:noFill/>
          <a:ln>
            <a:noFill/>
          </a:ln>
        </p:spPr>
        <p:txBody>
          <a:bodyPr spcFirstLastPara="1" wrap="square" lIns="0" tIns="17125" rIns="0" bIns="0" anchor="t" anchorCtr="0">
            <a:spAutoFit/>
          </a:bodyPr>
          <a:lstStyle/>
          <a:p>
            <a:pPr marL="12700" lvl="0" indent="0" algn="l" rtl="0">
              <a:lnSpc>
                <a:spcPct val="100000"/>
              </a:lnSpc>
              <a:spcBef>
                <a:spcPts val="0"/>
              </a:spcBef>
              <a:spcAft>
                <a:spcPts val="0"/>
              </a:spcAft>
              <a:buNone/>
            </a:pPr>
            <a:r>
              <a:rPr lang="en-US" sz="1650" b="1">
                <a:solidFill>
                  <a:srgbClr val="FFFFFF"/>
                </a:solidFill>
                <a:latin typeface="Trebuchet MS"/>
                <a:ea typeface="Trebuchet MS"/>
                <a:cs typeface="Trebuchet MS"/>
                <a:sym typeface="Trebuchet MS"/>
              </a:rPr>
              <a:t>Validation Rules</a:t>
            </a:r>
            <a:endParaRPr sz="1650">
              <a:latin typeface="Trebuchet MS"/>
              <a:ea typeface="Trebuchet MS"/>
              <a:cs typeface="Trebuchet MS"/>
              <a:sym typeface="Trebuchet MS"/>
            </a:endParaRPr>
          </a:p>
          <a:p>
            <a:pPr marL="12700" marR="5080" lvl="0" indent="0" algn="l" rtl="0">
              <a:lnSpc>
                <a:spcPct val="136000"/>
              </a:lnSpc>
              <a:spcBef>
                <a:spcPts val="1190"/>
              </a:spcBef>
              <a:spcAft>
                <a:spcPts val="0"/>
              </a:spcAft>
              <a:buNone/>
            </a:pPr>
            <a:r>
              <a:rPr lang="en-US" sz="1400">
                <a:solidFill>
                  <a:srgbClr val="D9E1FF"/>
                </a:solidFill>
                <a:latin typeface="Arial"/>
                <a:ea typeface="Arial"/>
                <a:cs typeface="Arial"/>
                <a:sym typeface="Arial"/>
              </a:rPr>
              <a:t>Each input is checked before calculation. If any rule fails, the design is marked </a:t>
            </a:r>
            <a:r>
              <a:rPr lang="en-US" sz="1400" b="1">
                <a:solidFill>
                  <a:srgbClr val="D9E1FF"/>
                </a:solidFill>
                <a:latin typeface="Arial"/>
                <a:ea typeface="Arial"/>
                <a:cs typeface="Arial"/>
                <a:sym typeface="Arial"/>
              </a:rPr>
              <a:t>"Design Invalid"</a:t>
            </a:r>
            <a:r>
              <a:rPr lang="en-US" sz="1400">
                <a:solidFill>
                  <a:srgbClr val="D9E1FF"/>
                </a:solidFill>
                <a:latin typeface="Arial"/>
                <a:ea typeface="Arial"/>
                <a:cs typeface="Arial"/>
                <a:sym typeface="Arial"/>
              </a:rPr>
              <a:t>:</a:t>
            </a:r>
            <a:endParaRPr sz="1400">
              <a:latin typeface="Arial"/>
              <a:ea typeface="Arial"/>
              <a:cs typeface="Arial"/>
              <a:sym typeface="Arial"/>
            </a:endParaRPr>
          </a:p>
          <a:p>
            <a:pPr marL="12700" marR="125730" lvl="0" indent="0" algn="l" rtl="0">
              <a:lnSpc>
                <a:spcPct val="138000"/>
              </a:lnSpc>
              <a:spcBef>
                <a:spcPts val="1275"/>
              </a:spcBef>
              <a:spcAft>
                <a:spcPts val="0"/>
              </a:spcAft>
              <a:buNone/>
            </a:pPr>
            <a:r>
              <a:rPr lang="en-US" sz="1400">
                <a:solidFill>
                  <a:srgbClr val="D9E1FF"/>
                </a:solidFill>
                <a:latin typeface="Arial"/>
                <a:ea typeface="Arial"/>
                <a:cs typeface="Arial"/>
                <a:sym typeface="Arial"/>
              </a:rPr>
              <a:t>Invalid results are displayed and saved to the report file before continuing.</a:t>
            </a:r>
            <a:endParaRPr sz="1400">
              <a:latin typeface="Arial"/>
              <a:ea typeface="Arial"/>
              <a:cs typeface="Arial"/>
              <a:sym typeface="Arial"/>
            </a:endParaRPr>
          </a:p>
        </p:txBody>
      </p:sp>
      <p:grpSp>
        <p:nvGrpSpPr>
          <p:cNvPr id="151" name="Google Shape;151;p14"/>
          <p:cNvGrpSpPr/>
          <p:nvPr/>
        </p:nvGrpSpPr>
        <p:grpSpPr>
          <a:xfrm>
            <a:off x="647700" y="5591175"/>
            <a:ext cx="2381250" cy="981075"/>
            <a:chOff x="647700" y="5591175"/>
            <a:chExt cx="2381250" cy="981075"/>
          </a:xfrm>
        </p:grpSpPr>
        <p:sp>
          <p:nvSpPr>
            <p:cNvPr id="152" name="Google Shape;152;p14"/>
            <p:cNvSpPr/>
            <p:nvPr/>
          </p:nvSpPr>
          <p:spPr>
            <a:xfrm>
              <a:off x="647700" y="5591175"/>
              <a:ext cx="2381250" cy="981075"/>
            </a:xfrm>
            <a:custGeom>
              <a:avLst/>
              <a:gdLst/>
              <a:ahLst/>
              <a:cxnLst/>
              <a:rect l="l" t="t" r="r" b="b"/>
              <a:pathLst>
                <a:path w="2381250" h="981075" extrusionOk="0">
                  <a:moveTo>
                    <a:pt x="2369756" y="0"/>
                  </a:moveTo>
                  <a:lnTo>
                    <a:pt x="62299" y="0"/>
                  </a:lnTo>
                  <a:lnTo>
                    <a:pt x="57964" y="431"/>
                  </a:lnTo>
                  <a:lnTo>
                    <a:pt x="22622" y="16433"/>
                  </a:lnTo>
                  <a:lnTo>
                    <a:pt x="2133" y="49364"/>
                  </a:lnTo>
                  <a:lnTo>
                    <a:pt x="0" y="62293"/>
                  </a:lnTo>
                  <a:lnTo>
                    <a:pt x="0" y="914400"/>
                  </a:lnTo>
                  <a:lnTo>
                    <a:pt x="0" y="918775"/>
                  </a:lnTo>
                  <a:lnTo>
                    <a:pt x="13667" y="955079"/>
                  </a:lnTo>
                  <a:lnTo>
                    <a:pt x="45204" y="977671"/>
                  </a:lnTo>
                  <a:lnTo>
                    <a:pt x="62299" y="981075"/>
                  </a:lnTo>
                  <a:lnTo>
                    <a:pt x="2369756" y="981075"/>
                  </a:lnTo>
                  <a:lnTo>
                    <a:pt x="2381250" y="969585"/>
                  </a:lnTo>
                  <a:lnTo>
                    <a:pt x="2381250" y="11493"/>
                  </a:lnTo>
                  <a:lnTo>
                    <a:pt x="2371458" y="342"/>
                  </a:lnTo>
                  <a:lnTo>
                    <a:pt x="2369756" y="0"/>
                  </a:lnTo>
                  <a:close/>
                </a:path>
              </a:pathLst>
            </a:custGeom>
            <a:solidFill>
              <a:srgbClr val="0C0932"/>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53" name="Google Shape;153;p14"/>
            <p:cNvSpPr/>
            <p:nvPr/>
          </p:nvSpPr>
          <p:spPr>
            <a:xfrm>
              <a:off x="647700" y="5591175"/>
              <a:ext cx="2381250" cy="981075"/>
            </a:xfrm>
            <a:custGeom>
              <a:avLst/>
              <a:gdLst/>
              <a:ahLst/>
              <a:cxnLst/>
              <a:rect l="l" t="t" r="r" b="b"/>
              <a:pathLst>
                <a:path w="2381250" h="981075" extrusionOk="0">
                  <a:moveTo>
                    <a:pt x="0" y="914400"/>
                  </a:moveTo>
                  <a:lnTo>
                    <a:pt x="0" y="66675"/>
                  </a:lnTo>
                  <a:lnTo>
                    <a:pt x="0" y="62293"/>
                  </a:lnTo>
                  <a:lnTo>
                    <a:pt x="426" y="57962"/>
                  </a:lnTo>
                  <a:lnTo>
                    <a:pt x="1280" y="53670"/>
                  </a:lnTo>
                  <a:lnTo>
                    <a:pt x="2133" y="49364"/>
                  </a:lnTo>
                  <a:lnTo>
                    <a:pt x="3398" y="45199"/>
                  </a:lnTo>
                  <a:lnTo>
                    <a:pt x="5074" y="41160"/>
                  </a:lnTo>
                  <a:lnTo>
                    <a:pt x="6751" y="37109"/>
                  </a:lnTo>
                  <a:lnTo>
                    <a:pt x="8806" y="33274"/>
                  </a:lnTo>
                  <a:lnTo>
                    <a:pt x="29631" y="11239"/>
                  </a:lnTo>
                  <a:lnTo>
                    <a:pt x="33272" y="8801"/>
                  </a:lnTo>
                  <a:lnTo>
                    <a:pt x="37113" y="6756"/>
                  </a:lnTo>
                  <a:lnTo>
                    <a:pt x="41160" y="5080"/>
                  </a:lnTo>
                  <a:lnTo>
                    <a:pt x="45204" y="3403"/>
                  </a:lnTo>
                  <a:lnTo>
                    <a:pt x="49371" y="2133"/>
                  </a:lnTo>
                  <a:lnTo>
                    <a:pt x="53667" y="1282"/>
                  </a:lnTo>
                  <a:lnTo>
                    <a:pt x="57964" y="431"/>
                  </a:lnTo>
                  <a:lnTo>
                    <a:pt x="62299" y="0"/>
                  </a:lnTo>
                  <a:lnTo>
                    <a:pt x="66675" y="0"/>
                  </a:lnTo>
                  <a:lnTo>
                    <a:pt x="2368003" y="0"/>
                  </a:lnTo>
                  <a:lnTo>
                    <a:pt x="2369756" y="0"/>
                  </a:lnTo>
                  <a:lnTo>
                    <a:pt x="2371458" y="342"/>
                  </a:lnTo>
                  <a:lnTo>
                    <a:pt x="2381250" y="11493"/>
                  </a:lnTo>
                  <a:lnTo>
                    <a:pt x="2381250" y="13246"/>
                  </a:lnTo>
                  <a:lnTo>
                    <a:pt x="2381250" y="967828"/>
                  </a:lnTo>
                  <a:lnTo>
                    <a:pt x="2381250" y="969585"/>
                  </a:lnTo>
                  <a:lnTo>
                    <a:pt x="2380907" y="971271"/>
                  </a:lnTo>
                  <a:lnTo>
                    <a:pt x="2373071" y="980062"/>
                  </a:lnTo>
                  <a:lnTo>
                    <a:pt x="2371458" y="980737"/>
                  </a:lnTo>
                  <a:lnTo>
                    <a:pt x="2369756" y="981075"/>
                  </a:lnTo>
                  <a:lnTo>
                    <a:pt x="2368003" y="981075"/>
                  </a:lnTo>
                  <a:lnTo>
                    <a:pt x="66675" y="981075"/>
                  </a:lnTo>
                  <a:lnTo>
                    <a:pt x="62299" y="981075"/>
                  </a:lnTo>
                  <a:lnTo>
                    <a:pt x="57964" y="980648"/>
                  </a:lnTo>
                  <a:lnTo>
                    <a:pt x="53667" y="979789"/>
                  </a:lnTo>
                  <a:lnTo>
                    <a:pt x="49371" y="978936"/>
                  </a:lnTo>
                  <a:lnTo>
                    <a:pt x="19526" y="961543"/>
                  </a:lnTo>
                  <a:lnTo>
                    <a:pt x="16431" y="958448"/>
                  </a:lnTo>
                  <a:lnTo>
                    <a:pt x="426" y="923110"/>
                  </a:lnTo>
                  <a:lnTo>
                    <a:pt x="0" y="918775"/>
                  </a:lnTo>
                  <a:lnTo>
                    <a:pt x="0" y="914400"/>
                  </a:lnTo>
                  <a:close/>
                </a:path>
              </a:pathLst>
            </a:custGeom>
            <a:noFill/>
            <a:ln w="19050" cap="flat" cmpd="sng">
              <a:solidFill>
                <a:srgbClr val="43416B"/>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54" name="Google Shape;154;p14"/>
            <p:cNvSpPr/>
            <p:nvPr/>
          </p:nvSpPr>
          <p:spPr>
            <a:xfrm>
              <a:off x="904875" y="5800725"/>
              <a:ext cx="514350" cy="247650"/>
            </a:xfrm>
            <a:custGeom>
              <a:avLst/>
              <a:gdLst/>
              <a:ahLst/>
              <a:cxnLst/>
              <a:rect l="l" t="t" r="r" b="b"/>
              <a:pathLst>
                <a:path w="514350" h="247650" extrusionOk="0">
                  <a:moveTo>
                    <a:pt x="494601" y="0"/>
                  </a:moveTo>
                  <a:lnTo>
                    <a:pt x="19749" y="0"/>
                  </a:lnTo>
                  <a:lnTo>
                    <a:pt x="16847" y="571"/>
                  </a:lnTo>
                  <a:lnTo>
                    <a:pt x="0" y="19749"/>
                  </a:lnTo>
                  <a:lnTo>
                    <a:pt x="0" y="224878"/>
                  </a:lnTo>
                  <a:lnTo>
                    <a:pt x="0" y="227895"/>
                  </a:lnTo>
                  <a:lnTo>
                    <a:pt x="19749" y="247650"/>
                  </a:lnTo>
                  <a:lnTo>
                    <a:pt x="494601" y="247650"/>
                  </a:lnTo>
                  <a:lnTo>
                    <a:pt x="514350" y="227895"/>
                  </a:lnTo>
                  <a:lnTo>
                    <a:pt x="514350" y="19749"/>
                  </a:lnTo>
                  <a:lnTo>
                    <a:pt x="497497" y="571"/>
                  </a:lnTo>
                  <a:lnTo>
                    <a:pt x="494601" y="0"/>
                  </a:lnTo>
                  <a:close/>
                </a:path>
              </a:pathLst>
            </a:custGeom>
            <a:solidFill>
              <a:srgbClr val="18163F"/>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55" name="Google Shape;155;p14"/>
          <p:cNvSpPr txBox="1"/>
          <p:nvPr/>
        </p:nvSpPr>
        <p:spPr>
          <a:xfrm>
            <a:off x="902295" y="5719673"/>
            <a:ext cx="1383600" cy="615900"/>
          </a:xfrm>
          <a:prstGeom prst="rect">
            <a:avLst/>
          </a:prstGeom>
          <a:noFill/>
          <a:ln>
            <a:noFill/>
          </a:ln>
        </p:spPr>
        <p:txBody>
          <a:bodyPr spcFirstLastPara="1" wrap="square" lIns="0" tIns="11425" rIns="0" bIns="0" anchor="t" anchorCtr="0">
            <a:spAutoFit/>
          </a:bodyPr>
          <a:lstStyle/>
          <a:p>
            <a:pPr marL="12700" marR="5080" lvl="0" indent="0" algn="l" rtl="0">
              <a:lnSpc>
                <a:spcPct val="138000"/>
              </a:lnSpc>
              <a:spcBef>
                <a:spcPts val="0"/>
              </a:spcBef>
              <a:spcAft>
                <a:spcPts val="0"/>
              </a:spcAft>
              <a:buNone/>
            </a:pPr>
            <a:r>
              <a:rPr lang="en-US" sz="1400">
                <a:solidFill>
                  <a:srgbClr val="D9E1FF"/>
                </a:solidFill>
                <a:latin typeface="Lucida Sans"/>
                <a:ea typeface="Lucida Sans"/>
                <a:cs typeface="Lucida Sans"/>
                <a:sym typeface="Lucida Sans"/>
              </a:rPr>
              <a:t>Vs ≤ 0 </a:t>
            </a:r>
            <a:r>
              <a:rPr lang="en-US" sz="1400">
                <a:solidFill>
                  <a:srgbClr val="D9E1FF"/>
                </a:solidFill>
                <a:latin typeface="Arial"/>
                <a:ea typeface="Arial"/>
                <a:cs typeface="Arial"/>
                <a:sym typeface="Arial"/>
              </a:rPr>
              <a:t>→ </a:t>
            </a:r>
            <a:r>
              <a:rPr lang="en-US" sz="1400" b="1">
                <a:solidFill>
                  <a:srgbClr val="D9E1FF"/>
                </a:solidFill>
                <a:latin typeface="Arial"/>
                <a:ea typeface="Arial"/>
                <a:cs typeface="Arial"/>
                <a:sym typeface="Arial"/>
              </a:rPr>
              <a:t>Invalid Supply Voltage</a:t>
            </a:r>
            <a:endParaRPr sz="1400">
              <a:latin typeface="Arial"/>
              <a:ea typeface="Arial"/>
              <a:cs typeface="Arial"/>
              <a:sym typeface="Arial"/>
            </a:endParaRPr>
          </a:p>
        </p:txBody>
      </p:sp>
      <p:grpSp>
        <p:nvGrpSpPr>
          <p:cNvPr id="156" name="Google Shape;156;p14"/>
          <p:cNvGrpSpPr/>
          <p:nvPr/>
        </p:nvGrpSpPr>
        <p:grpSpPr>
          <a:xfrm>
            <a:off x="3228975" y="5591175"/>
            <a:ext cx="2381250" cy="981075"/>
            <a:chOff x="3228975" y="5591175"/>
            <a:chExt cx="2381250" cy="981075"/>
          </a:xfrm>
        </p:grpSpPr>
        <p:sp>
          <p:nvSpPr>
            <p:cNvPr id="157" name="Google Shape;157;p14"/>
            <p:cNvSpPr/>
            <p:nvPr/>
          </p:nvSpPr>
          <p:spPr>
            <a:xfrm>
              <a:off x="3228975" y="5591175"/>
              <a:ext cx="2381250" cy="981075"/>
            </a:xfrm>
            <a:custGeom>
              <a:avLst/>
              <a:gdLst/>
              <a:ahLst/>
              <a:cxnLst/>
              <a:rect l="l" t="t" r="r" b="b"/>
              <a:pathLst>
                <a:path w="2381250" h="981075" extrusionOk="0">
                  <a:moveTo>
                    <a:pt x="2369756" y="0"/>
                  </a:moveTo>
                  <a:lnTo>
                    <a:pt x="62293" y="0"/>
                  </a:lnTo>
                  <a:lnTo>
                    <a:pt x="57962" y="431"/>
                  </a:lnTo>
                  <a:lnTo>
                    <a:pt x="22618" y="16433"/>
                  </a:lnTo>
                  <a:lnTo>
                    <a:pt x="2133" y="49364"/>
                  </a:lnTo>
                  <a:lnTo>
                    <a:pt x="0" y="62293"/>
                  </a:lnTo>
                  <a:lnTo>
                    <a:pt x="0" y="914400"/>
                  </a:lnTo>
                  <a:lnTo>
                    <a:pt x="0" y="918775"/>
                  </a:lnTo>
                  <a:lnTo>
                    <a:pt x="13665" y="955079"/>
                  </a:lnTo>
                  <a:lnTo>
                    <a:pt x="45199" y="977671"/>
                  </a:lnTo>
                  <a:lnTo>
                    <a:pt x="62293" y="981075"/>
                  </a:lnTo>
                  <a:lnTo>
                    <a:pt x="2369756" y="981075"/>
                  </a:lnTo>
                  <a:lnTo>
                    <a:pt x="2381250" y="969585"/>
                  </a:lnTo>
                  <a:lnTo>
                    <a:pt x="2381250" y="11493"/>
                  </a:lnTo>
                  <a:lnTo>
                    <a:pt x="2371445" y="342"/>
                  </a:lnTo>
                  <a:lnTo>
                    <a:pt x="2369756" y="0"/>
                  </a:lnTo>
                  <a:close/>
                </a:path>
              </a:pathLst>
            </a:custGeom>
            <a:solidFill>
              <a:srgbClr val="0C0932"/>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58" name="Google Shape;158;p14"/>
            <p:cNvSpPr/>
            <p:nvPr/>
          </p:nvSpPr>
          <p:spPr>
            <a:xfrm>
              <a:off x="3228975" y="5591175"/>
              <a:ext cx="2381250" cy="981075"/>
            </a:xfrm>
            <a:custGeom>
              <a:avLst/>
              <a:gdLst/>
              <a:ahLst/>
              <a:cxnLst/>
              <a:rect l="l" t="t" r="r" b="b"/>
              <a:pathLst>
                <a:path w="2381250" h="981075" extrusionOk="0">
                  <a:moveTo>
                    <a:pt x="0" y="914400"/>
                  </a:moveTo>
                  <a:lnTo>
                    <a:pt x="0" y="66675"/>
                  </a:lnTo>
                  <a:lnTo>
                    <a:pt x="0" y="62293"/>
                  </a:lnTo>
                  <a:lnTo>
                    <a:pt x="431" y="57962"/>
                  </a:lnTo>
                  <a:lnTo>
                    <a:pt x="1282" y="53670"/>
                  </a:lnTo>
                  <a:lnTo>
                    <a:pt x="2133" y="49364"/>
                  </a:lnTo>
                  <a:lnTo>
                    <a:pt x="3403" y="45199"/>
                  </a:lnTo>
                  <a:lnTo>
                    <a:pt x="5080" y="41160"/>
                  </a:lnTo>
                  <a:lnTo>
                    <a:pt x="6756" y="37109"/>
                  </a:lnTo>
                  <a:lnTo>
                    <a:pt x="8801" y="33274"/>
                  </a:lnTo>
                  <a:lnTo>
                    <a:pt x="11239" y="29629"/>
                  </a:lnTo>
                  <a:lnTo>
                    <a:pt x="13665" y="25984"/>
                  </a:lnTo>
                  <a:lnTo>
                    <a:pt x="16433" y="22618"/>
                  </a:lnTo>
                  <a:lnTo>
                    <a:pt x="19532" y="19519"/>
                  </a:lnTo>
                  <a:lnTo>
                    <a:pt x="22618" y="16433"/>
                  </a:lnTo>
                  <a:lnTo>
                    <a:pt x="25984" y="13665"/>
                  </a:lnTo>
                  <a:lnTo>
                    <a:pt x="29629" y="11239"/>
                  </a:lnTo>
                  <a:lnTo>
                    <a:pt x="33274" y="8801"/>
                  </a:lnTo>
                  <a:lnTo>
                    <a:pt x="37109" y="6756"/>
                  </a:lnTo>
                  <a:lnTo>
                    <a:pt x="41160" y="5080"/>
                  </a:lnTo>
                  <a:lnTo>
                    <a:pt x="45199" y="3403"/>
                  </a:lnTo>
                  <a:lnTo>
                    <a:pt x="49377" y="2133"/>
                  </a:lnTo>
                  <a:lnTo>
                    <a:pt x="53670" y="1282"/>
                  </a:lnTo>
                  <a:lnTo>
                    <a:pt x="57962" y="431"/>
                  </a:lnTo>
                  <a:lnTo>
                    <a:pt x="62293" y="0"/>
                  </a:lnTo>
                  <a:lnTo>
                    <a:pt x="66675" y="0"/>
                  </a:lnTo>
                  <a:lnTo>
                    <a:pt x="2368003" y="0"/>
                  </a:lnTo>
                  <a:lnTo>
                    <a:pt x="2369756" y="0"/>
                  </a:lnTo>
                  <a:lnTo>
                    <a:pt x="2371445" y="342"/>
                  </a:lnTo>
                  <a:lnTo>
                    <a:pt x="2381250" y="11493"/>
                  </a:lnTo>
                  <a:lnTo>
                    <a:pt x="2381250" y="13246"/>
                  </a:lnTo>
                  <a:lnTo>
                    <a:pt x="2381250" y="967828"/>
                  </a:lnTo>
                  <a:lnTo>
                    <a:pt x="2381250" y="969585"/>
                  </a:lnTo>
                  <a:lnTo>
                    <a:pt x="2380907" y="971271"/>
                  </a:lnTo>
                  <a:lnTo>
                    <a:pt x="2373071" y="980062"/>
                  </a:lnTo>
                  <a:lnTo>
                    <a:pt x="2371445" y="980737"/>
                  </a:lnTo>
                  <a:lnTo>
                    <a:pt x="2369756" y="981075"/>
                  </a:lnTo>
                  <a:lnTo>
                    <a:pt x="2368003" y="981075"/>
                  </a:lnTo>
                  <a:lnTo>
                    <a:pt x="66675" y="981075"/>
                  </a:lnTo>
                  <a:lnTo>
                    <a:pt x="62293" y="981075"/>
                  </a:lnTo>
                  <a:lnTo>
                    <a:pt x="57962" y="980648"/>
                  </a:lnTo>
                  <a:lnTo>
                    <a:pt x="53670" y="979789"/>
                  </a:lnTo>
                  <a:lnTo>
                    <a:pt x="49377" y="978936"/>
                  </a:lnTo>
                  <a:lnTo>
                    <a:pt x="45199" y="977671"/>
                  </a:lnTo>
                  <a:lnTo>
                    <a:pt x="41160" y="976000"/>
                  </a:lnTo>
                  <a:lnTo>
                    <a:pt x="37109" y="974323"/>
                  </a:lnTo>
                  <a:lnTo>
                    <a:pt x="19532" y="961543"/>
                  </a:lnTo>
                  <a:lnTo>
                    <a:pt x="16433" y="958448"/>
                  </a:lnTo>
                  <a:lnTo>
                    <a:pt x="13665" y="955079"/>
                  </a:lnTo>
                  <a:lnTo>
                    <a:pt x="11239" y="951443"/>
                  </a:lnTo>
                  <a:lnTo>
                    <a:pt x="8801" y="947802"/>
                  </a:lnTo>
                  <a:lnTo>
                    <a:pt x="0" y="918775"/>
                  </a:lnTo>
                  <a:lnTo>
                    <a:pt x="0" y="914400"/>
                  </a:lnTo>
                  <a:close/>
                </a:path>
              </a:pathLst>
            </a:custGeom>
            <a:noFill/>
            <a:ln w="19050" cap="flat" cmpd="sng">
              <a:solidFill>
                <a:srgbClr val="43416B"/>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59" name="Google Shape;159;p14"/>
            <p:cNvSpPr/>
            <p:nvPr/>
          </p:nvSpPr>
          <p:spPr>
            <a:xfrm>
              <a:off x="3486150" y="5800725"/>
              <a:ext cx="495300" cy="247650"/>
            </a:xfrm>
            <a:custGeom>
              <a:avLst/>
              <a:gdLst/>
              <a:ahLst/>
              <a:cxnLst/>
              <a:rect l="l" t="t" r="r" b="b"/>
              <a:pathLst>
                <a:path w="495300" h="247650" extrusionOk="0">
                  <a:moveTo>
                    <a:pt x="475551" y="0"/>
                  </a:moveTo>
                  <a:lnTo>
                    <a:pt x="19748" y="0"/>
                  </a:lnTo>
                  <a:lnTo>
                    <a:pt x="16852" y="571"/>
                  </a:lnTo>
                  <a:lnTo>
                    <a:pt x="0" y="19749"/>
                  </a:lnTo>
                  <a:lnTo>
                    <a:pt x="0" y="224878"/>
                  </a:lnTo>
                  <a:lnTo>
                    <a:pt x="0" y="227895"/>
                  </a:lnTo>
                  <a:lnTo>
                    <a:pt x="19748" y="247650"/>
                  </a:lnTo>
                  <a:lnTo>
                    <a:pt x="475551" y="247650"/>
                  </a:lnTo>
                  <a:lnTo>
                    <a:pt x="495300" y="227895"/>
                  </a:lnTo>
                  <a:lnTo>
                    <a:pt x="495300" y="19749"/>
                  </a:lnTo>
                  <a:lnTo>
                    <a:pt x="478447" y="571"/>
                  </a:lnTo>
                  <a:lnTo>
                    <a:pt x="475551" y="0"/>
                  </a:lnTo>
                  <a:close/>
                </a:path>
              </a:pathLst>
            </a:custGeom>
            <a:solidFill>
              <a:srgbClr val="18163F"/>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60" name="Google Shape;160;p14"/>
          <p:cNvSpPr txBox="1"/>
          <p:nvPr/>
        </p:nvSpPr>
        <p:spPr>
          <a:xfrm>
            <a:off x="3486543" y="5719673"/>
            <a:ext cx="1438200" cy="615900"/>
          </a:xfrm>
          <a:prstGeom prst="rect">
            <a:avLst/>
          </a:prstGeom>
          <a:noFill/>
          <a:ln>
            <a:noFill/>
          </a:ln>
        </p:spPr>
        <p:txBody>
          <a:bodyPr spcFirstLastPara="1" wrap="square" lIns="0" tIns="11425" rIns="0" bIns="0" anchor="t" anchorCtr="0">
            <a:spAutoFit/>
          </a:bodyPr>
          <a:lstStyle/>
          <a:p>
            <a:pPr marL="12700" marR="5080" lvl="0" indent="0" algn="l" rtl="0">
              <a:lnSpc>
                <a:spcPct val="138000"/>
              </a:lnSpc>
              <a:spcBef>
                <a:spcPts val="0"/>
              </a:spcBef>
              <a:spcAft>
                <a:spcPts val="0"/>
              </a:spcAft>
              <a:buNone/>
            </a:pPr>
            <a:r>
              <a:rPr lang="en-US" sz="1400">
                <a:solidFill>
                  <a:srgbClr val="D9E1FF"/>
                </a:solidFill>
                <a:latin typeface="Lucida Sans"/>
                <a:ea typeface="Lucida Sans"/>
                <a:cs typeface="Lucida Sans"/>
                <a:sym typeface="Lucida Sans"/>
              </a:rPr>
              <a:t>Vf ≤ 0 </a:t>
            </a:r>
            <a:r>
              <a:rPr lang="en-US" sz="1400">
                <a:solidFill>
                  <a:srgbClr val="D9E1FF"/>
                </a:solidFill>
                <a:latin typeface="Arial"/>
                <a:ea typeface="Arial"/>
                <a:cs typeface="Arial"/>
                <a:sym typeface="Arial"/>
              </a:rPr>
              <a:t>→ </a:t>
            </a:r>
            <a:r>
              <a:rPr lang="en-US" sz="1400" b="1">
                <a:solidFill>
                  <a:srgbClr val="D9E1FF"/>
                </a:solidFill>
                <a:latin typeface="Arial"/>
                <a:ea typeface="Arial"/>
                <a:cs typeface="Arial"/>
                <a:sym typeface="Arial"/>
              </a:rPr>
              <a:t>Invalid Forward Voltage</a:t>
            </a:r>
            <a:endParaRPr sz="1400">
              <a:latin typeface="Arial"/>
              <a:ea typeface="Arial"/>
              <a:cs typeface="Arial"/>
              <a:sym typeface="Arial"/>
            </a:endParaRPr>
          </a:p>
        </p:txBody>
      </p:sp>
      <p:grpSp>
        <p:nvGrpSpPr>
          <p:cNvPr id="161" name="Google Shape;161;p14"/>
          <p:cNvGrpSpPr/>
          <p:nvPr/>
        </p:nvGrpSpPr>
        <p:grpSpPr>
          <a:xfrm>
            <a:off x="5819775" y="5591175"/>
            <a:ext cx="2381250" cy="981075"/>
            <a:chOff x="5819775" y="5591175"/>
            <a:chExt cx="2381250" cy="981075"/>
          </a:xfrm>
        </p:grpSpPr>
        <p:sp>
          <p:nvSpPr>
            <p:cNvPr id="162" name="Google Shape;162;p14"/>
            <p:cNvSpPr/>
            <p:nvPr/>
          </p:nvSpPr>
          <p:spPr>
            <a:xfrm>
              <a:off x="5819775" y="5591175"/>
              <a:ext cx="2381250" cy="981075"/>
            </a:xfrm>
            <a:custGeom>
              <a:avLst/>
              <a:gdLst/>
              <a:ahLst/>
              <a:cxnLst/>
              <a:rect l="l" t="t" r="r" b="b"/>
              <a:pathLst>
                <a:path w="2381250" h="981075" extrusionOk="0">
                  <a:moveTo>
                    <a:pt x="2369756" y="0"/>
                  </a:moveTo>
                  <a:lnTo>
                    <a:pt x="62293" y="0"/>
                  </a:lnTo>
                  <a:lnTo>
                    <a:pt x="57962" y="431"/>
                  </a:lnTo>
                  <a:lnTo>
                    <a:pt x="22618" y="16433"/>
                  </a:lnTo>
                  <a:lnTo>
                    <a:pt x="2133" y="49364"/>
                  </a:lnTo>
                  <a:lnTo>
                    <a:pt x="0" y="62293"/>
                  </a:lnTo>
                  <a:lnTo>
                    <a:pt x="0" y="914400"/>
                  </a:lnTo>
                  <a:lnTo>
                    <a:pt x="0" y="918775"/>
                  </a:lnTo>
                  <a:lnTo>
                    <a:pt x="13665" y="955079"/>
                  </a:lnTo>
                  <a:lnTo>
                    <a:pt x="45199" y="977671"/>
                  </a:lnTo>
                  <a:lnTo>
                    <a:pt x="62293" y="981075"/>
                  </a:lnTo>
                  <a:lnTo>
                    <a:pt x="2369756" y="981075"/>
                  </a:lnTo>
                  <a:lnTo>
                    <a:pt x="2381250" y="969585"/>
                  </a:lnTo>
                  <a:lnTo>
                    <a:pt x="2381250" y="11493"/>
                  </a:lnTo>
                  <a:lnTo>
                    <a:pt x="2371445" y="342"/>
                  </a:lnTo>
                  <a:lnTo>
                    <a:pt x="2369756" y="0"/>
                  </a:lnTo>
                  <a:close/>
                </a:path>
              </a:pathLst>
            </a:custGeom>
            <a:solidFill>
              <a:srgbClr val="0C0932"/>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63" name="Google Shape;163;p14"/>
            <p:cNvSpPr/>
            <p:nvPr/>
          </p:nvSpPr>
          <p:spPr>
            <a:xfrm>
              <a:off x="5819775" y="5591175"/>
              <a:ext cx="2381250" cy="981075"/>
            </a:xfrm>
            <a:custGeom>
              <a:avLst/>
              <a:gdLst/>
              <a:ahLst/>
              <a:cxnLst/>
              <a:rect l="l" t="t" r="r" b="b"/>
              <a:pathLst>
                <a:path w="2381250" h="981075" extrusionOk="0">
                  <a:moveTo>
                    <a:pt x="0" y="914400"/>
                  </a:moveTo>
                  <a:lnTo>
                    <a:pt x="0" y="66675"/>
                  </a:lnTo>
                  <a:lnTo>
                    <a:pt x="0" y="62293"/>
                  </a:lnTo>
                  <a:lnTo>
                    <a:pt x="431" y="57962"/>
                  </a:lnTo>
                  <a:lnTo>
                    <a:pt x="1282" y="53670"/>
                  </a:lnTo>
                  <a:lnTo>
                    <a:pt x="2133" y="49364"/>
                  </a:lnTo>
                  <a:lnTo>
                    <a:pt x="3403" y="45199"/>
                  </a:lnTo>
                  <a:lnTo>
                    <a:pt x="5080" y="41160"/>
                  </a:lnTo>
                  <a:lnTo>
                    <a:pt x="6756" y="37109"/>
                  </a:lnTo>
                  <a:lnTo>
                    <a:pt x="8801" y="33274"/>
                  </a:lnTo>
                  <a:lnTo>
                    <a:pt x="11239" y="29629"/>
                  </a:lnTo>
                  <a:lnTo>
                    <a:pt x="13665" y="25984"/>
                  </a:lnTo>
                  <a:lnTo>
                    <a:pt x="16433" y="22618"/>
                  </a:lnTo>
                  <a:lnTo>
                    <a:pt x="19532" y="19519"/>
                  </a:lnTo>
                  <a:lnTo>
                    <a:pt x="22618" y="16433"/>
                  </a:lnTo>
                  <a:lnTo>
                    <a:pt x="25984" y="13665"/>
                  </a:lnTo>
                  <a:lnTo>
                    <a:pt x="29629" y="11239"/>
                  </a:lnTo>
                  <a:lnTo>
                    <a:pt x="33274" y="8801"/>
                  </a:lnTo>
                  <a:lnTo>
                    <a:pt x="37109" y="6756"/>
                  </a:lnTo>
                  <a:lnTo>
                    <a:pt x="41160" y="5080"/>
                  </a:lnTo>
                  <a:lnTo>
                    <a:pt x="45199" y="3403"/>
                  </a:lnTo>
                  <a:lnTo>
                    <a:pt x="49377" y="2133"/>
                  </a:lnTo>
                  <a:lnTo>
                    <a:pt x="53670" y="1282"/>
                  </a:lnTo>
                  <a:lnTo>
                    <a:pt x="57962" y="431"/>
                  </a:lnTo>
                  <a:lnTo>
                    <a:pt x="62293" y="0"/>
                  </a:lnTo>
                  <a:lnTo>
                    <a:pt x="66675" y="0"/>
                  </a:lnTo>
                  <a:lnTo>
                    <a:pt x="2368003" y="0"/>
                  </a:lnTo>
                  <a:lnTo>
                    <a:pt x="2369756" y="0"/>
                  </a:lnTo>
                  <a:lnTo>
                    <a:pt x="2371445" y="342"/>
                  </a:lnTo>
                  <a:lnTo>
                    <a:pt x="2380234" y="8178"/>
                  </a:lnTo>
                  <a:lnTo>
                    <a:pt x="2380907" y="9791"/>
                  </a:lnTo>
                  <a:lnTo>
                    <a:pt x="2381250" y="11493"/>
                  </a:lnTo>
                  <a:lnTo>
                    <a:pt x="2381250" y="13246"/>
                  </a:lnTo>
                  <a:lnTo>
                    <a:pt x="2381250" y="967828"/>
                  </a:lnTo>
                  <a:lnTo>
                    <a:pt x="2381250" y="969585"/>
                  </a:lnTo>
                  <a:lnTo>
                    <a:pt x="2380907" y="971271"/>
                  </a:lnTo>
                  <a:lnTo>
                    <a:pt x="2380234" y="972894"/>
                  </a:lnTo>
                  <a:lnTo>
                    <a:pt x="2379573" y="974516"/>
                  </a:lnTo>
                  <a:lnTo>
                    <a:pt x="2373071" y="980062"/>
                  </a:lnTo>
                  <a:lnTo>
                    <a:pt x="2371445" y="980737"/>
                  </a:lnTo>
                  <a:lnTo>
                    <a:pt x="2369756" y="981075"/>
                  </a:lnTo>
                  <a:lnTo>
                    <a:pt x="2368003" y="981075"/>
                  </a:lnTo>
                  <a:lnTo>
                    <a:pt x="66675" y="981075"/>
                  </a:lnTo>
                  <a:lnTo>
                    <a:pt x="62293" y="981075"/>
                  </a:lnTo>
                  <a:lnTo>
                    <a:pt x="57962" y="980648"/>
                  </a:lnTo>
                  <a:lnTo>
                    <a:pt x="53670" y="979789"/>
                  </a:lnTo>
                  <a:lnTo>
                    <a:pt x="49377" y="978936"/>
                  </a:lnTo>
                  <a:lnTo>
                    <a:pt x="45199" y="977671"/>
                  </a:lnTo>
                  <a:lnTo>
                    <a:pt x="41160" y="976000"/>
                  </a:lnTo>
                  <a:lnTo>
                    <a:pt x="37109" y="974323"/>
                  </a:lnTo>
                  <a:lnTo>
                    <a:pt x="19532" y="961543"/>
                  </a:lnTo>
                  <a:lnTo>
                    <a:pt x="16433" y="958448"/>
                  </a:lnTo>
                  <a:lnTo>
                    <a:pt x="13665" y="955079"/>
                  </a:lnTo>
                  <a:lnTo>
                    <a:pt x="11239" y="951443"/>
                  </a:lnTo>
                  <a:lnTo>
                    <a:pt x="8801" y="947802"/>
                  </a:lnTo>
                  <a:lnTo>
                    <a:pt x="0" y="918775"/>
                  </a:lnTo>
                  <a:lnTo>
                    <a:pt x="0" y="914400"/>
                  </a:lnTo>
                  <a:close/>
                </a:path>
              </a:pathLst>
            </a:custGeom>
            <a:noFill/>
            <a:ln w="19050" cap="flat" cmpd="sng">
              <a:solidFill>
                <a:srgbClr val="43416B"/>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64" name="Google Shape;164;p14"/>
            <p:cNvSpPr/>
            <p:nvPr/>
          </p:nvSpPr>
          <p:spPr>
            <a:xfrm>
              <a:off x="6076950" y="5800725"/>
              <a:ext cx="581025" cy="247650"/>
            </a:xfrm>
            <a:custGeom>
              <a:avLst/>
              <a:gdLst/>
              <a:ahLst/>
              <a:cxnLst/>
              <a:rect l="l" t="t" r="r" b="b"/>
              <a:pathLst>
                <a:path w="581025" h="247650" extrusionOk="0">
                  <a:moveTo>
                    <a:pt x="561276" y="0"/>
                  </a:moveTo>
                  <a:lnTo>
                    <a:pt x="19748" y="0"/>
                  </a:lnTo>
                  <a:lnTo>
                    <a:pt x="16852" y="571"/>
                  </a:lnTo>
                  <a:lnTo>
                    <a:pt x="0" y="19749"/>
                  </a:lnTo>
                  <a:lnTo>
                    <a:pt x="0" y="224878"/>
                  </a:lnTo>
                  <a:lnTo>
                    <a:pt x="0" y="227895"/>
                  </a:lnTo>
                  <a:lnTo>
                    <a:pt x="19748" y="247650"/>
                  </a:lnTo>
                  <a:lnTo>
                    <a:pt x="561276" y="247650"/>
                  </a:lnTo>
                  <a:lnTo>
                    <a:pt x="581025" y="227895"/>
                  </a:lnTo>
                  <a:lnTo>
                    <a:pt x="581025" y="19749"/>
                  </a:lnTo>
                  <a:lnTo>
                    <a:pt x="564172" y="571"/>
                  </a:lnTo>
                  <a:lnTo>
                    <a:pt x="561276" y="0"/>
                  </a:lnTo>
                  <a:close/>
                </a:path>
              </a:pathLst>
            </a:custGeom>
            <a:solidFill>
              <a:srgbClr val="18163F"/>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65" name="Google Shape;165;p14"/>
          <p:cNvSpPr txBox="1"/>
          <p:nvPr/>
        </p:nvSpPr>
        <p:spPr>
          <a:xfrm>
            <a:off x="6070803" y="5719673"/>
            <a:ext cx="1449000" cy="615900"/>
          </a:xfrm>
          <a:prstGeom prst="rect">
            <a:avLst/>
          </a:prstGeom>
          <a:noFill/>
          <a:ln>
            <a:noFill/>
          </a:ln>
        </p:spPr>
        <p:txBody>
          <a:bodyPr spcFirstLastPara="1" wrap="square" lIns="0" tIns="11425" rIns="0" bIns="0" anchor="t" anchorCtr="0">
            <a:spAutoFit/>
          </a:bodyPr>
          <a:lstStyle/>
          <a:p>
            <a:pPr marL="12700" marR="5080" lvl="0" indent="0" algn="l" rtl="0">
              <a:lnSpc>
                <a:spcPct val="138000"/>
              </a:lnSpc>
              <a:spcBef>
                <a:spcPts val="0"/>
              </a:spcBef>
              <a:spcAft>
                <a:spcPts val="0"/>
              </a:spcAft>
              <a:buNone/>
            </a:pPr>
            <a:r>
              <a:rPr lang="en-US" sz="1400">
                <a:solidFill>
                  <a:srgbClr val="D9E1FF"/>
                </a:solidFill>
                <a:latin typeface="Lucida Sans"/>
                <a:ea typeface="Lucida Sans"/>
                <a:cs typeface="Lucida Sans"/>
                <a:sym typeface="Lucida Sans"/>
              </a:rPr>
              <a:t>Vs ≤ Vf </a:t>
            </a:r>
            <a:r>
              <a:rPr lang="en-US" sz="1400">
                <a:solidFill>
                  <a:srgbClr val="D9E1FF"/>
                </a:solidFill>
                <a:latin typeface="Arial"/>
                <a:ea typeface="Arial"/>
                <a:cs typeface="Arial"/>
                <a:sym typeface="Arial"/>
              </a:rPr>
              <a:t>→ </a:t>
            </a:r>
            <a:r>
              <a:rPr lang="en-US" sz="1400" b="1">
                <a:solidFill>
                  <a:srgbClr val="D9E1FF"/>
                </a:solidFill>
                <a:latin typeface="Arial"/>
                <a:ea typeface="Arial"/>
                <a:cs typeface="Arial"/>
                <a:sym typeface="Arial"/>
              </a:rPr>
              <a:t>Invalid Design</a:t>
            </a:r>
            <a:endParaRPr sz="1400">
              <a:latin typeface="Arial"/>
              <a:ea typeface="Arial"/>
              <a:cs typeface="Arial"/>
              <a:sym typeface="Arial"/>
            </a:endParaRPr>
          </a:p>
        </p:txBody>
      </p:sp>
      <p:grpSp>
        <p:nvGrpSpPr>
          <p:cNvPr id="166" name="Google Shape;166;p14"/>
          <p:cNvGrpSpPr/>
          <p:nvPr/>
        </p:nvGrpSpPr>
        <p:grpSpPr>
          <a:xfrm>
            <a:off x="8401050" y="5591175"/>
            <a:ext cx="2381250" cy="981075"/>
            <a:chOff x="8401050" y="5591175"/>
            <a:chExt cx="2381250" cy="981075"/>
          </a:xfrm>
        </p:grpSpPr>
        <p:sp>
          <p:nvSpPr>
            <p:cNvPr id="167" name="Google Shape;167;p14"/>
            <p:cNvSpPr/>
            <p:nvPr/>
          </p:nvSpPr>
          <p:spPr>
            <a:xfrm>
              <a:off x="8401050" y="5591175"/>
              <a:ext cx="2381250" cy="981075"/>
            </a:xfrm>
            <a:custGeom>
              <a:avLst/>
              <a:gdLst/>
              <a:ahLst/>
              <a:cxnLst/>
              <a:rect l="l" t="t" r="r" b="b"/>
              <a:pathLst>
                <a:path w="2381250" h="981075" extrusionOk="0">
                  <a:moveTo>
                    <a:pt x="2369756" y="0"/>
                  </a:moveTo>
                  <a:lnTo>
                    <a:pt x="62293" y="0"/>
                  </a:lnTo>
                  <a:lnTo>
                    <a:pt x="57962" y="431"/>
                  </a:lnTo>
                  <a:lnTo>
                    <a:pt x="22618" y="16433"/>
                  </a:lnTo>
                  <a:lnTo>
                    <a:pt x="2133" y="49364"/>
                  </a:lnTo>
                  <a:lnTo>
                    <a:pt x="0" y="62293"/>
                  </a:lnTo>
                  <a:lnTo>
                    <a:pt x="0" y="914400"/>
                  </a:lnTo>
                  <a:lnTo>
                    <a:pt x="0" y="918775"/>
                  </a:lnTo>
                  <a:lnTo>
                    <a:pt x="13665" y="955079"/>
                  </a:lnTo>
                  <a:lnTo>
                    <a:pt x="45199" y="977671"/>
                  </a:lnTo>
                  <a:lnTo>
                    <a:pt x="62293" y="981075"/>
                  </a:lnTo>
                  <a:lnTo>
                    <a:pt x="2369756" y="981075"/>
                  </a:lnTo>
                  <a:lnTo>
                    <a:pt x="2381250" y="969585"/>
                  </a:lnTo>
                  <a:lnTo>
                    <a:pt x="2381250" y="11493"/>
                  </a:lnTo>
                  <a:lnTo>
                    <a:pt x="2371445" y="342"/>
                  </a:lnTo>
                  <a:lnTo>
                    <a:pt x="2369756" y="0"/>
                  </a:lnTo>
                  <a:close/>
                </a:path>
              </a:pathLst>
            </a:custGeom>
            <a:solidFill>
              <a:srgbClr val="0C0932"/>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68" name="Google Shape;168;p14"/>
            <p:cNvSpPr/>
            <p:nvPr/>
          </p:nvSpPr>
          <p:spPr>
            <a:xfrm>
              <a:off x="8401050" y="5591175"/>
              <a:ext cx="2381250" cy="981075"/>
            </a:xfrm>
            <a:custGeom>
              <a:avLst/>
              <a:gdLst/>
              <a:ahLst/>
              <a:cxnLst/>
              <a:rect l="l" t="t" r="r" b="b"/>
              <a:pathLst>
                <a:path w="2381250" h="981075" extrusionOk="0">
                  <a:moveTo>
                    <a:pt x="0" y="914400"/>
                  </a:moveTo>
                  <a:lnTo>
                    <a:pt x="0" y="66675"/>
                  </a:lnTo>
                  <a:lnTo>
                    <a:pt x="0" y="62293"/>
                  </a:lnTo>
                  <a:lnTo>
                    <a:pt x="431" y="57962"/>
                  </a:lnTo>
                  <a:lnTo>
                    <a:pt x="1282" y="53670"/>
                  </a:lnTo>
                  <a:lnTo>
                    <a:pt x="2133" y="49364"/>
                  </a:lnTo>
                  <a:lnTo>
                    <a:pt x="3403" y="45199"/>
                  </a:lnTo>
                  <a:lnTo>
                    <a:pt x="5080" y="41160"/>
                  </a:lnTo>
                  <a:lnTo>
                    <a:pt x="6756" y="37109"/>
                  </a:lnTo>
                  <a:lnTo>
                    <a:pt x="8801" y="33274"/>
                  </a:lnTo>
                  <a:lnTo>
                    <a:pt x="11239" y="29629"/>
                  </a:lnTo>
                  <a:lnTo>
                    <a:pt x="13665" y="25984"/>
                  </a:lnTo>
                  <a:lnTo>
                    <a:pt x="16433" y="22618"/>
                  </a:lnTo>
                  <a:lnTo>
                    <a:pt x="19532" y="19519"/>
                  </a:lnTo>
                  <a:lnTo>
                    <a:pt x="22618" y="16433"/>
                  </a:lnTo>
                  <a:lnTo>
                    <a:pt x="25984" y="13665"/>
                  </a:lnTo>
                  <a:lnTo>
                    <a:pt x="29629" y="11239"/>
                  </a:lnTo>
                  <a:lnTo>
                    <a:pt x="33274" y="8801"/>
                  </a:lnTo>
                  <a:lnTo>
                    <a:pt x="37109" y="6756"/>
                  </a:lnTo>
                  <a:lnTo>
                    <a:pt x="41160" y="5080"/>
                  </a:lnTo>
                  <a:lnTo>
                    <a:pt x="45199" y="3403"/>
                  </a:lnTo>
                  <a:lnTo>
                    <a:pt x="49377" y="2133"/>
                  </a:lnTo>
                  <a:lnTo>
                    <a:pt x="53670" y="1282"/>
                  </a:lnTo>
                  <a:lnTo>
                    <a:pt x="57962" y="431"/>
                  </a:lnTo>
                  <a:lnTo>
                    <a:pt x="62293" y="0"/>
                  </a:lnTo>
                  <a:lnTo>
                    <a:pt x="66675" y="0"/>
                  </a:lnTo>
                  <a:lnTo>
                    <a:pt x="2368003" y="0"/>
                  </a:lnTo>
                  <a:lnTo>
                    <a:pt x="2369756" y="0"/>
                  </a:lnTo>
                  <a:lnTo>
                    <a:pt x="2371445" y="342"/>
                  </a:lnTo>
                  <a:lnTo>
                    <a:pt x="2381250" y="11493"/>
                  </a:lnTo>
                  <a:lnTo>
                    <a:pt x="2381250" y="13246"/>
                  </a:lnTo>
                  <a:lnTo>
                    <a:pt x="2381250" y="967828"/>
                  </a:lnTo>
                  <a:lnTo>
                    <a:pt x="2381250" y="969585"/>
                  </a:lnTo>
                  <a:lnTo>
                    <a:pt x="2380907" y="971271"/>
                  </a:lnTo>
                  <a:lnTo>
                    <a:pt x="2373071" y="980062"/>
                  </a:lnTo>
                  <a:lnTo>
                    <a:pt x="2371445" y="980737"/>
                  </a:lnTo>
                  <a:lnTo>
                    <a:pt x="2369756" y="981075"/>
                  </a:lnTo>
                  <a:lnTo>
                    <a:pt x="2368003" y="981075"/>
                  </a:lnTo>
                  <a:lnTo>
                    <a:pt x="66675" y="981075"/>
                  </a:lnTo>
                  <a:lnTo>
                    <a:pt x="62293" y="981075"/>
                  </a:lnTo>
                  <a:lnTo>
                    <a:pt x="57962" y="980648"/>
                  </a:lnTo>
                  <a:lnTo>
                    <a:pt x="53670" y="979789"/>
                  </a:lnTo>
                  <a:lnTo>
                    <a:pt x="49377" y="978936"/>
                  </a:lnTo>
                  <a:lnTo>
                    <a:pt x="45199" y="977671"/>
                  </a:lnTo>
                  <a:lnTo>
                    <a:pt x="41160" y="976000"/>
                  </a:lnTo>
                  <a:lnTo>
                    <a:pt x="37109" y="974323"/>
                  </a:lnTo>
                  <a:lnTo>
                    <a:pt x="19532" y="961543"/>
                  </a:lnTo>
                  <a:lnTo>
                    <a:pt x="16433" y="958448"/>
                  </a:lnTo>
                  <a:lnTo>
                    <a:pt x="13665" y="955079"/>
                  </a:lnTo>
                  <a:lnTo>
                    <a:pt x="11239" y="951443"/>
                  </a:lnTo>
                  <a:lnTo>
                    <a:pt x="8801" y="947802"/>
                  </a:lnTo>
                  <a:lnTo>
                    <a:pt x="0" y="918775"/>
                  </a:lnTo>
                  <a:lnTo>
                    <a:pt x="0" y="914400"/>
                  </a:lnTo>
                  <a:close/>
                </a:path>
              </a:pathLst>
            </a:custGeom>
            <a:noFill/>
            <a:ln w="19050" cap="flat" cmpd="sng">
              <a:solidFill>
                <a:srgbClr val="43416B"/>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69" name="Google Shape;169;p14"/>
            <p:cNvSpPr/>
            <p:nvPr/>
          </p:nvSpPr>
          <p:spPr>
            <a:xfrm>
              <a:off x="8658225" y="5800725"/>
              <a:ext cx="438150" cy="247650"/>
            </a:xfrm>
            <a:custGeom>
              <a:avLst/>
              <a:gdLst/>
              <a:ahLst/>
              <a:cxnLst/>
              <a:rect l="l" t="t" r="r" b="b"/>
              <a:pathLst>
                <a:path w="438150" h="247650" extrusionOk="0">
                  <a:moveTo>
                    <a:pt x="418401" y="0"/>
                  </a:moveTo>
                  <a:lnTo>
                    <a:pt x="19748" y="0"/>
                  </a:lnTo>
                  <a:lnTo>
                    <a:pt x="16852" y="571"/>
                  </a:lnTo>
                  <a:lnTo>
                    <a:pt x="0" y="19749"/>
                  </a:lnTo>
                  <a:lnTo>
                    <a:pt x="0" y="224878"/>
                  </a:lnTo>
                  <a:lnTo>
                    <a:pt x="0" y="227895"/>
                  </a:lnTo>
                  <a:lnTo>
                    <a:pt x="19748" y="247650"/>
                  </a:lnTo>
                  <a:lnTo>
                    <a:pt x="418401" y="247650"/>
                  </a:lnTo>
                  <a:lnTo>
                    <a:pt x="438150" y="227895"/>
                  </a:lnTo>
                  <a:lnTo>
                    <a:pt x="438150" y="19749"/>
                  </a:lnTo>
                  <a:lnTo>
                    <a:pt x="421297" y="571"/>
                  </a:lnTo>
                  <a:lnTo>
                    <a:pt x="418401" y="0"/>
                  </a:lnTo>
                  <a:close/>
                </a:path>
              </a:pathLst>
            </a:custGeom>
            <a:solidFill>
              <a:srgbClr val="18163F"/>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70" name="Google Shape;170;p14"/>
          <p:cNvSpPr txBox="1"/>
          <p:nvPr/>
        </p:nvSpPr>
        <p:spPr>
          <a:xfrm>
            <a:off x="8655050" y="5719673"/>
            <a:ext cx="1300500" cy="615900"/>
          </a:xfrm>
          <a:prstGeom prst="rect">
            <a:avLst/>
          </a:prstGeom>
          <a:noFill/>
          <a:ln>
            <a:noFill/>
          </a:ln>
        </p:spPr>
        <p:txBody>
          <a:bodyPr spcFirstLastPara="1" wrap="square" lIns="0" tIns="11425" rIns="0" bIns="0" anchor="t" anchorCtr="0">
            <a:spAutoFit/>
          </a:bodyPr>
          <a:lstStyle/>
          <a:p>
            <a:pPr marL="12700" marR="5080" lvl="0" indent="0" algn="l" rtl="0">
              <a:lnSpc>
                <a:spcPct val="138000"/>
              </a:lnSpc>
              <a:spcBef>
                <a:spcPts val="0"/>
              </a:spcBef>
              <a:spcAft>
                <a:spcPts val="0"/>
              </a:spcAft>
              <a:buNone/>
            </a:pPr>
            <a:r>
              <a:rPr lang="en-US" sz="1400">
                <a:solidFill>
                  <a:srgbClr val="D9E1FF"/>
                </a:solidFill>
                <a:latin typeface="Lucida Sans"/>
                <a:ea typeface="Lucida Sans"/>
                <a:cs typeface="Lucida Sans"/>
                <a:sym typeface="Lucida Sans"/>
              </a:rPr>
              <a:t>If ≤ 0 </a:t>
            </a:r>
            <a:r>
              <a:rPr lang="en-US" sz="1400">
                <a:solidFill>
                  <a:srgbClr val="D9E1FF"/>
                </a:solidFill>
                <a:latin typeface="Arial"/>
                <a:ea typeface="Arial"/>
                <a:cs typeface="Arial"/>
                <a:sym typeface="Arial"/>
              </a:rPr>
              <a:t>→ </a:t>
            </a:r>
            <a:r>
              <a:rPr lang="en-US" sz="1400" b="1">
                <a:solidFill>
                  <a:srgbClr val="D9E1FF"/>
                </a:solidFill>
                <a:latin typeface="Arial"/>
                <a:ea typeface="Arial"/>
                <a:cs typeface="Arial"/>
                <a:sym typeface="Arial"/>
              </a:rPr>
              <a:t>Invalid Current Value</a:t>
            </a:r>
            <a:endParaRPr sz="1400">
              <a:latin typeface="Arial"/>
              <a:ea typeface="Arial"/>
              <a:cs typeface="Arial"/>
              <a:sym typeface="Arial"/>
            </a:endParaRPr>
          </a:p>
        </p:txBody>
      </p:sp>
      <p:sp>
        <p:nvSpPr>
          <p:cNvPr id="171" name="Google Shape;171;p14"/>
          <p:cNvSpPr/>
          <p:nvPr/>
        </p:nvSpPr>
        <p:spPr>
          <a:xfrm>
            <a:off x="638175" y="5581650"/>
            <a:ext cx="76200" cy="1000125"/>
          </a:xfrm>
          <a:custGeom>
            <a:avLst/>
            <a:gdLst/>
            <a:ahLst/>
            <a:cxnLst/>
            <a:rect l="l" t="t" r="r" b="b"/>
            <a:pathLst>
              <a:path w="76200" h="1000125" extrusionOk="0">
                <a:moveTo>
                  <a:pt x="76200" y="0"/>
                </a:moveTo>
                <a:lnTo>
                  <a:pt x="19749" y="0"/>
                </a:lnTo>
                <a:lnTo>
                  <a:pt x="16847" y="571"/>
                </a:lnTo>
                <a:lnTo>
                  <a:pt x="0" y="19748"/>
                </a:lnTo>
                <a:lnTo>
                  <a:pt x="0" y="977353"/>
                </a:lnTo>
                <a:lnTo>
                  <a:pt x="0" y="980370"/>
                </a:lnTo>
                <a:lnTo>
                  <a:pt x="19749" y="1000125"/>
                </a:lnTo>
                <a:lnTo>
                  <a:pt x="76200" y="1000125"/>
                </a:lnTo>
                <a:lnTo>
                  <a:pt x="76200" y="0"/>
                </a:lnTo>
                <a:close/>
              </a:path>
            </a:pathLst>
          </a:custGeom>
          <a:solidFill>
            <a:srgbClr val="7F60FF"/>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72" name="Google Shape;172;p14"/>
          <p:cNvSpPr/>
          <p:nvPr/>
        </p:nvSpPr>
        <p:spPr>
          <a:xfrm>
            <a:off x="3219450" y="5581650"/>
            <a:ext cx="76200" cy="1000125"/>
          </a:xfrm>
          <a:custGeom>
            <a:avLst/>
            <a:gdLst/>
            <a:ahLst/>
            <a:cxnLst/>
            <a:rect l="l" t="t" r="r" b="b"/>
            <a:pathLst>
              <a:path w="76200" h="1000125" extrusionOk="0">
                <a:moveTo>
                  <a:pt x="76200" y="0"/>
                </a:moveTo>
                <a:lnTo>
                  <a:pt x="19748" y="0"/>
                </a:lnTo>
                <a:lnTo>
                  <a:pt x="16852" y="571"/>
                </a:lnTo>
                <a:lnTo>
                  <a:pt x="0" y="19748"/>
                </a:lnTo>
                <a:lnTo>
                  <a:pt x="0" y="977353"/>
                </a:lnTo>
                <a:lnTo>
                  <a:pt x="0" y="980370"/>
                </a:lnTo>
                <a:lnTo>
                  <a:pt x="19748" y="1000125"/>
                </a:lnTo>
                <a:lnTo>
                  <a:pt x="76200" y="1000125"/>
                </a:lnTo>
                <a:lnTo>
                  <a:pt x="76200" y="0"/>
                </a:lnTo>
                <a:close/>
              </a:path>
            </a:pathLst>
          </a:custGeom>
          <a:solidFill>
            <a:srgbClr val="7F60FF"/>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73" name="Google Shape;173;p14"/>
          <p:cNvSpPr/>
          <p:nvPr/>
        </p:nvSpPr>
        <p:spPr>
          <a:xfrm>
            <a:off x="5810250" y="5581650"/>
            <a:ext cx="76200" cy="1000125"/>
          </a:xfrm>
          <a:custGeom>
            <a:avLst/>
            <a:gdLst/>
            <a:ahLst/>
            <a:cxnLst/>
            <a:rect l="l" t="t" r="r" b="b"/>
            <a:pathLst>
              <a:path w="76200" h="1000125" extrusionOk="0">
                <a:moveTo>
                  <a:pt x="76200" y="0"/>
                </a:moveTo>
                <a:lnTo>
                  <a:pt x="19748" y="0"/>
                </a:lnTo>
                <a:lnTo>
                  <a:pt x="16852" y="571"/>
                </a:lnTo>
                <a:lnTo>
                  <a:pt x="0" y="19748"/>
                </a:lnTo>
                <a:lnTo>
                  <a:pt x="0" y="977353"/>
                </a:lnTo>
                <a:lnTo>
                  <a:pt x="0" y="980370"/>
                </a:lnTo>
                <a:lnTo>
                  <a:pt x="19748" y="1000125"/>
                </a:lnTo>
                <a:lnTo>
                  <a:pt x="76200" y="1000125"/>
                </a:lnTo>
                <a:lnTo>
                  <a:pt x="76200" y="0"/>
                </a:lnTo>
                <a:close/>
              </a:path>
            </a:pathLst>
          </a:custGeom>
          <a:solidFill>
            <a:srgbClr val="7F60FF"/>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74" name="Google Shape;174;p14"/>
          <p:cNvSpPr/>
          <p:nvPr/>
        </p:nvSpPr>
        <p:spPr>
          <a:xfrm>
            <a:off x="8391525" y="5581650"/>
            <a:ext cx="76200" cy="1000125"/>
          </a:xfrm>
          <a:custGeom>
            <a:avLst/>
            <a:gdLst/>
            <a:ahLst/>
            <a:cxnLst/>
            <a:rect l="l" t="t" r="r" b="b"/>
            <a:pathLst>
              <a:path w="76200" h="1000125" extrusionOk="0">
                <a:moveTo>
                  <a:pt x="76200" y="0"/>
                </a:moveTo>
                <a:lnTo>
                  <a:pt x="19748" y="0"/>
                </a:lnTo>
                <a:lnTo>
                  <a:pt x="16852" y="571"/>
                </a:lnTo>
                <a:lnTo>
                  <a:pt x="0" y="19748"/>
                </a:lnTo>
                <a:lnTo>
                  <a:pt x="0" y="977353"/>
                </a:lnTo>
                <a:lnTo>
                  <a:pt x="0" y="980370"/>
                </a:lnTo>
                <a:lnTo>
                  <a:pt x="19748" y="1000125"/>
                </a:lnTo>
                <a:lnTo>
                  <a:pt x="76200" y="1000125"/>
                </a:lnTo>
                <a:lnTo>
                  <a:pt x="76200" y="0"/>
                </a:lnTo>
                <a:close/>
              </a:path>
            </a:pathLst>
          </a:custGeom>
          <a:solidFill>
            <a:srgbClr val="7F60FF"/>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Shape 175"/>
        <p:cNvGrpSpPr/>
        <p:nvPr/>
      </p:nvGrpSpPr>
      <p:grpSpPr>
        <a:xfrm>
          <a:off x="0" y="0"/>
          <a:ext cx="0" cy="0"/>
          <a:chOff x="0" y="0"/>
          <a:chExt cx="0" cy="0"/>
        </a:xfrm>
      </p:grpSpPr>
      <p:sp>
        <p:nvSpPr>
          <p:cNvPr id="176" name="Google Shape;176;p15"/>
          <p:cNvSpPr/>
          <p:nvPr/>
        </p:nvSpPr>
        <p:spPr>
          <a:xfrm>
            <a:off x="0" y="0"/>
            <a:ext cx="11430000" cy="7649289"/>
          </a:xfrm>
          <a:custGeom>
            <a:avLst/>
            <a:gdLst/>
            <a:ahLst/>
            <a:cxnLst/>
            <a:rect l="l" t="t" r="r" b="b"/>
            <a:pathLst>
              <a:path w="11430000" h="6724650" extrusionOk="0">
                <a:moveTo>
                  <a:pt x="11430000" y="6724650"/>
                </a:moveTo>
                <a:lnTo>
                  <a:pt x="0" y="6724650"/>
                </a:lnTo>
                <a:lnTo>
                  <a:pt x="0" y="0"/>
                </a:lnTo>
                <a:lnTo>
                  <a:pt x="11430000" y="0"/>
                </a:lnTo>
                <a:lnTo>
                  <a:pt x="11430000" y="6724650"/>
                </a:lnTo>
                <a:close/>
              </a:path>
            </a:pathLst>
          </a:custGeom>
          <a:solidFill>
            <a:srgbClr val="0C0933"/>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77" name="Google Shape;177;p15"/>
          <p:cNvSpPr txBox="1">
            <a:spLocks noGrp="1"/>
          </p:cNvSpPr>
          <p:nvPr>
            <p:ph type="title"/>
          </p:nvPr>
        </p:nvSpPr>
        <p:spPr>
          <a:xfrm>
            <a:off x="624879" y="473075"/>
            <a:ext cx="10180200" cy="539700"/>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a:t>Step 4: Resistor Calculations</a:t>
            </a:r>
            <a:endParaRPr/>
          </a:p>
        </p:txBody>
      </p:sp>
      <p:sp>
        <p:nvSpPr>
          <p:cNvPr id="178" name="Google Shape;178;p15"/>
          <p:cNvSpPr txBox="1"/>
          <p:nvPr/>
        </p:nvSpPr>
        <p:spPr>
          <a:xfrm>
            <a:off x="624879" y="1405381"/>
            <a:ext cx="6440100" cy="244500"/>
          </a:xfrm>
          <a:prstGeom prst="rect">
            <a:avLst/>
          </a:prstGeom>
          <a:noFill/>
          <a:ln>
            <a:noFill/>
          </a:ln>
        </p:spPr>
        <p:txBody>
          <a:bodyPr spcFirstLastPara="1" wrap="square" lIns="0" tIns="16500" rIns="0" bIns="0" anchor="t" anchorCtr="0">
            <a:spAutoFit/>
          </a:bodyPr>
          <a:lstStyle/>
          <a:p>
            <a:pPr marL="12700" lvl="0" indent="0" algn="l" rtl="0">
              <a:lnSpc>
                <a:spcPct val="100000"/>
              </a:lnSpc>
              <a:spcBef>
                <a:spcPts val="0"/>
              </a:spcBef>
              <a:spcAft>
                <a:spcPts val="0"/>
              </a:spcAft>
              <a:buNone/>
            </a:pPr>
            <a:r>
              <a:rPr lang="en-US" sz="1400">
                <a:solidFill>
                  <a:srgbClr val="D9E1FF"/>
                </a:solidFill>
                <a:latin typeface="Arial"/>
                <a:ea typeface="Arial"/>
                <a:cs typeface="Arial"/>
                <a:sym typeface="Arial"/>
              </a:rPr>
              <a:t>When inputs pass validation, the system performs three sequential calculations:</a:t>
            </a:r>
            <a:endParaRPr sz="1400">
              <a:latin typeface="Arial"/>
              <a:ea typeface="Arial"/>
              <a:cs typeface="Arial"/>
              <a:sym typeface="Arial"/>
            </a:endParaRPr>
          </a:p>
        </p:txBody>
      </p:sp>
      <p:pic>
        <p:nvPicPr>
          <p:cNvPr id="179" name="Google Shape;179;p15"/>
          <p:cNvPicPr preferRelativeResize="0"/>
          <p:nvPr/>
        </p:nvPicPr>
        <p:blipFill rotWithShape="1">
          <a:blip r:embed="rId2">
            <a:alphaModFix/>
          </a:blip>
          <a:srcRect/>
          <a:stretch/>
        </p:blipFill>
        <p:spPr>
          <a:xfrm>
            <a:off x="2848417" y="2010167"/>
            <a:ext cx="5734643" cy="2000419"/>
          </a:xfrm>
          <a:prstGeom prst="rect">
            <a:avLst/>
          </a:prstGeom>
          <a:noFill/>
          <a:ln>
            <a:noFill/>
          </a:ln>
        </p:spPr>
      </p:pic>
      <p:sp>
        <p:nvSpPr>
          <p:cNvPr id="180" name="Google Shape;180;p15"/>
          <p:cNvSpPr txBox="1"/>
          <p:nvPr/>
        </p:nvSpPr>
        <p:spPr>
          <a:xfrm>
            <a:off x="7037896" y="4447057"/>
            <a:ext cx="1176600" cy="573900"/>
          </a:xfrm>
          <a:prstGeom prst="rect">
            <a:avLst/>
          </a:prstGeom>
          <a:noFill/>
          <a:ln>
            <a:noFill/>
          </a:ln>
        </p:spPr>
        <p:txBody>
          <a:bodyPr spcFirstLastPara="1" wrap="square" lIns="0" tIns="12700" rIns="0" bIns="0" anchor="t" anchorCtr="0">
            <a:spAutoFit/>
          </a:bodyPr>
          <a:lstStyle/>
          <a:p>
            <a:pPr marL="212090" marR="5080" lvl="0" indent="-200025" algn="l" rtl="0">
              <a:lnSpc>
                <a:spcPct val="106000"/>
              </a:lnSpc>
              <a:spcBef>
                <a:spcPts val="0"/>
              </a:spcBef>
              <a:spcAft>
                <a:spcPts val="0"/>
              </a:spcAft>
              <a:buNone/>
            </a:pPr>
            <a:r>
              <a:rPr lang="en-US" sz="1700" b="1">
                <a:solidFill>
                  <a:srgbClr val="D9E1FF"/>
                </a:solidFill>
                <a:latin typeface="Trebuchet MS"/>
                <a:ea typeface="Trebuchet MS"/>
                <a:cs typeface="Trebuchet MS"/>
                <a:sym typeface="Trebuchet MS"/>
              </a:rPr>
              <a:t>Calculate Power</a:t>
            </a:r>
            <a:endParaRPr sz="1700">
              <a:latin typeface="Trebuchet MS"/>
              <a:ea typeface="Trebuchet MS"/>
              <a:cs typeface="Trebuchet MS"/>
              <a:sym typeface="Trebuchet MS"/>
            </a:endParaRPr>
          </a:p>
        </p:txBody>
      </p:sp>
      <p:sp>
        <p:nvSpPr>
          <p:cNvPr id="181" name="Google Shape;181;p15"/>
          <p:cNvSpPr txBox="1"/>
          <p:nvPr/>
        </p:nvSpPr>
        <p:spPr>
          <a:xfrm>
            <a:off x="5169485" y="4447057"/>
            <a:ext cx="1176600" cy="573900"/>
          </a:xfrm>
          <a:prstGeom prst="rect">
            <a:avLst/>
          </a:prstGeom>
          <a:noFill/>
          <a:ln>
            <a:noFill/>
          </a:ln>
        </p:spPr>
        <p:txBody>
          <a:bodyPr spcFirstLastPara="1" wrap="square" lIns="0" tIns="12700" rIns="0" bIns="0" anchor="t" anchorCtr="0">
            <a:spAutoFit/>
          </a:bodyPr>
          <a:lstStyle/>
          <a:p>
            <a:pPr marL="111760" marR="5080" lvl="0" indent="-99695" algn="l" rtl="0">
              <a:lnSpc>
                <a:spcPct val="106000"/>
              </a:lnSpc>
              <a:spcBef>
                <a:spcPts val="0"/>
              </a:spcBef>
              <a:spcAft>
                <a:spcPts val="0"/>
              </a:spcAft>
              <a:buNone/>
            </a:pPr>
            <a:r>
              <a:rPr lang="en-US" sz="1700" b="1">
                <a:solidFill>
                  <a:srgbClr val="D9E1FF"/>
                </a:solidFill>
                <a:latin typeface="Trebuchet MS"/>
                <a:ea typeface="Trebuchet MS"/>
                <a:cs typeface="Trebuchet MS"/>
                <a:sym typeface="Trebuchet MS"/>
              </a:rPr>
              <a:t>Calculate Resistor</a:t>
            </a:r>
            <a:endParaRPr sz="1700">
              <a:latin typeface="Trebuchet MS"/>
              <a:ea typeface="Trebuchet MS"/>
              <a:cs typeface="Trebuchet MS"/>
              <a:sym typeface="Trebuchet MS"/>
            </a:endParaRPr>
          </a:p>
        </p:txBody>
      </p:sp>
      <p:sp>
        <p:nvSpPr>
          <p:cNvPr id="182" name="Google Shape;182;p15"/>
          <p:cNvSpPr txBox="1"/>
          <p:nvPr/>
        </p:nvSpPr>
        <p:spPr>
          <a:xfrm>
            <a:off x="3374215" y="4447057"/>
            <a:ext cx="969000" cy="573900"/>
          </a:xfrm>
          <a:prstGeom prst="rect">
            <a:avLst/>
          </a:prstGeom>
          <a:noFill/>
          <a:ln>
            <a:noFill/>
          </a:ln>
        </p:spPr>
        <p:txBody>
          <a:bodyPr spcFirstLastPara="1" wrap="square" lIns="0" tIns="12700" rIns="0" bIns="0" anchor="t" anchorCtr="0">
            <a:spAutoFit/>
          </a:bodyPr>
          <a:lstStyle/>
          <a:p>
            <a:pPr marL="34290" marR="5080" lvl="0" indent="-22225" algn="l" rtl="0">
              <a:lnSpc>
                <a:spcPct val="106000"/>
              </a:lnSpc>
              <a:spcBef>
                <a:spcPts val="0"/>
              </a:spcBef>
              <a:spcAft>
                <a:spcPts val="0"/>
              </a:spcAft>
              <a:buNone/>
            </a:pPr>
            <a:r>
              <a:rPr lang="en-US" sz="1700" b="1">
                <a:solidFill>
                  <a:srgbClr val="D9E1FF"/>
                </a:solidFill>
                <a:latin typeface="Trebuchet MS"/>
                <a:ea typeface="Trebuchet MS"/>
                <a:cs typeface="Trebuchet MS"/>
                <a:sym typeface="Trebuchet MS"/>
              </a:rPr>
              <a:t>Convert Current</a:t>
            </a:r>
            <a:endParaRPr sz="1700">
              <a:latin typeface="Trebuchet MS"/>
              <a:ea typeface="Trebuchet MS"/>
              <a:cs typeface="Trebuchet MS"/>
              <a:sym typeface="Trebuchet MS"/>
            </a:endParaRPr>
          </a:p>
        </p:txBody>
      </p:sp>
      <p:sp>
        <p:nvSpPr>
          <p:cNvPr id="183" name="Google Shape;183;p15"/>
          <p:cNvSpPr txBox="1"/>
          <p:nvPr/>
        </p:nvSpPr>
        <p:spPr>
          <a:xfrm>
            <a:off x="624879" y="5567273"/>
            <a:ext cx="9657000" cy="615900"/>
          </a:xfrm>
          <a:prstGeom prst="rect">
            <a:avLst/>
          </a:prstGeom>
          <a:noFill/>
          <a:ln>
            <a:noFill/>
          </a:ln>
        </p:spPr>
        <p:txBody>
          <a:bodyPr spcFirstLastPara="1" wrap="square" lIns="0" tIns="11425" rIns="0" bIns="0" anchor="t" anchorCtr="0">
            <a:spAutoFit/>
          </a:bodyPr>
          <a:lstStyle/>
          <a:p>
            <a:pPr marL="12700" marR="5080" lvl="0" indent="0" algn="l" rtl="0">
              <a:lnSpc>
                <a:spcPct val="138000"/>
              </a:lnSpc>
              <a:spcBef>
                <a:spcPts val="0"/>
              </a:spcBef>
              <a:spcAft>
                <a:spcPts val="0"/>
              </a:spcAft>
              <a:buNone/>
            </a:pPr>
            <a:r>
              <a:rPr lang="en-US" sz="1400">
                <a:solidFill>
                  <a:srgbClr val="D9E1FF"/>
                </a:solidFill>
                <a:latin typeface="Arial"/>
                <a:ea typeface="Arial"/>
                <a:cs typeface="Arial"/>
                <a:sym typeface="Arial"/>
              </a:rPr>
              <a:t>These formulas ensure the correct resistor is selected to safely limit current through the LED while accounting for power dissipation.</a:t>
            </a:r>
            <a:endParaRPr sz="1400">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Shape 184"/>
        <p:cNvGrpSpPr/>
        <p:nvPr/>
      </p:nvGrpSpPr>
      <p:grpSpPr>
        <a:xfrm>
          <a:off x="0" y="0"/>
          <a:ext cx="0" cy="0"/>
          <a:chOff x="0" y="0"/>
          <a:chExt cx="0" cy="0"/>
        </a:xfrm>
      </p:grpSpPr>
      <p:sp>
        <p:nvSpPr>
          <p:cNvPr id="185" name="Google Shape;185;p16"/>
          <p:cNvSpPr/>
          <p:nvPr/>
        </p:nvSpPr>
        <p:spPr>
          <a:xfrm>
            <a:off x="0" y="0"/>
            <a:ext cx="11430000" cy="7823264"/>
          </a:xfrm>
          <a:custGeom>
            <a:avLst/>
            <a:gdLst/>
            <a:ahLst/>
            <a:cxnLst/>
            <a:rect l="l" t="t" r="r" b="b"/>
            <a:pathLst>
              <a:path w="11430000" h="6438900" extrusionOk="0">
                <a:moveTo>
                  <a:pt x="11430000" y="6438900"/>
                </a:moveTo>
                <a:lnTo>
                  <a:pt x="0" y="6438900"/>
                </a:lnTo>
                <a:lnTo>
                  <a:pt x="0" y="0"/>
                </a:lnTo>
                <a:lnTo>
                  <a:pt x="11430000" y="0"/>
                </a:lnTo>
                <a:lnTo>
                  <a:pt x="11430000" y="6438900"/>
                </a:lnTo>
                <a:close/>
              </a:path>
            </a:pathLst>
          </a:custGeom>
          <a:solidFill>
            <a:srgbClr val="0C0933"/>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86" name="Google Shape;186;p16"/>
          <p:cNvSpPr txBox="1">
            <a:spLocks noGrp="1"/>
          </p:cNvSpPr>
          <p:nvPr>
            <p:ph type="title"/>
          </p:nvPr>
        </p:nvSpPr>
        <p:spPr>
          <a:xfrm>
            <a:off x="624879" y="1273175"/>
            <a:ext cx="4475400" cy="539700"/>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a:t>The Core Formulas</a:t>
            </a:r>
            <a:endParaRPr/>
          </a:p>
        </p:txBody>
      </p:sp>
      <p:grpSp>
        <p:nvGrpSpPr>
          <p:cNvPr id="187" name="Google Shape;187;p16"/>
          <p:cNvGrpSpPr/>
          <p:nvPr/>
        </p:nvGrpSpPr>
        <p:grpSpPr>
          <a:xfrm>
            <a:off x="638175" y="2209800"/>
            <a:ext cx="3267075" cy="2924175"/>
            <a:chOff x="638175" y="2209800"/>
            <a:chExt cx="3267075" cy="2924175"/>
          </a:xfrm>
        </p:grpSpPr>
        <p:sp>
          <p:nvSpPr>
            <p:cNvPr id="188" name="Google Shape;188;p16"/>
            <p:cNvSpPr/>
            <p:nvPr/>
          </p:nvSpPr>
          <p:spPr>
            <a:xfrm>
              <a:off x="638175" y="2209800"/>
              <a:ext cx="3267075" cy="2924175"/>
            </a:xfrm>
            <a:custGeom>
              <a:avLst/>
              <a:gdLst/>
              <a:ahLst/>
              <a:cxnLst/>
              <a:rect l="l" t="t" r="r" b="b"/>
              <a:pathLst>
                <a:path w="3267075" h="2924175" extrusionOk="0">
                  <a:moveTo>
                    <a:pt x="3247320" y="2924175"/>
                  </a:moveTo>
                  <a:lnTo>
                    <a:pt x="19751" y="2924175"/>
                  </a:lnTo>
                  <a:lnTo>
                    <a:pt x="16846" y="2923593"/>
                  </a:lnTo>
                  <a:lnTo>
                    <a:pt x="0" y="2904420"/>
                  </a:lnTo>
                  <a:lnTo>
                    <a:pt x="0" y="2901400"/>
                  </a:lnTo>
                  <a:lnTo>
                    <a:pt x="0" y="19754"/>
                  </a:lnTo>
                  <a:lnTo>
                    <a:pt x="19751" y="0"/>
                  </a:lnTo>
                  <a:lnTo>
                    <a:pt x="3247320" y="0"/>
                  </a:lnTo>
                  <a:lnTo>
                    <a:pt x="3267075" y="19754"/>
                  </a:lnTo>
                  <a:lnTo>
                    <a:pt x="3267075" y="2904420"/>
                  </a:lnTo>
                  <a:lnTo>
                    <a:pt x="3250225" y="2923593"/>
                  </a:lnTo>
                  <a:lnTo>
                    <a:pt x="3247320" y="2924175"/>
                  </a:lnTo>
                  <a:close/>
                </a:path>
              </a:pathLst>
            </a:custGeom>
            <a:solidFill>
              <a:srgbClr val="2A2952"/>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89" name="Google Shape;189;p16"/>
            <p:cNvSpPr/>
            <p:nvPr/>
          </p:nvSpPr>
          <p:spPr>
            <a:xfrm>
              <a:off x="819150" y="2390775"/>
              <a:ext cx="542925" cy="542925"/>
            </a:xfrm>
            <a:custGeom>
              <a:avLst/>
              <a:gdLst/>
              <a:ahLst/>
              <a:cxnLst/>
              <a:rect l="l" t="t" r="r" b="b"/>
              <a:pathLst>
                <a:path w="542925" h="542925" extrusionOk="0">
                  <a:moveTo>
                    <a:pt x="271462" y="542925"/>
                  </a:moveTo>
                  <a:lnTo>
                    <a:pt x="231631" y="539984"/>
                  </a:lnTo>
                  <a:lnTo>
                    <a:pt x="192662" y="531237"/>
                  </a:lnTo>
                  <a:lnTo>
                    <a:pt x="155395" y="516862"/>
                  </a:lnTo>
                  <a:lnTo>
                    <a:pt x="120645" y="497176"/>
                  </a:lnTo>
                  <a:lnTo>
                    <a:pt x="89159" y="472606"/>
                  </a:lnTo>
                  <a:lnTo>
                    <a:pt x="61619" y="443674"/>
                  </a:lnTo>
                  <a:lnTo>
                    <a:pt x="38620" y="411023"/>
                  </a:lnTo>
                  <a:lnTo>
                    <a:pt x="20663" y="375342"/>
                  </a:lnTo>
                  <a:lnTo>
                    <a:pt x="8134" y="337424"/>
                  </a:lnTo>
                  <a:lnTo>
                    <a:pt x="1306" y="298075"/>
                  </a:lnTo>
                  <a:lnTo>
                    <a:pt x="0" y="271462"/>
                  </a:lnTo>
                  <a:lnTo>
                    <a:pt x="326" y="258142"/>
                  </a:lnTo>
                  <a:lnTo>
                    <a:pt x="5215" y="218503"/>
                  </a:lnTo>
                  <a:lnTo>
                    <a:pt x="15868" y="180011"/>
                  </a:lnTo>
                  <a:lnTo>
                    <a:pt x="32053" y="143494"/>
                  </a:lnTo>
                  <a:lnTo>
                    <a:pt x="53421" y="109750"/>
                  </a:lnTo>
                  <a:lnTo>
                    <a:pt x="79509" y="79505"/>
                  </a:lnTo>
                  <a:lnTo>
                    <a:pt x="109752" y="53422"/>
                  </a:lnTo>
                  <a:lnTo>
                    <a:pt x="143494" y="32051"/>
                  </a:lnTo>
                  <a:lnTo>
                    <a:pt x="180011" y="15866"/>
                  </a:lnTo>
                  <a:lnTo>
                    <a:pt x="218503" y="5219"/>
                  </a:lnTo>
                  <a:lnTo>
                    <a:pt x="258142" y="327"/>
                  </a:lnTo>
                  <a:lnTo>
                    <a:pt x="271462" y="0"/>
                  </a:lnTo>
                  <a:lnTo>
                    <a:pt x="284782" y="327"/>
                  </a:lnTo>
                  <a:lnTo>
                    <a:pt x="324421" y="5219"/>
                  </a:lnTo>
                  <a:lnTo>
                    <a:pt x="362913" y="15866"/>
                  </a:lnTo>
                  <a:lnTo>
                    <a:pt x="399430" y="32051"/>
                  </a:lnTo>
                  <a:lnTo>
                    <a:pt x="433174" y="53422"/>
                  </a:lnTo>
                  <a:lnTo>
                    <a:pt x="463419" y="79505"/>
                  </a:lnTo>
                  <a:lnTo>
                    <a:pt x="489502" y="109750"/>
                  </a:lnTo>
                  <a:lnTo>
                    <a:pt x="510873" y="143494"/>
                  </a:lnTo>
                  <a:lnTo>
                    <a:pt x="527058" y="180011"/>
                  </a:lnTo>
                  <a:lnTo>
                    <a:pt x="537705" y="218503"/>
                  </a:lnTo>
                  <a:lnTo>
                    <a:pt x="542597" y="258142"/>
                  </a:lnTo>
                  <a:lnTo>
                    <a:pt x="542925" y="271462"/>
                  </a:lnTo>
                  <a:lnTo>
                    <a:pt x="542597" y="284783"/>
                  </a:lnTo>
                  <a:lnTo>
                    <a:pt x="537705" y="324421"/>
                  </a:lnTo>
                  <a:lnTo>
                    <a:pt x="527058" y="362913"/>
                  </a:lnTo>
                  <a:lnTo>
                    <a:pt x="510873" y="399430"/>
                  </a:lnTo>
                  <a:lnTo>
                    <a:pt x="489502" y="433174"/>
                  </a:lnTo>
                  <a:lnTo>
                    <a:pt x="463419" y="463419"/>
                  </a:lnTo>
                  <a:lnTo>
                    <a:pt x="433174" y="489502"/>
                  </a:lnTo>
                  <a:lnTo>
                    <a:pt x="399430" y="510873"/>
                  </a:lnTo>
                  <a:lnTo>
                    <a:pt x="362913" y="527058"/>
                  </a:lnTo>
                  <a:lnTo>
                    <a:pt x="324421" y="537705"/>
                  </a:lnTo>
                  <a:lnTo>
                    <a:pt x="284782" y="542597"/>
                  </a:lnTo>
                  <a:lnTo>
                    <a:pt x="271462" y="542925"/>
                  </a:lnTo>
                  <a:close/>
                </a:path>
              </a:pathLst>
            </a:custGeom>
            <a:solidFill>
              <a:srgbClr val="8061FF"/>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pic>
          <p:nvPicPr>
            <p:cNvPr id="190" name="Google Shape;190;p16"/>
            <p:cNvPicPr preferRelativeResize="0"/>
            <p:nvPr/>
          </p:nvPicPr>
          <p:blipFill rotWithShape="1">
            <a:blip r:embed="rId2">
              <a:alphaModFix/>
            </a:blip>
            <a:srcRect/>
            <a:stretch/>
          </p:blipFill>
          <p:spPr>
            <a:xfrm>
              <a:off x="1019272" y="2528203"/>
              <a:ext cx="150416" cy="256753"/>
            </a:xfrm>
            <a:prstGeom prst="rect">
              <a:avLst/>
            </a:prstGeom>
            <a:noFill/>
            <a:ln>
              <a:noFill/>
            </a:ln>
          </p:spPr>
        </p:pic>
      </p:grpSp>
      <p:sp>
        <p:nvSpPr>
          <p:cNvPr id="191" name="Google Shape;191;p16"/>
          <p:cNvSpPr txBox="1"/>
          <p:nvPr/>
        </p:nvSpPr>
        <p:spPr>
          <a:xfrm>
            <a:off x="807045" y="3087687"/>
            <a:ext cx="2299200" cy="282600"/>
          </a:xfrm>
          <a:prstGeom prst="rect">
            <a:avLst/>
          </a:prstGeom>
          <a:noFill/>
          <a:ln>
            <a:noFill/>
          </a:ln>
        </p:spPr>
        <p:txBody>
          <a:bodyPr spcFirstLastPara="1" wrap="square" lIns="0" tIns="17125" rIns="0" bIns="0" anchor="t" anchorCtr="0">
            <a:spAutoFit/>
          </a:bodyPr>
          <a:lstStyle/>
          <a:p>
            <a:pPr marL="12700" lvl="0" indent="0" algn="l" rtl="0">
              <a:lnSpc>
                <a:spcPct val="100000"/>
              </a:lnSpc>
              <a:spcBef>
                <a:spcPts val="0"/>
              </a:spcBef>
              <a:spcAft>
                <a:spcPts val="0"/>
              </a:spcAft>
              <a:buNone/>
            </a:pPr>
            <a:r>
              <a:rPr lang="en-US" sz="1650" b="1">
                <a:solidFill>
                  <a:srgbClr val="D9E1FF"/>
                </a:solidFill>
                <a:latin typeface="Trebuchet MS"/>
                <a:ea typeface="Trebuchet MS"/>
                <a:cs typeface="Trebuchet MS"/>
                <a:sym typeface="Trebuchet MS"/>
              </a:rPr>
              <a:t>Current Conversion</a:t>
            </a:r>
            <a:endParaRPr sz="1650">
              <a:latin typeface="Trebuchet MS"/>
              <a:ea typeface="Trebuchet MS"/>
              <a:cs typeface="Trebuchet MS"/>
              <a:sym typeface="Trebuchet MS"/>
            </a:endParaRPr>
          </a:p>
        </p:txBody>
      </p:sp>
      <p:sp>
        <p:nvSpPr>
          <p:cNvPr id="192" name="Google Shape;192;p16"/>
          <p:cNvSpPr txBox="1"/>
          <p:nvPr/>
        </p:nvSpPr>
        <p:spPr>
          <a:xfrm>
            <a:off x="1489919" y="3577939"/>
            <a:ext cx="1558800" cy="323100"/>
          </a:xfrm>
          <a:prstGeom prst="rect">
            <a:avLst/>
          </a:prstGeom>
          <a:noFill/>
          <a:ln>
            <a:noFill/>
          </a:ln>
        </p:spPr>
        <p:txBody>
          <a:bodyPr spcFirstLastPara="1" wrap="square" lIns="0" tIns="12700" rIns="0" bIns="0" anchor="t" anchorCtr="0">
            <a:spAutoFit/>
          </a:bodyPr>
          <a:lstStyle/>
          <a:p>
            <a:pPr marL="38100" lvl="0" indent="0" algn="l" rtl="0">
              <a:lnSpc>
                <a:spcPct val="100000"/>
              </a:lnSpc>
              <a:spcBef>
                <a:spcPts val="0"/>
              </a:spcBef>
              <a:spcAft>
                <a:spcPts val="0"/>
              </a:spcAft>
              <a:buNone/>
            </a:pPr>
            <a:r>
              <a:rPr lang="en-US" sz="1950" i="1">
                <a:solidFill>
                  <a:srgbClr val="D9E1FF"/>
                </a:solidFill>
                <a:latin typeface="Georgia"/>
                <a:ea typeface="Georgia"/>
                <a:cs typeface="Georgia"/>
                <a:sym typeface="Georgia"/>
              </a:rPr>
              <a:t>I </a:t>
            </a:r>
            <a:r>
              <a:rPr lang="en-US" sz="1950">
                <a:solidFill>
                  <a:srgbClr val="D9E1FF"/>
                </a:solidFill>
                <a:latin typeface="Book Antiqua"/>
                <a:ea typeface="Book Antiqua"/>
                <a:cs typeface="Book Antiqua"/>
                <a:sym typeface="Book Antiqua"/>
              </a:rPr>
              <a:t>= </a:t>
            </a:r>
            <a:r>
              <a:rPr lang="en-US" sz="1950" i="1">
                <a:solidFill>
                  <a:srgbClr val="D9E1FF"/>
                </a:solidFill>
                <a:latin typeface="Georgia"/>
                <a:ea typeface="Georgia"/>
                <a:cs typeface="Georgia"/>
                <a:sym typeface="Georgia"/>
              </a:rPr>
              <a:t>I</a:t>
            </a:r>
            <a:r>
              <a:rPr lang="en-US" sz="2025" i="1" baseline="-25000">
                <a:solidFill>
                  <a:srgbClr val="D9E1FF"/>
                </a:solidFill>
                <a:latin typeface="Georgia"/>
                <a:ea typeface="Georgia"/>
                <a:cs typeface="Georgia"/>
                <a:sym typeface="Georgia"/>
              </a:rPr>
              <a:t>f </a:t>
            </a:r>
            <a:r>
              <a:rPr lang="en-US" sz="1950">
                <a:solidFill>
                  <a:srgbClr val="D9E1FF"/>
                </a:solidFill>
                <a:latin typeface="Book Antiqua"/>
                <a:ea typeface="Book Antiqua"/>
                <a:cs typeface="Book Antiqua"/>
                <a:sym typeface="Book Antiqua"/>
              </a:rPr>
              <a:t>÷ 1000</a:t>
            </a:r>
            <a:endParaRPr sz="1950">
              <a:latin typeface="Book Antiqua"/>
              <a:ea typeface="Book Antiqua"/>
              <a:cs typeface="Book Antiqua"/>
              <a:sym typeface="Book Antiqua"/>
            </a:endParaRPr>
          </a:p>
        </p:txBody>
      </p:sp>
      <p:sp>
        <p:nvSpPr>
          <p:cNvPr id="193" name="Google Shape;193;p16"/>
          <p:cNvSpPr txBox="1"/>
          <p:nvPr/>
        </p:nvSpPr>
        <p:spPr>
          <a:xfrm>
            <a:off x="807045" y="4090898"/>
            <a:ext cx="2797200" cy="615900"/>
          </a:xfrm>
          <a:prstGeom prst="rect">
            <a:avLst/>
          </a:prstGeom>
          <a:noFill/>
          <a:ln>
            <a:noFill/>
          </a:ln>
        </p:spPr>
        <p:txBody>
          <a:bodyPr spcFirstLastPara="1" wrap="square" lIns="0" tIns="11425" rIns="0" bIns="0" anchor="t" anchorCtr="0">
            <a:spAutoFit/>
          </a:bodyPr>
          <a:lstStyle/>
          <a:p>
            <a:pPr marL="12700" marR="5080" lvl="0" indent="0" algn="l" rtl="0">
              <a:lnSpc>
                <a:spcPct val="138000"/>
              </a:lnSpc>
              <a:spcBef>
                <a:spcPts val="0"/>
              </a:spcBef>
              <a:spcAft>
                <a:spcPts val="0"/>
              </a:spcAft>
              <a:buNone/>
            </a:pPr>
            <a:r>
              <a:rPr lang="en-US" sz="1400">
                <a:solidFill>
                  <a:srgbClr val="D9E1FF"/>
                </a:solidFill>
                <a:latin typeface="Arial"/>
                <a:ea typeface="Arial"/>
                <a:cs typeface="Arial"/>
                <a:sym typeface="Arial"/>
              </a:rPr>
              <a:t>Converts milliamperes to Amperes for calculation.</a:t>
            </a:r>
            <a:endParaRPr sz="1400">
              <a:latin typeface="Arial"/>
              <a:ea typeface="Arial"/>
              <a:cs typeface="Arial"/>
              <a:sym typeface="Arial"/>
            </a:endParaRPr>
          </a:p>
        </p:txBody>
      </p:sp>
      <p:grpSp>
        <p:nvGrpSpPr>
          <p:cNvPr id="194" name="Google Shape;194;p16"/>
          <p:cNvGrpSpPr/>
          <p:nvPr/>
        </p:nvGrpSpPr>
        <p:grpSpPr>
          <a:xfrm>
            <a:off x="4086225" y="2209800"/>
            <a:ext cx="3257550" cy="2924175"/>
            <a:chOff x="4086225" y="2209800"/>
            <a:chExt cx="3257550" cy="2924175"/>
          </a:xfrm>
        </p:grpSpPr>
        <p:sp>
          <p:nvSpPr>
            <p:cNvPr id="195" name="Google Shape;195;p16"/>
            <p:cNvSpPr/>
            <p:nvPr/>
          </p:nvSpPr>
          <p:spPr>
            <a:xfrm>
              <a:off x="4086225" y="2209800"/>
              <a:ext cx="3257550" cy="2924175"/>
            </a:xfrm>
            <a:custGeom>
              <a:avLst/>
              <a:gdLst/>
              <a:ahLst/>
              <a:cxnLst/>
              <a:rect l="l" t="t" r="r" b="b"/>
              <a:pathLst>
                <a:path w="3257550" h="2924175" extrusionOk="0">
                  <a:moveTo>
                    <a:pt x="3237795" y="2924175"/>
                  </a:moveTo>
                  <a:lnTo>
                    <a:pt x="19754" y="2924175"/>
                  </a:lnTo>
                  <a:lnTo>
                    <a:pt x="16849" y="2923593"/>
                  </a:lnTo>
                  <a:lnTo>
                    <a:pt x="0" y="2904420"/>
                  </a:lnTo>
                  <a:lnTo>
                    <a:pt x="0" y="2901400"/>
                  </a:lnTo>
                  <a:lnTo>
                    <a:pt x="0" y="19754"/>
                  </a:lnTo>
                  <a:lnTo>
                    <a:pt x="19754" y="0"/>
                  </a:lnTo>
                  <a:lnTo>
                    <a:pt x="3237795" y="0"/>
                  </a:lnTo>
                  <a:lnTo>
                    <a:pt x="3257550" y="19754"/>
                  </a:lnTo>
                  <a:lnTo>
                    <a:pt x="3257550" y="2904420"/>
                  </a:lnTo>
                  <a:lnTo>
                    <a:pt x="3240700" y="2923593"/>
                  </a:lnTo>
                  <a:lnTo>
                    <a:pt x="3237795" y="2924175"/>
                  </a:lnTo>
                  <a:close/>
                </a:path>
              </a:pathLst>
            </a:custGeom>
            <a:solidFill>
              <a:srgbClr val="2A2952"/>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96" name="Google Shape;196;p16"/>
            <p:cNvSpPr/>
            <p:nvPr/>
          </p:nvSpPr>
          <p:spPr>
            <a:xfrm>
              <a:off x="4267200" y="2390775"/>
              <a:ext cx="542925" cy="542925"/>
            </a:xfrm>
            <a:custGeom>
              <a:avLst/>
              <a:gdLst/>
              <a:ahLst/>
              <a:cxnLst/>
              <a:rect l="l" t="t" r="r" b="b"/>
              <a:pathLst>
                <a:path w="542925" h="542925" extrusionOk="0">
                  <a:moveTo>
                    <a:pt x="271462" y="542925"/>
                  </a:moveTo>
                  <a:lnTo>
                    <a:pt x="231631" y="539984"/>
                  </a:lnTo>
                  <a:lnTo>
                    <a:pt x="192662" y="531237"/>
                  </a:lnTo>
                  <a:lnTo>
                    <a:pt x="155394" y="516862"/>
                  </a:lnTo>
                  <a:lnTo>
                    <a:pt x="120643" y="497176"/>
                  </a:lnTo>
                  <a:lnTo>
                    <a:pt x="89156" y="472606"/>
                  </a:lnTo>
                  <a:lnTo>
                    <a:pt x="61617" y="443674"/>
                  </a:lnTo>
                  <a:lnTo>
                    <a:pt x="38621" y="411023"/>
                  </a:lnTo>
                  <a:lnTo>
                    <a:pt x="20659" y="375342"/>
                  </a:lnTo>
                  <a:lnTo>
                    <a:pt x="8135" y="337424"/>
                  </a:lnTo>
                  <a:lnTo>
                    <a:pt x="1304" y="298075"/>
                  </a:lnTo>
                  <a:lnTo>
                    <a:pt x="0" y="271462"/>
                  </a:lnTo>
                  <a:lnTo>
                    <a:pt x="327" y="258142"/>
                  </a:lnTo>
                  <a:lnTo>
                    <a:pt x="5219" y="218503"/>
                  </a:lnTo>
                  <a:lnTo>
                    <a:pt x="15866" y="180011"/>
                  </a:lnTo>
                  <a:lnTo>
                    <a:pt x="32051" y="143494"/>
                  </a:lnTo>
                  <a:lnTo>
                    <a:pt x="53422" y="109750"/>
                  </a:lnTo>
                  <a:lnTo>
                    <a:pt x="79505" y="79505"/>
                  </a:lnTo>
                  <a:lnTo>
                    <a:pt x="109750" y="53422"/>
                  </a:lnTo>
                  <a:lnTo>
                    <a:pt x="143494" y="32051"/>
                  </a:lnTo>
                  <a:lnTo>
                    <a:pt x="180010" y="15866"/>
                  </a:lnTo>
                  <a:lnTo>
                    <a:pt x="218503" y="5219"/>
                  </a:lnTo>
                  <a:lnTo>
                    <a:pt x="258142" y="327"/>
                  </a:lnTo>
                  <a:lnTo>
                    <a:pt x="271462" y="0"/>
                  </a:lnTo>
                  <a:lnTo>
                    <a:pt x="284782" y="327"/>
                  </a:lnTo>
                  <a:lnTo>
                    <a:pt x="324421" y="5219"/>
                  </a:lnTo>
                  <a:lnTo>
                    <a:pt x="362913" y="15866"/>
                  </a:lnTo>
                  <a:lnTo>
                    <a:pt x="399430" y="32051"/>
                  </a:lnTo>
                  <a:lnTo>
                    <a:pt x="433174" y="53422"/>
                  </a:lnTo>
                  <a:lnTo>
                    <a:pt x="463419" y="79505"/>
                  </a:lnTo>
                  <a:lnTo>
                    <a:pt x="489502" y="109750"/>
                  </a:lnTo>
                  <a:lnTo>
                    <a:pt x="510873" y="143494"/>
                  </a:lnTo>
                  <a:lnTo>
                    <a:pt x="527058" y="180011"/>
                  </a:lnTo>
                  <a:lnTo>
                    <a:pt x="537705" y="218503"/>
                  </a:lnTo>
                  <a:lnTo>
                    <a:pt x="542597" y="258142"/>
                  </a:lnTo>
                  <a:lnTo>
                    <a:pt x="542925" y="271462"/>
                  </a:lnTo>
                  <a:lnTo>
                    <a:pt x="542597" y="284783"/>
                  </a:lnTo>
                  <a:lnTo>
                    <a:pt x="537705" y="324421"/>
                  </a:lnTo>
                  <a:lnTo>
                    <a:pt x="527058" y="362913"/>
                  </a:lnTo>
                  <a:lnTo>
                    <a:pt x="510873" y="399430"/>
                  </a:lnTo>
                  <a:lnTo>
                    <a:pt x="489502" y="433174"/>
                  </a:lnTo>
                  <a:lnTo>
                    <a:pt x="463419" y="463419"/>
                  </a:lnTo>
                  <a:lnTo>
                    <a:pt x="433174" y="489502"/>
                  </a:lnTo>
                  <a:lnTo>
                    <a:pt x="399430" y="510873"/>
                  </a:lnTo>
                  <a:lnTo>
                    <a:pt x="362913" y="527058"/>
                  </a:lnTo>
                  <a:lnTo>
                    <a:pt x="324421" y="537705"/>
                  </a:lnTo>
                  <a:lnTo>
                    <a:pt x="284782" y="542597"/>
                  </a:lnTo>
                  <a:lnTo>
                    <a:pt x="271462" y="542925"/>
                  </a:lnTo>
                  <a:close/>
                </a:path>
              </a:pathLst>
            </a:custGeom>
            <a:solidFill>
              <a:srgbClr val="8061FF"/>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pic>
          <p:nvPicPr>
            <p:cNvPr id="197" name="Google Shape;197;p16"/>
            <p:cNvPicPr preferRelativeResize="0"/>
            <p:nvPr/>
          </p:nvPicPr>
          <p:blipFill rotWithShape="1">
            <a:blip r:embed="rId3">
              <a:alphaModFix/>
            </a:blip>
            <a:srcRect/>
            <a:stretch/>
          </p:blipFill>
          <p:spPr>
            <a:xfrm>
              <a:off x="4419592" y="2614810"/>
              <a:ext cx="245864" cy="83459"/>
            </a:xfrm>
            <a:prstGeom prst="rect">
              <a:avLst/>
            </a:prstGeom>
            <a:noFill/>
            <a:ln>
              <a:noFill/>
            </a:ln>
          </p:spPr>
        </p:pic>
      </p:grpSp>
      <p:sp>
        <p:nvSpPr>
          <p:cNvPr id="198" name="Google Shape;198;p16"/>
          <p:cNvSpPr txBox="1"/>
          <p:nvPr/>
        </p:nvSpPr>
        <p:spPr>
          <a:xfrm>
            <a:off x="4252718" y="3087687"/>
            <a:ext cx="1685400" cy="282600"/>
          </a:xfrm>
          <a:prstGeom prst="rect">
            <a:avLst/>
          </a:prstGeom>
          <a:noFill/>
          <a:ln>
            <a:noFill/>
          </a:ln>
        </p:spPr>
        <p:txBody>
          <a:bodyPr spcFirstLastPara="1" wrap="square" lIns="0" tIns="17125" rIns="0" bIns="0" anchor="t" anchorCtr="0">
            <a:spAutoFit/>
          </a:bodyPr>
          <a:lstStyle/>
          <a:p>
            <a:pPr marL="12700" lvl="0" indent="0" algn="l" rtl="0">
              <a:lnSpc>
                <a:spcPct val="100000"/>
              </a:lnSpc>
              <a:spcBef>
                <a:spcPts val="0"/>
              </a:spcBef>
              <a:spcAft>
                <a:spcPts val="0"/>
              </a:spcAft>
              <a:buNone/>
            </a:pPr>
            <a:r>
              <a:rPr lang="en-US" sz="1650" b="1">
                <a:solidFill>
                  <a:srgbClr val="D9E1FF"/>
                </a:solidFill>
                <a:latin typeface="Trebuchet MS"/>
                <a:ea typeface="Trebuchet MS"/>
                <a:cs typeface="Trebuchet MS"/>
                <a:sym typeface="Trebuchet MS"/>
              </a:rPr>
              <a:t>Resistor Value</a:t>
            </a:r>
            <a:endParaRPr sz="1650">
              <a:latin typeface="Trebuchet MS"/>
              <a:ea typeface="Trebuchet MS"/>
              <a:cs typeface="Trebuchet MS"/>
              <a:sym typeface="Trebuchet MS"/>
            </a:endParaRPr>
          </a:p>
        </p:txBody>
      </p:sp>
      <p:sp>
        <p:nvSpPr>
          <p:cNvPr id="199" name="Google Shape;199;p16"/>
          <p:cNvSpPr txBox="1"/>
          <p:nvPr/>
        </p:nvSpPr>
        <p:spPr>
          <a:xfrm>
            <a:off x="5898153" y="3873214"/>
            <a:ext cx="134700" cy="3231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950" i="1">
                <a:solidFill>
                  <a:srgbClr val="D9E1FF"/>
                </a:solidFill>
                <a:latin typeface="Georgia"/>
                <a:ea typeface="Georgia"/>
                <a:cs typeface="Georgia"/>
                <a:sym typeface="Georgia"/>
              </a:rPr>
              <a:t>I</a:t>
            </a:r>
            <a:endParaRPr sz="1950">
              <a:latin typeface="Georgia"/>
              <a:ea typeface="Georgia"/>
              <a:cs typeface="Georgia"/>
              <a:sym typeface="Georgia"/>
            </a:endParaRPr>
          </a:p>
        </p:txBody>
      </p:sp>
      <p:sp>
        <p:nvSpPr>
          <p:cNvPr id="200" name="Google Shape;200;p16"/>
          <p:cNvSpPr/>
          <p:nvPr/>
        </p:nvSpPr>
        <p:spPr>
          <a:xfrm>
            <a:off x="5476875" y="3905250"/>
            <a:ext cx="1000125" cy="9525"/>
          </a:xfrm>
          <a:custGeom>
            <a:avLst/>
            <a:gdLst/>
            <a:ahLst/>
            <a:cxnLst/>
            <a:rect l="l" t="t" r="r" b="b"/>
            <a:pathLst>
              <a:path w="1000125" h="9525" extrusionOk="0">
                <a:moveTo>
                  <a:pt x="1000125" y="9525"/>
                </a:moveTo>
                <a:lnTo>
                  <a:pt x="0" y="9525"/>
                </a:lnTo>
                <a:lnTo>
                  <a:pt x="0" y="0"/>
                </a:lnTo>
                <a:lnTo>
                  <a:pt x="1000125" y="0"/>
                </a:lnTo>
                <a:lnTo>
                  <a:pt x="1000125" y="9525"/>
                </a:lnTo>
                <a:close/>
              </a:path>
            </a:pathLst>
          </a:custGeom>
          <a:solidFill>
            <a:srgbClr val="D9E1FF"/>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01" name="Google Shape;201;p16"/>
          <p:cNvSpPr txBox="1"/>
          <p:nvPr/>
        </p:nvSpPr>
        <p:spPr>
          <a:xfrm>
            <a:off x="4889744" y="3539839"/>
            <a:ext cx="1621200" cy="323100"/>
          </a:xfrm>
          <a:prstGeom prst="rect">
            <a:avLst/>
          </a:prstGeom>
          <a:noFill/>
          <a:ln>
            <a:noFill/>
          </a:ln>
        </p:spPr>
        <p:txBody>
          <a:bodyPr spcFirstLastPara="1" wrap="square" lIns="0" tIns="12700" rIns="0" bIns="0" anchor="t" anchorCtr="0">
            <a:spAutoFit/>
          </a:bodyPr>
          <a:lstStyle/>
          <a:p>
            <a:pPr marL="38100" lvl="0" indent="0" algn="l" rtl="0">
              <a:lnSpc>
                <a:spcPct val="100000"/>
              </a:lnSpc>
              <a:spcBef>
                <a:spcPts val="0"/>
              </a:spcBef>
              <a:spcAft>
                <a:spcPts val="0"/>
              </a:spcAft>
              <a:buNone/>
            </a:pPr>
            <a:r>
              <a:rPr lang="en-US" sz="2925" i="1" baseline="-25000">
                <a:solidFill>
                  <a:srgbClr val="D9E1FF"/>
                </a:solidFill>
                <a:latin typeface="Georgia"/>
                <a:ea typeface="Georgia"/>
                <a:cs typeface="Georgia"/>
                <a:sym typeface="Georgia"/>
              </a:rPr>
              <a:t>R </a:t>
            </a:r>
            <a:r>
              <a:rPr lang="en-US" sz="2925" baseline="-25000">
                <a:solidFill>
                  <a:srgbClr val="D9E1FF"/>
                </a:solidFill>
                <a:latin typeface="Book Antiqua"/>
                <a:ea typeface="Book Antiqua"/>
                <a:cs typeface="Book Antiqua"/>
                <a:sym typeface="Book Antiqua"/>
              </a:rPr>
              <a:t>= </a:t>
            </a:r>
            <a:r>
              <a:rPr lang="en-US" sz="1950">
                <a:solidFill>
                  <a:srgbClr val="D9E1FF"/>
                </a:solidFill>
                <a:latin typeface="Book Antiqua"/>
                <a:ea typeface="Book Antiqua"/>
                <a:cs typeface="Book Antiqua"/>
                <a:sym typeface="Book Antiqua"/>
              </a:rPr>
              <a:t>(</a:t>
            </a:r>
            <a:r>
              <a:rPr lang="en-US" sz="1950" i="1">
                <a:solidFill>
                  <a:srgbClr val="D9E1FF"/>
                </a:solidFill>
                <a:latin typeface="Georgia"/>
                <a:ea typeface="Georgia"/>
                <a:cs typeface="Georgia"/>
                <a:sym typeface="Georgia"/>
              </a:rPr>
              <a:t>V</a:t>
            </a:r>
            <a:r>
              <a:rPr lang="en-US" sz="2025" i="1" baseline="-25000">
                <a:solidFill>
                  <a:srgbClr val="D9E1FF"/>
                </a:solidFill>
                <a:latin typeface="Georgia"/>
                <a:ea typeface="Georgia"/>
                <a:cs typeface="Georgia"/>
                <a:sym typeface="Georgia"/>
              </a:rPr>
              <a:t>s </a:t>
            </a:r>
            <a:r>
              <a:rPr lang="en-US" sz="1950">
                <a:solidFill>
                  <a:srgbClr val="D9E1FF"/>
                </a:solidFill>
                <a:latin typeface="Book Antiqua"/>
                <a:ea typeface="Book Antiqua"/>
                <a:cs typeface="Book Antiqua"/>
                <a:sym typeface="Book Antiqua"/>
              </a:rPr>
              <a:t>− </a:t>
            </a:r>
            <a:r>
              <a:rPr lang="en-US" sz="1950" i="1">
                <a:solidFill>
                  <a:srgbClr val="D9E1FF"/>
                </a:solidFill>
                <a:latin typeface="Georgia"/>
                <a:ea typeface="Georgia"/>
                <a:cs typeface="Georgia"/>
                <a:sym typeface="Georgia"/>
              </a:rPr>
              <a:t>V</a:t>
            </a:r>
            <a:r>
              <a:rPr lang="en-US" sz="2025" i="1" baseline="-25000">
                <a:solidFill>
                  <a:srgbClr val="D9E1FF"/>
                </a:solidFill>
                <a:latin typeface="Georgia"/>
                <a:ea typeface="Georgia"/>
                <a:cs typeface="Georgia"/>
                <a:sym typeface="Georgia"/>
              </a:rPr>
              <a:t>f </a:t>
            </a:r>
            <a:r>
              <a:rPr lang="en-US" sz="1950">
                <a:solidFill>
                  <a:srgbClr val="D9E1FF"/>
                </a:solidFill>
                <a:latin typeface="Book Antiqua"/>
                <a:ea typeface="Book Antiqua"/>
                <a:cs typeface="Book Antiqua"/>
                <a:sym typeface="Book Antiqua"/>
              </a:rPr>
              <a:t>)</a:t>
            </a:r>
            <a:endParaRPr sz="1950">
              <a:latin typeface="Book Antiqua"/>
              <a:ea typeface="Book Antiqua"/>
              <a:cs typeface="Book Antiqua"/>
              <a:sym typeface="Book Antiqua"/>
            </a:endParaRPr>
          </a:p>
        </p:txBody>
      </p:sp>
      <p:sp>
        <p:nvSpPr>
          <p:cNvPr id="202" name="Google Shape;202;p16"/>
          <p:cNvSpPr txBox="1"/>
          <p:nvPr/>
        </p:nvSpPr>
        <p:spPr>
          <a:xfrm>
            <a:off x="4252718" y="4309973"/>
            <a:ext cx="2478300" cy="597000"/>
          </a:xfrm>
          <a:prstGeom prst="rect">
            <a:avLst/>
          </a:prstGeom>
          <a:noFill/>
          <a:ln>
            <a:noFill/>
          </a:ln>
        </p:spPr>
        <p:txBody>
          <a:bodyPr spcFirstLastPara="1" wrap="square" lIns="0" tIns="11425" rIns="0" bIns="0" anchor="t" anchorCtr="0">
            <a:spAutoFit/>
          </a:bodyPr>
          <a:lstStyle/>
          <a:p>
            <a:pPr marL="12700" marR="5080" lvl="0" indent="0" algn="l" rtl="0">
              <a:lnSpc>
                <a:spcPct val="134000"/>
              </a:lnSpc>
              <a:spcBef>
                <a:spcPts val="0"/>
              </a:spcBef>
              <a:spcAft>
                <a:spcPts val="0"/>
              </a:spcAft>
              <a:buNone/>
            </a:pPr>
            <a:r>
              <a:rPr lang="en-US" sz="1400">
                <a:solidFill>
                  <a:srgbClr val="D9E1FF"/>
                </a:solidFill>
                <a:latin typeface="Arial"/>
                <a:ea typeface="Arial"/>
                <a:cs typeface="Arial"/>
                <a:sym typeface="Arial"/>
              </a:rPr>
              <a:t>Ohm's Law applied to the LED series resistor.</a:t>
            </a:r>
            <a:endParaRPr sz="1400">
              <a:latin typeface="Arial"/>
              <a:ea typeface="Arial"/>
              <a:cs typeface="Arial"/>
              <a:sym typeface="Arial"/>
            </a:endParaRPr>
          </a:p>
        </p:txBody>
      </p:sp>
      <p:grpSp>
        <p:nvGrpSpPr>
          <p:cNvPr id="203" name="Google Shape;203;p16"/>
          <p:cNvGrpSpPr/>
          <p:nvPr/>
        </p:nvGrpSpPr>
        <p:grpSpPr>
          <a:xfrm>
            <a:off x="7524750" y="2209800"/>
            <a:ext cx="3267075" cy="2924175"/>
            <a:chOff x="7524750" y="2209800"/>
            <a:chExt cx="3267075" cy="2924175"/>
          </a:xfrm>
        </p:grpSpPr>
        <p:sp>
          <p:nvSpPr>
            <p:cNvPr id="204" name="Google Shape;204;p16"/>
            <p:cNvSpPr/>
            <p:nvPr/>
          </p:nvSpPr>
          <p:spPr>
            <a:xfrm>
              <a:off x="7524750" y="2209800"/>
              <a:ext cx="3267075" cy="2924175"/>
            </a:xfrm>
            <a:custGeom>
              <a:avLst/>
              <a:gdLst/>
              <a:ahLst/>
              <a:cxnLst/>
              <a:rect l="l" t="t" r="r" b="b"/>
              <a:pathLst>
                <a:path w="3267075" h="2924175" extrusionOk="0">
                  <a:moveTo>
                    <a:pt x="3247358" y="2924175"/>
                  </a:moveTo>
                  <a:lnTo>
                    <a:pt x="19745" y="2924175"/>
                  </a:lnTo>
                  <a:lnTo>
                    <a:pt x="16840" y="2923593"/>
                  </a:lnTo>
                  <a:lnTo>
                    <a:pt x="0" y="2904420"/>
                  </a:lnTo>
                  <a:lnTo>
                    <a:pt x="0" y="2901400"/>
                  </a:lnTo>
                  <a:lnTo>
                    <a:pt x="0" y="19754"/>
                  </a:lnTo>
                  <a:lnTo>
                    <a:pt x="19745" y="0"/>
                  </a:lnTo>
                  <a:lnTo>
                    <a:pt x="3247358" y="0"/>
                  </a:lnTo>
                  <a:lnTo>
                    <a:pt x="3267075" y="19754"/>
                  </a:lnTo>
                  <a:lnTo>
                    <a:pt x="3267075" y="2904420"/>
                  </a:lnTo>
                  <a:lnTo>
                    <a:pt x="3250215" y="2923593"/>
                  </a:lnTo>
                  <a:lnTo>
                    <a:pt x="3247358" y="2924175"/>
                  </a:lnTo>
                  <a:close/>
                </a:path>
              </a:pathLst>
            </a:custGeom>
            <a:solidFill>
              <a:srgbClr val="2A2952"/>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05" name="Google Shape;205;p16"/>
            <p:cNvSpPr/>
            <p:nvPr/>
          </p:nvSpPr>
          <p:spPr>
            <a:xfrm>
              <a:off x="7715250" y="2390775"/>
              <a:ext cx="542925" cy="542925"/>
            </a:xfrm>
            <a:custGeom>
              <a:avLst/>
              <a:gdLst/>
              <a:ahLst/>
              <a:cxnLst/>
              <a:rect l="l" t="t" r="r" b="b"/>
              <a:pathLst>
                <a:path w="542925" h="542925" extrusionOk="0">
                  <a:moveTo>
                    <a:pt x="271462" y="542925"/>
                  </a:moveTo>
                  <a:lnTo>
                    <a:pt x="231631" y="539984"/>
                  </a:lnTo>
                  <a:lnTo>
                    <a:pt x="192662" y="531237"/>
                  </a:lnTo>
                  <a:lnTo>
                    <a:pt x="155394" y="516862"/>
                  </a:lnTo>
                  <a:lnTo>
                    <a:pt x="120643" y="497176"/>
                  </a:lnTo>
                  <a:lnTo>
                    <a:pt x="89156" y="472606"/>
                  </a:lnTo>
                  <a:lnTo>
                    <a:pt x="61617" y="443674"/>
                  </a:lnTo>
                  <a:lnTo>
                    <a:pt x="38617" y="411023"/>
                  </a:lnTo>
                  <a:lnTo>
                    <a:pt x="20659" y="375342"/>
                  </a:lnTo>
                  <a:lnTo>
                    <a:pt x="8135" y="337424"/>
                  </a:lnTo>
                  <a:lnTo>
                    <a:pt x="1304" y="298075"/>
                  </a:lnTo>
                  <a:lnTo>
                    <a:pt x="0" y="271462"/>
                  </a:lnTo>
                  <a:lnTo>
                    <a:pt x="327" y="258142"/>
                  </a:lnTo>
                  <a:lnTo>
                    <a:pt x="5219" y="218503"/>
                  </a:lnTo>
                  <a:lnTo>
                    <a:pt x="15866" y="180011"/>
                  </a:lnTo>
                  <a:lnTo>
                    <a:pt x="32051" y="143494"/>
                  </a:lnTo>
                  <a:lnTo>
                    <a:pt x="53422" y="109750"/>
                  </a:lnTo>
                  <a:lnTo>
                    <a:pt x="79505" y="79505"/>
                  </a:lnTo>
                  <a:lnTo>
                    <a:pt x="109750" y="53422"/>
                  </a:lnTo>
                  <a:lnTo>
                    <a:pt x="143494" y="32051"/>
                  </a:lnTo>
                  <a:lnTo>
                    <a:pt x="180010" y="15866"/>
                  </a:lnTo>
                  <a:lnTo>
                    <a:pt x="218503" y="5219"/>
                  </a:lnTo>
                  <a:lnTo>
                    <a:pt x="258146" y="327"/>
                  </a:lnTo>
                  <a:lnTo>
                    <a:pt x="271462" y="0"/>
                  </a:lnTo>
                  <a:lnTo>
                    <a:pt x="284783" y="327"/>
                  </a:lnTo>
                  <a:lnTo>
                    <a:pt x="324421" y="5219"/>
                  </a:lnTo>
                  <a:lnTo>
                    <a:pt x="362913" y="15866"/>
                  </a:lnTo>
                  <a:lnTo>
                    <a:pt x="399430" y="32051"/>
                  </a:lnTo>
                  <a:lnTo>
                    <a:pt x="433174" y="53422"/>
                  </a:lnTo>
                  <a:lnTo>
                    <a:pt x="463410" y="79505"/>
                  </a:lnTo>
                  <a:lnTo>
                    <a:pt x="489502" y="109750"/>
                  </a:lnTo>
                  <a:lnTo>
                    <a:pt x="510873" y="143494"/>
                  </a:lnTo>
                  <a:lnTo>
                    <a:pt x="527058" y="180011"/>
                  </a:lnTo>
                  <a:lnTo>
                    <a:pt x="537705" y="218503"/>
                  </a:lnTo>
                  <a:lnTo>
                    <a:pt x="542597" y="258142"/>
                  </a:lnTo>
                  <a:lnTo>
                    <a:pt x="542925" y="271462"/>
                  </a:lnTo>
                  <a:lnTo>
                    <a:pt x="542597" y="284783"/>
                  </a:lnTo>
                  <a:lnTo>
                    <a:pt x="537705" y="324421"/>
                  </a:lnTo>
                  <a:lnTo>
                    <a:pt x="527058" y="362913"/>
                  </a:lnTo>
                  <a:lnTo>
                    <a:pt x="510873" y="399430"/>
                  </a:lnTo>
                  <a:lnTo>
                    <a:pt x="489502" y="433174"/>
                  </a:lnTo>
                  <a:lnTo>
                    <a:pt x="463410" y="463419"/>
                  </a:lnTo>
                  <a:lnTo>
                    <a:pt x="433174" y="489502"/>
                  </a:lnTo>
                  <a:lnTo>
                    <a:pt x="399430" y="510873"/>
                  </a:lnTo>
                  <a:lnTo>
                    <a:pt x="362913" y="527058"/>
                  </a:lnTo>
                  <a:lnTo>
                    <a:pt x="324421" y="537705"/>
                  </a:lnTo>
                  <a:lnTo>
                    <a:pt x="284782" y="542597"/>
                  </a:lnTo>
                  <a:lnTo>
                    <a:pt x="271462" y="542925"/>
                  </a:lnTo>
                  <a:close/>
                </a:path>
              </a:pathLst>
            </a:custGeom>
            <a:solidFill>
              <a:srgbClr val="8061FF"/>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pic>
          <p:nvPicPr>
            <p:cNvPr id="206" name="Google Shape;206;p16"/>
            <p:cNvPicPr preferRelativeResize="0"/>
            <p:nvPr/>
          </p:nvPicPr>
          <p:blipFill rotWithShape="1">
            <a:blip r:embed="rId4">
              <a:alphaModFix/>
            </a:blip>
            <a:srcRect/>
            <a:stretch/>
          </p:blipFill>
          <p:spPr>
            <a:xfrm>
              <a:off x="7873515" y="2533650"/>
              <a:ext cx="215264" cy="251502"/>
            </a:xfrm>
            <a:prstGeom prst="rect">
              <a:avLst/>
            </a:prstGeom>
            <a:noFill/>
            <a:ln>
              <a:noFill/>
            </a:ln>
          </p:spPr>
        </p:pic>
      </p:grpSp>
      <p:sp>
        <p:nvSpPr>
          <p:cNvPr id="207" name="Google Shape;207;p16"/>
          <p:cNvSpPr txBox="1"/>
          <p:nvPr/>
        </p:nvSpPr>
        <p:spPr>
          <a:xfrm>
            <a:off x="7672978" y="3087687"/>
            <a:ext cx="2146200" cy="813300"/>
          </a:xfrm>
          <a:prstGeom prst="rect">
            <a:avLst/>
          </a:prstGeom>
          <a:noFill/>
          <a:ln>
            <a:noFill/>
          </a:ln>
        </p:spPr>
        <p:txBody>
          <a:bodyPr spcFirstLastPara="1" wrap="square" lIns="0" tIns="17125" rIns="0" bIns="0" anchor="t" anchorCtr="0">
            <a:spAutoFit/>
          </a:bodyPr>
          <a:lstStyle/>
          <a:p>
            <a:pPr marL="38100" lvl="0" indent="0" algn="l" rtl="0">
              <a:lnSpc>
                <a:spcPct val="100000"/>
              </a:lnSpc>
              <a:spcBef>
                <a:spcPts val="0"/>
              </a:spcBef>
              <a:spcAft>
                <a:spcPts val="0"/>
              </a:spcAft>
              <a:buNone/>
            </a:pPr>
            <a:r>
              <a:rPr lang="en-US" sz="1650" b="1">
                <a:solidFill>
                  <a:srgbClr val="D9E1FF"/>
                </a:solidFill>
                <a:latin typeface="Trebuchet MS"/>
                <a:ea typeface="Trebuchet MS"/>
                <a:cs typeface="Trebuchet MS"/>
                <a:sym typeface="Trebuchet MS"/>
              </a:rPr>
              <a:t>Resistor Power</a:t>
            </a:r>
            <a:endParaRPr sz="1650">
              <a:latin typeface="Trebuchet MS"/>
              <a:ea typeface="Trebuchet MS"/>
              <a:cs typeface="Trebuchet MS"/>
              <a:sym typeface="Trebuchet MS"/>
            </a:endParaRPr>
          </a:p>
          <a:p>
            <a:pPr marL="864870" lvl="0" indent="0" algn="l" rtl="0">
              <a:lnSpc>
                <a:spcPct val="100000"/>
              </a:lnSpc>
              <a:spcBef>
                <a:spcPts val="1845"/>
              </a:spcBef>
              <a:spcAft>
                <a:spcPts val="0"/>
              </a:spcAft>
              <a:buNone/>
            </a:pPr>
            <a:r>
              <a:rPr lang="en-US" sz="1950" i="1">
                <a:solidFill>
                  <a:srgbClr val="D9E1FF"/>
                </a:solidFill>
                <a:latin typeface="Georgia"/>
                <a:ea typeface="Georgia"/>
                <a:cs typeface="Georgia"/>
                <a:sym typeface="Georgia"/>
              </a:rPr>
              <a:t>P </a:t>
            </a:r>
            <a:r>
              <a:rPr lang="en-US" sz="1950">
                <a:solidFill>
                  <a:srgbClr val="D9E1FF"/>
                </a:solidFill>
                <a:latin typeface="Book Antiqua"/>
                <a:ea typeface="Book Antiqua"/>
                <a:cs typeface="Book Antiqua"/>
                <a:sym typeface="Book Antiqua"/>
              </a:rPr>
              <a:t>= </a:t>
            </a:r>
            <a:r>
              <a:rPr lang="en-US" sz="1950" i="1">
                <a:solidFill>
                  <a:srgbClr val="D9E1FF"/>
                </a:solidFill>
                <a:latin typeface="Georgia"/>
                <a:ea typeface="Georgia"/>
                <a:cs typeface="Georgia"/>
                <a:sym typeface="Georgia"/>
              </a:rPr>
              <a:t>I</a:t>
            </a:r>
            <a:r>
              <a:rPr lang="en-US" sz="2025" baseline="30000">
                <a:solidFill>
                  <a:srgbClr val="D9E1FF"/>
                </a:solidFill>
                <a:latin typeface="Book Antiqua"/>
                <a:ea typeface="Book Antiqua"/>
                <a:cs typeface="Book Antiqua"/>
                <a:sym typeface="Book Antiqua"/>
              </a:rPr>
              <a:t>2 </a:t>
            </a:r>
            <a:r>
              <a:rPr lang="en-US" sz="1950">
                <a:solidFill>
                  <a:srgbClr val="D9E1FF"/>
                </a:solidFill>
                <a:latin typeface="Book Antiqua"/>
                <a:ea typeface="Book Antiqua"/>
                <a:cs typeface="Book Antiqua"/>
                <a:sym typeface="Book Antiqua"/>
              </a:rPr>
              <a:t>× </a:t>
            </a:r>
            <a:r>
              <a:rPr lang="en-US" sz="1950" i="1">
                <a:solidFill>
                  <a:srgbClr val="D9E1FF"/>
                </a:solidFill>
                <a:latin typeface="Georgia"/>
                <a:ea typeface="Georgia"/>
                <a:cs typeface="Georgia"/>
                <a:sym typeface="Georgia"/>
              </a:rPr>
              <a:t>R</a:t>
            </a:r>
            <a:endParaRPr sz="1950">
              <a:latin typeface="Georgia"/>
              <a:ea typeface="Georgia"/>
              <a:cs typeface="Georgia"/>
              <a:sym typeface="Georgia"/>
            </a:endParaRPr>
          </a:p>
        </p:txBody>
      </p:sp>
      <p:sp>
        <p:nvSpPr>
          <p:cNvPr id="208" name="Google Shape;208;p16"/>
          <p:cNvSpPr txBox="1"/>
          <p:nvPr/>
        </p:nvSpPr>
        <p:spPr>
          <a:xfrm>
            <a:off x="7698378" y="4090898"/>
            <a:ext cx="2797200" cy="615900"/>
          </a:xfrm>
          <a:prstGeom prst="rect">
            <a:avLst/>
          </a:prstGeom>
          <a:noFill/>
          <a:ln>
            <a:noFill/>
          </a:ln>
        </p:spPr>
        <p:txBody>
          <a:bodyPr spcFirstLastPara="1" wrap="square" lIns="0" tIns="11425" rIns="0" bIns="0" anchor="t" anchorCtr="0">
            <a:spAutoFit/>
          </a:bodyPr>
          <a:lstStyle/>
          <a:p>
            <a:pPr marL="12700" marR="5080" lvl="0" indent="0" algn="l" rtl="0">
              <a:lnSpc>
                <a:spcPct val="138000"/>
              </a:lnSpc>
              <a:spcBef>
                <a:spcPts val="0"/>
              </a:spcBef>
              <a:spcAft>
                <a:spcPts val="0"/>
              </a:spcAft>
              <a:buNone/>
            </a:pPr>
            <a:r>
              <a:rPr lang="en-US" sz="1400">
                <a:solidFill>
                  <a:srgbClr val="D9E1FF"/>
                </a:solidFill>
                <a:latin typeface="Arial"/>
                <a:ea typeface="Arial"/>
                <a:cs typeface="Arial"/>
                <a:sym typeface="Arial"/>
              </a:rPr>
              <a:t>Determines minimum power rating for the resistor.</a:t>
            </a:r>
            <a:endParaRPr sz="1400">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Shape 209"/>
        <p:cNvGrpSpPr/>
        <p:nvPr/>
      </p:nvGrpSpPr>
      <p:grpSpPr>
        <a:xfrm>
          <a:off x="0" y="0"/>
          <a:ext cx="0" cy="0"/>
          <a:chOff x="0" y="0"/>
          <a:chExt cx="0" cy="0"/>
        </a:xfrm>
      </p:grpSpPr>
      <p:sp>
        <p:nvSpPr>
          <p:cNvPr id="210" name="Google Shape;210;p17"/>
          <p:cNvSpPr/>
          <p:nvPr/>
        </p:nvSpPr>
        <p:spPr>
          <a:xfrm>
            <a:off x="0" y="0"/>
            <a:ext cx="11430000" cy="7678388"/>
          </a:xfrm>
          <a:custGeom>
            <a:avLst/>
            <a:gdLst/>
            <a:ahLst/>
            <a:cxnLst/>
            <a:rect l="l" t="t" r="r" b="b"/>
            <a:pathLst>
              <a:path w="11430000" h="6438900" extrusionOk="0">
                <a:moveTo>
                  <a:pt x="11430000" y="0"/>
                </a:moveTo>
                <a:lnTo>
                  <a:pt x="0" y="0"/>
                </a:lnTo>
                <a:lnTo>
                  <a:pt x="0" y="6438900"/>
                </a:lnTo>
                <a:lnTo>
                  <a:pt x="11430000" y="6438900"/>
                </a:lnTo>
                <a:lnTo>
                  <a:pt x="11430000" y="0"/>
                </a:lnTo>
                <a:close/>
              </a:path>
            </a:pathLst>
          </a:custGeom>
          <a:solidFill>
            <a:srgbClr val="0C0932"/>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11" name="Google Shape;211;p17"/>
          <p:cNvSpPr txBox="1">
            <a:spLocks noGrp="1"/>
          </p:cNvSpPr>
          <p:nvPr>
            <p:ph type="title"/>
          </p:nvPr>
        </p:nvSpPr>
        <p:spPr>
          <a:xfrm>
            <a:off x="624879" y="473075"/>
            <a:ext cx="10180200" cy="539700"/>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dirty="0"/>
              <a:t>Step 5: High-Current Warning</a:t>
            </a:r>
            <a:endParaRPr dirty="0"/>
          </a:p>
        </p:txBody>
      </p:sp>
      <p:grpSp>
        <p:nvGrpSpPr>
          <p:cNvPr id="212" name="Google Shape;212;p17"/>
          <p:cNvGrpSpPr/>
          <p:nvPr/>
        </p:nvGrpSpPr>
        <p:grpSpPr>
          <a:xfrm>
            <a:off x="638175" y="2771774"/>
            <a:ext cx="3267075" cy="1295400"/>
            <a:chOff x="638175" y="2771774"/>
            <a:chExt cx="3267075" cy="1295400"/>
          </a:xfrm>
        </p:grpSpPr>
        <p:sp>
          <p:nvSpPr>
            <p:cNvPr id="213" name="Google Shape;213;p17"/>
            <p:cNvSpPr/>
            <p:nvPr/>
          </p:nvSpPr>
          <p:spPr>
            <a:xfrm>
              <a:off x="638175" y="2771774"/>
              <a:ext cx="3267075" cy="1295400"/>
            </a:xfrm>
            <a:custGeom>
              <a:avLst/>
              <a:gdLst/>
              <a:ahLst/>
              <a:cxnLst/>
              <a:rect l="l" t="t" r="r" b="b"/>
              <a:pathLst>
                <a:path w="3267075" h="1295400" extrusionOk="0">
                  <a:moveTo>
                    <a:pt x="3247326" y="0"/>
                  </a:moveTo>
                  <a:lnTo>
                    <a:pt x="19749" y="0"/>
                  </a:lnTo>
                  <a:lnTo>
                    <a:pt x="16847" y="571"/>
                  </a:lnTo>
                  <a:lnTo>
                    <a:pt x="0" y="19748"/>
                  </a:lnTo>
                  <a:lnTo>
                    <a:pt x="0" y="1272628"/>
                  </a:lnTo>
                  <a:lnTo>
                    <a:pt x="0" y="1275651"/>
                  </a:lnTo>
                  <a:lnTo>
                    <a:pt x="19749" y="1295400"/>
                  </a:lnTo>
                  <a:lnTo>
                    <a:pt x="3247326" y="1295400"/>
                  </a:lnTo>
                  <a:lnTo>
                    <a:pt x="3267075" y="1275651"/>
                  </a:lnTo>
                  <a:lnTo>
                    <a:pt x="3267075" y="19748"/>
                  </a:lnTo>
                  <a:lnTo>
                    <a:pt x="3250222" y="571"/>
                  </a:lnTo>
                  <a:lnTo>
                    <a:pt x="3247326" y="0"/>
                  </a:lnTo>
                  <a:close/>
                </a:path>
              </a:pathLst>
            </a:custGeom>
            <a:solidFill>
              <a:srgbClr val="4B3F01"/>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pic>
          <p:nvPicPr>
            <p:cNvPr id="214" name="Google Shape;214;p17"/>
            <p:cNvPicPr preferRelativeResize="0"/>
            <p:nvPr/>
          </p:nvPicPr>
          <p:blipFill rotWithShape="1">
            <a:blip r:embed="rId2">
              <a:alphaModFix/>
            </a:blip>
            <a:srcRect/>
            <a:stretch/>
          </p:blipFill>
          <p:spPr>
            <a:xfrm>
              <a:off x="841921" y="3049866"/>
              <a:ext cx="182164" cy="159385"/>
            </a:xfrm>
            <a:prstGeom prst="rect">
              <a:avLst/>
            </a:prstGeom>
            <a:noFill/>
            <a:ln>
              <a:noFill/>
            </a:ln>
          </p:spPr>
        </p:pic>
      </p:grpSp>
      <p:sp>
        <p:nvSpPr>
          <p:cNvPr id="215" name="Google Shape;215;p17"/>
          <p:cNvSpPr txBox="1"/>
          <p:nvPr/>
        </p:nvSpPr>
        <p:spPr>
          <a:xfrm>
            <a:off x="638175" y="1477645"/>
            <a:ext cx="3199800" cy="4210200"/>
          </a:xfrm>
          <a:prstGeom prst="rect">
            <a:avLst/>
          </a:prstGeom>
          <a:noFill/>
          <a:ln>
            <a:noFill/>
          </a:ln>
        </p:spPr>
        <p:txBody>
          <a:bodyPr spcFirstLastPara="1" wrap="square" lIns="0" tIns="17125" rIns="0" bIns="0" anchor="t" anchorCtr="0">
            <a:noAutofit/>
          </a:bodyPr>
          <a:lstStyle/>
          <a:p>
            <a:pPr marL="12700" lvl="0" indent="0" algn="l" rtl="0">
              <a:lnSpc>
                <a:spcPct val="100000"/>
              </a:lnSpc>
              <a:spcBef>
                <a:spcPts val="0"/>
              </a:spcBef>
              <a:spcAft>
                <a:spcPts val="0"/>
              </a:spcAft>
              <a:buNone/>
            </a:pPr>
            <a:r>
              <a:rPr lang="en-US" sz="1650" b="1">
                <a:solidFill>
                  <a:srgbClr val="FFFFFF"/>
                </a:solidFill>
                <a:latin typeface="Trebuchet MS"/>
                <a:ea typeface="Trebuchet MS"/>
                <a:cs typeface="Trebuchet MS"/>
                <a:sym typeface="Trebuchet MS"/>
              </a:rPr>
              <a:t>Current Safety Check</a:t>
            </a:r>
            <a:endParaRPr sz="1650">
              <a:latin typeface="Trebuchet MS"/>
              <a:ea typeface="Trebuchet MS"/>
              <a:cs typeface="Trebuchet MS"/>
              <a:sym typeface="Trebuchet MS"/>
            </a:endParaRPr>
          </a:p>
          <a:p>
            <a:pPr marL="12700" marR="318770" lvl="0" indent="0" algn="l" rtl="0">
              <a:lnSpc>
                <a:spcPct val="134000"/>
              </a:lnSpc>
              <a:spcBef>
                <a:spcPts val="1300"/>
              </a:spcBef>
              <a:spcAft>
                <a:spcPts val="0"/>
              </a:spcAft>
              <a:buNone/>
            </a:pPr>
            <a:r>
              <a:rPr lang="en-US" sz="1400">
                <a:solidFill>
                  <a:srgbClr val="D9E1FF"/>
                </a:solidFill>
                <a:latin typeface="Arial"/>
                <a:ea typeface="Arial"/>
                <a:cs typeface="Arial"/>
                <a:sym typeface="Arial"/>
              </a:rPr>
              <a:t>After a valid design is accepted, the system checks:</a:t>
            </a:r>
            <a:endParaRPr sz="1400">
              <a:latin typeface="Arial"/>
              <a:ea typeface="Arial"/>
              <a:cs typeface="Arial"/>
              <a:sym typeface="Arial"/>
            </a:endParaRPr>
          </a:p>
          <a:p>
            <a:pPr marL="0" lvl="0" indent="0" algn="l" rtl="0">
              <a:lnSpc>
                <a:spcPct val="100000"/>
              </a:lnSpc>
              <a:spcBef>
                <a:spcPts val="0"/>
              </a:spcBef>
              <a:spcAft>
                <a:spcPts val="0"/>
              </a:spcAft>
              <a:buNone/>
            </a:pPr>
            <a:endParaRPr sz="1400">
              <a:latin typeface="Arial"/>
              <a:ea typeface="Arial"/>
              <a:cs typeface="Arial"/>
              <a:sym typeface="Arial"/>
            </a:endParaRPr>
          </a:p>
          <a:p>
            <a:pPr marL="0" lvl="0" indent="0" algn="l" rtl="0">
              <a:lnSpc>
                <a:spcPct val="100000"/>
              </a:lnSpc>
              <a:spcBef>
                <a:spcPts val="105"/>
              </a:spcBef>
              <a:spcAft>
                <a:spcPts val="0"/>
              </a:spcAft>
              <a:buNone/>
            </a:pPr>
            <a:endParaRPr sz="1400">
              <a:latin typeface="Arial"/>
              <a:ea typeface="Arial"/>
              <a:cs typeface="Arial"/>
              <a:sym typeface="Arial"/>
            </a:endParaRPr>
          </a:p>
          <a:p>
            <a:pPr marL="604520" marR="144780" lvl="0" indent="0" algn="l" rtl="0">
              <a:lnSpc>
                <a:spcPct val="132000"/>
              </a:lnSpc>
              <a:spcBef>
                <a:spcPts val="0"/>
              </a:spcBef>
              <a:spcAft>
                <a:spcPts val="0"/>
              </a:spcAft>
              <a:buNone/>
            </a:pPr>
            <a:r>
              <a:rPr lang="en-US" sz="1400" b="1">
                <a:solidFill>
                  <a:srgbClr val="FFFFFF"/>
                </a:solidFill>
                <a:latin typeface="Arial"/>
                <a:ea typeface="Arial"/>
                <a:cs typeface="Arial"/>
                <a:sym typeface="Arial"/>
              </a:rPr>
              <a:t>Is If &gt; 30 mA? </a:t>
            </a:r>
            <a:r>
              <a:rPr lang="en-US" sz="1400">
                <a:solidFill>
                  <a:srgbClr val="FFFFFF"/>
                </a:solidFill>
                <a:latin typeface="Arial"/>
                <a:ea typeface="Arial"/>
                <a:cs typeface="Arial"/>
                <a:sym typeface="Arial"/>
              </a:rPr>
              <a:t>If yes, display: </a:t>
            </a:r>
            <a:r>
              <a:rPr lang="en-US" sz="1450" i="1">
                <a:solidFill>
                  <a:srgbClr val="FFFFFF"/>
                </a:solidFill>
                <a:latin typeface="Arial"/>
                <a:ea typeface="Arial"/>
                <a:cs typeface="Arial"/>
                <a:sym typeface="Arial"/>
              </a:rPr>
              <a:t>"Warning: LED current may be too high for a standard LED."</a:t>
            </a:r>
            <a:endParaRPr sz="1450">
              <a:latin typeface="Arial"/>
              <a:ea typeface="Arial"/>
              <a:cs typeface="Arial"/>
              <a:sym typeface="Arial"/>
            </a:endParaRPr>
          </a:p>
          <a:p>
            <a:pPr marL="0" lvl="0" indent="0" algn="l" rtl="0">
              <a:lnSpc>
                <a:spcPct val="100000"/>
              </a:lnSpc>
              <a:spcBef>
                <a:spcPts val="1660"/>
              </a:spcBef>
              <a:spcAft>
                <a:spcPts val="0"/>
              </a:spcAft>
              <a:buNone/>
            </a:pPr>
            <a:endParaRPr sz="1450">
              <a:latin typeface="Arial"/>
              <a:ea typeface="Arial"/>
              <a:cs typeface="Arial"/>
              <a:sym typeface="Arial"/>
            </a:endParaRPr>
          </a:p>
          <a:p>
            <a:pPr marL="12700" marR="5080" lvl="0" indent="0" algn="l" rtl="0">
              <a:lnSpc>
                <a:spcPct val="136000"/>
              </a:lnSpc>
              <a:spcBef>
                <a:spcPts val="0"/>
              </a:spcBef>
              <a:spcAft>
                <a:spcPts val="0"/>
              </a:spcAft>
              <a:buNone/>
            </a:pPr>
            <a:r>
              <a:rPr lang="en-US" sz="1400">
                <a:solidFill>
                  <a:srgbClr val="D9E1FF"/>
                </a:solidFill>
                <a:latin typeface="Arial"/>
                <a:ea typeface="Arial"/>
                <a:cs typeface="Arial"/>
                <a:sym typeface="Arial"/>
              </a:rPr>
              <a:t>This protects against overdriving standard LEDs, which typically operate safely at ≤ 20 mA. The warning is recorded alongside results but does not invalidate the design.</a:t>
            </a:r>
            <a:endParaRPr sz="1400">
              <a:latin typeface="Arial"/>
              <a:ea typeface="Arial"/>
              <a:cs typeface="Arial"/>
              <a:sym typeface="Arial"/>
            </a:endParaRPr>
          </a:p>
        </p:txBody>
      </p:sp>
      <p:pic>
        <p:nvPicPr>
          <p:cNvPr id="216" name="Google Shape;216;p17"/>
          <p:cNvPicPr preferRelativeResize="0"/>
          <p:nvPr/>
        </p:nvPicPr>
        <p:blipFill rotWithShape="1">
          <a:blip r:embed="rId3">
            <a:alphaModFix/>
          </a:blip>
          <a:srcRect/>
          <a:stretch/>
        </p:blipFill>
        <p:spPr>
          <a:xfrm>
            <a:off x="4352925" y="1800225"/>
            <a:ext cx="6448426" cy="36480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Shape 217"/>
        <p:cNvGrpSpPr/>
        <p:nvPr/>
      </p:nvGrpSpPr>
      <p:grpSpPr>
        <a:xfrm>
          <a:off x="0" y="0"/>
          <a:ext cx="0" cy="0"/>
          <a:chOff x="0" y="0"/>
          <a:chExt cx="0" cy="0"/>
        </a:xfrm>
      </p:grpSpPr>
      <p:sp>
        <p:nvSpPr>
          <p:cNvPr id="218" name="Google Shape;218;p18"/>
          <p:cNvSpPr/>
          <p:nvPr/>
        </p:nvSpPr>
        <p:spPr>
          <a:xfrm>
            <a:off x="-43815" y="0"/>
            <a:ext cx="11544300" cy="7613999"/>
          </a:xfrm>
          <a:custGeom>
            <a:avLst/>
            <a:gdLst/>
            <a:ahLst/>
            <a:cxnLst/>
            <a:rect l="l" t="t" r="r" b="b"/>
            <a:pathLst>
              <a:path w="11430000" h="6438900" extrusionOk="0">
                <a:moveTo>
                  <a:pt x="11430000" y="6438900"/>
                </a:moveTo>
                <a:lnTo>
                  <a:pt x="0" y="6438900"/>
                </a:lnTo>
                <a:lnTo>
                  <a:pt x="0" y="0"/>
                </a:lnTo>
                <a:lnTo>
                  <a:pt x="11430000" y="0"/>
                </a:lnTo>
                <a:lnTo>
                  <a:pt x="11430000" y="6438900"/>
                </a:lnTo>
                <a:close/>
              </a:path>
            </a:pathLst>
          </a:custGeom>
          <a:solidFill>
            <a:srgbClr val="0C0933"/>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19" name="Google Shape;219;p18"/>
          <p:cNvSpPr txBox="1">
            <a:spLocks noGrp="1"/>
          </p:cNvSpPr>
          <p:nvPr>
            <p:ph type="title"/>
          </p:nvPr>
        </p:nvSpPr>
        <p:spPr>
          <a:xfrm>
            <a:off x="624879" y="1825625"/>
            <a:ext cx="7385700" cy="539700"/>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a:t>Step 6: Results &amp; Report Output</a:t>
            </a:r>
            <a:endParaRPr/>
          </a:p>
        </p:txBody>
      </p:sp>
      <p:sp>
        <p:nvSpPr>
          <p:cNvPr id="220" name="Google Shape;220;p18"/>
          <p:cNvSpPr/>
          <p:nvPr/>
        </p:nvSpPr>
        <p:spPr>
          <a:xfrm>
            <a:off x="6858000" y="2781300"/>
            <a:ext cx="1895475" cy="247650"/>
          </a:xfrm>
          <a:custGeom>
            <a:avLst/>
            <a:gdLst/>
            <a:ahLst/>
            <a:cxnLst/>
            <a:rect l="l" t="t" r="r" b="b"/>
            <a:pathLst>
              <a:path w="1895475" h="247650" extrusionOk="0">
                <a:moveTo>
                  <a:pt x="1875720" y="247650"/>
                </a:moveTo>
                <a:lnTo>
                  <a:pt x="19754" y="247650"/>
                </a:lnTo>
                <a:lnTo>
                  <a:pt x="16849" y="247068"/>
                </a:lnTo>
                <a:lnTo>
                  <a:pt x="0" y="227895"/>
                </a:lnTo>
                <a:lnTo>
                  <a:pt x="0" y="224875"/>
                </a:lnTo>
                <a:lnTo>
                  <a:pt x="0" y="19754"/>
                </a:lnTo>
                <a:lnTo>
                  <a:pt x="19754" y="0"/>
                </a:lnTo>
                <a:lnTo>
                  <a:pt x="1875720" y="0"/>
                </a:lnTo>
                <a:lnTo>
                  <a:pt x="1895475" y="19754"/>
                </a:lnTo>
                <a:lnTo>
                  <a:pt x="1895475" y="227895"/>
                </a:lnTo>
                <a:lnTo>
                  <a:pt x="1878625" y="247068"/>
                </a:lnTo>
                <a:lnTo>
                  <a:pt x="1875720" y="247650"/>
                </a:lnTo>
                <a:close/>
              </a:path>
            </a:pathLst>
          </a:custGeom>
          <a:solidFill>
            <a:srgbClr val="181740"/>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21" name="Google Shape;221;p18"/>
          <p:cNvSpPr txBox="1"/>
          <p:nvPr/>
        </p:nvSpPr>
        <p:spPr>
          <a:xfrm>
            <a:off x="624879" y="2776982"/>
            <a:ext cx="8181300" cy="244500"/>
          </a:xfrm>
          <a:prstGeom prst="rect">
            <a:avLst/>
          </a:prstGeom>
          <a:noFill/>
          <a:ln>
            <a:noFill/>
          </a:ln>
        </p:spPr>
        <p:txBody>
          <a:bodyPr spcFirstLastPara="1" wrap="square" lIns="0" tIns="16500" rIns="0" bIns="0" anchor="t" anchorCtr="0">
            <a:spAutoFit/>
          </a:bodyPr>
          <a:lstStyle/>
          <a:p>
            <a:pPr marL="12700" lvl="0" indent="0" algn="l" rtl="0">
              <a:lnSpc>
                <a:spcPct val="100000"/>
              </a:lnSpc>
              <a:spcBef>
                <a:spcPts val="0"/>
              </a:spcBef>
              <a:spcAft>
                <a:spcPts val="0"/>
              </a:spcAft>
              <a:buNone/>
            </a:pPr>
            <a:r>
              <a:rPr lang="en-US" sz="1400">
                <a:solidFill>
                  <a:srgbClr val="D9E1FF"/>
                </a:solidFill>
                <a:latin typeface="Arial"/>
                <a:ea typeface="Arial"/>
                <a:cs typeface="Arial"/>
                <a:sym typeface="Arial"/>
              </a:rPr>
              <a:t>For every LED circuit — valid or invalid — results are displayed and saved to </a:t>
            </a:r>
            <a:r>
              <a:rPr lang="en-US" sz="1400">
                <a:solidFill>
                  <a:srgbClr val="D9E1FF"/>
                </a:solidFill>
                <a:latin typeface="Lucida Sans"/>
                <a:ea typeface="Lucida Sans"/>
                <a:cs typeface="Lucida Sans"/>
                <a:sym typeface="Lucida Sans"/>
              </a:rPr>
              <a:t>led_resistor_report.txt</a:t>
            </a:r>
            <a:r>
              <a:rPr lang="en-US" sz="1400">
                <a:solidFill>
                  <a:srgbClr val="D9E1FF"/>
                </a:solidFill>
                <a:latin typeface="Arial"/>
                <a:ea typeface="Arial"/>
                <a:cs typeface="Arial"/>
                <a:sym typeface="Arial"/>
              </a:rPr>
              <a:t>:</a:t>
            </a:r>
            <a:endParaRPr sz="1400">
              <a:latin typeface="Arial"/>
              <a:ea typeface="Arial"/>
              <a:cs typeface="Arial"/>
              <a:sym typeface="Arial"/>
            </a:endParaRPr>
          </a:p>
        </p:txBody>
      </p:sp>
      <p:grpSp>
        <p:nvGrpSpPr>
          <p:cNvPr id="222" name="Google Shape;222;p18"/>
          <p:cNvGrpSpPr/>
          <p:nvPr/>
        </p:nvGrpSpPr>
        <p:grpSpPr>
          <a:xfrm>
            <a:off x="692364" y="3267060"/>
            <a:ext cx="256540" cy="364860"/>
            <a:chOff x="692364" y="3267060"/>
            <a:chExt cx="256540" cy="364860"/>
          </a:xfrm>
        </p:grpSpPr>
        <p:sp>
          <p:nvSpPr>
            <p:cNvPr id="223" name="Google Shape;223;p18"/>
            <p:cNvSpPr/>
            <p:nvPr/>
          </p:nvSpPr>
          <p:spPr>
            <a:xfrm>
              <a:off x="692713" y="3267060"/>
              <a:ext cx="233044" cy="76200"/>
            </a:xfrm>
            <a:custGeom>
              <a:avLst/>
              <a:gdLst/>
              <a:ahLst/>
              <a:cxnLst/>
              <a:rect l="l" t="t" r="r" b="b"/>
              <a:pathLst>
                <a:path w="233044" h="76200" extrusionOk="0">
                  <a:moveTo>
                    <a:pt x="156014" y="36208"/>
                  </a:moveTo>
                  <a:lnTo>
                    <a:pt x="134041" y="775"/>
                  </a:lnTo>
                  <a:lnTo>
                    <a:pt x="128027" y="0"/>
                  </a:lnTo>
                  <a:lnTo>
                    <a:pt x="124507" y="184"/>
                  </a:lnTo>
                  <a:lnTo>
                    <a:pt x="99662" y="30043"/>
                  </a:lnTo>
                  <a:lnTo>
                    <a:pt x="99316" y="36119"/>
                  </a:lnTo>
                </a:path>
                <a:path w="233044" h="76200" extrusionOk="0">
                  <a:moveTo>
                    <a:pt x="0" y="69970"/>
                  </a:moveTo>
                  <a:lnTo>
                    <a:pt x="22014" y="46964"/>
                  </a:lnTo>
                  <a:lnTo>
                    <a:pt x="35382" y="46927"/>
                  </a:lnTo>
                </a:path>
                <a:path w="233044" h="76200" extrusionOk="0">
                  <a:moveTo>
                    <a:pt x="183507" y="46929"/>
                  </a:moveTo>
                  <a:lnTo>
                    <a:pt x="232733" y="46960"/>
                  </a:lnTo>
                </a:path>
                <a:path w="233044" h="76200" extrusionOk="0">
                  <a:moveTo>
                    <a:pt x="71667" y="76109"/>
                  </a:moveTo>
                  <a:lnTo>
                    <a:pt x="71275" y="36446"/>
                  </a:lnTo>
                </a:path>
                <a:path w="233044" h="76200" extrusionOk="0">
                  <a:moveTo>
                    <a:pt x="183457" y="76152"/>
                  </a:moveTo>
                  <a:lnTo>
                    <a:pt x="71667" y="76109"/>
                  </a:lnTo>
                </a:path>
                <a:path w="233044" h="76200" extrusionOk="0">
                  <a:moveTo>
                    <a:pt x="183500" y="36703"/>
                  </a:moveTo>
                  <a:lnTo>
                    <a:pt x="183457" y="76152"/>
                  </a:lnTo>
                </a:path>
                <a:path w="233044" h="76200" extrusionOk="0">
                  <a:moveTo>
                    <a:pt x="183500" y="36703"/>
                  </a:moveTo>
                  <a:lnTo>
                    <a:pt x="156014" y="36208"/>
                  </a:lnTo>
                </a:path>
                <a:path w="233044" h="76200" extrusionOk="0">
                  <a:moveTo>
                    <a:pt x="99316" y="36119"/>
                  </a:moveTo>
                  <a:lnTo>
                    <a:pt x="71275" y="36446"/>
                  </a:lnTo>
                </a:path>
              </a:pathLst>
            </a:custGeom>
            <a:noFill/>
            <a:ln w="16100" cap="flat" cmpd="sng">
              <a:solidFill>
                <a:srgbClr val="8061F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pic>
          <p:nvPicPr>
            <p:cNvPr id="224" name="Google Shape;224;p18"/>
            <p:cNvPicPr preferRelativeResize="0"/>
            <p:nvPr/>
          </p:nvPicPr>
          <p:blipFill rotWithShape="1">
            <a:blip r:embed="rId2">
              <a:alphaModFix/>
            </a:blip>
            <a:srcRect/>
            <a:stretch/>
          </p:blipFill>
          <p:spPr>
            <a:xfrm>
              <a:off x="726958" y="3382377"/>
              <a:ext cx="177710" cy="196402"/>
            </a:xfrm>
            <a:prstGeom prst="rect">
              <a:avLst/>
            </a:prstGeom>
            <a:noFill/>
            <a:ln>
              <a:noFill/>
            </a:ln>
          </p:spPr>
        </p:pic>
        <p:sp>
          <p:nvSpPr>
            <p:cNvPr id="225" name="Google Shape;225;p18"/>
            <p:cNvSpPr/>
            <p:nvPr/>
          </p:nvSpPr>
          <p:spPr>
            <a:xfrm>
              <a:off x="692364" y="3313785"/>
              <a:ext cx="256540" cy="318135"/>
            </a:xfrm>
            <a:custGeom>
              <a:avLst/>
              <a:gdLst/>
              <a:ahLst/>
              <a:cxnLst/>
              <a:rect l="l" t="t" r="r" b="b"/>
              <a:pathLst>
                <a:path w="256540" h="318135" extrusionOk="0">
                  <a:moveTo>
                    <a:pt x="233078" y="36"/>
                  </a:moveTo>
                  <a:lnTo>
                    <a:pt x="234840" y="0"/>
                  </a:lnTo>
                  <a:lnTo>
                    <a:pt x="236582" y="169"/>
                  </a:lnTo>
                  <a:lnTo>
                    <a:pt x="238304" y="545"/>
                  </a:lnTo>
                  <a:lnTo>
                    <a:pt x="240026" y="920"/>
                  </a:lnTo>
                  <a:lnTo>
                    <a:pt x="241680" y="1492"/>
                  </a:lnTo>
                  <a:lnTo>
                    <a:pt x="243267" y="2259"/>
                  </a:lnTo>
                  <a:lnTo>
                    <a:pt x="244854" y="3026"/>
                  </a:lnTo>
                  <a:lnTo>
                    <a:pt x="246329" y="3967"/>
                  </a:lnTo>
                  <a:lnTo>
                    <a:pt x="247694" y="5083"/>
                  </a:lnTo>
                  <a:lnTo>
                    <a:pt x="249058" y="6199"/>
                  </a:lnTo>
                  <a:lnTo>
                    <a:pt x="255538" y="18408"/>
                  </a:lnTo>
                  <a:lnTo>
                    <a:pt x="255851" y="20142"/>
                  </a:lnTo>
                  <a:lnTo>
                    <a:pt x="255958" y="21890"/>
                  </a:lnTo>
                  <a:lnTo>
                    <a:pt x="255859" y="23649"/>
                  </a:lnTo>
                  <a:lnTo>
                    <a:pt x="255759" y="25409"/>
                  </a:lnTo>
                  <a:lnTo>
                    <a:pt x="255456" y="27132"/>
                  </a:lnTo>
                  <a:lnTo>
                    <a:pt x="254949" y="28821"/>
                  </a:lnTo>
                </a:path>
                <a:path w="256540" h="318135" extrusionOk="0">
                  <a:moveTo>
                    <a:pt x="255621" y="29023"/>
                  </a:moveTo>
                  <a:lnTo>
                    <a:pt x="255639" y="293803"/>
                  </a:lnTo>
                </a:path>
                <a:path w="256540" h="318135" extrusionOk="0">
                  <a:moveTo>
                    <a:pt x="255713" y="293798"/>
                  </a:moveTo>
                  <a:lnTo>
                    <a:pt x="255816" y="295604"/>
                  </a:lnTo>
                  <a:lnTo>
                    <a:pt x="255703" y="297395"/>
                  </a:lnTo>
                  <a:lnTo>
                    <a:pt x="255374" y="299173"/>
                  </a:lnTo>
                  <a:lnTo>
                    <a:pt x="255045" y="300951"/>
                  </a:lnTo>
                  <a:lnTo>
                    <a:pt x="237470" y="317200"/>
                  </a:lnTo>
                  <a:lnTo>
                    <a:pt x="235695" y="317544"/>
                  </a:lnTo>
                  <a:lnTo>
                    <a:pt x="233904" y="317669"/>
                  </a:lnTo>
                  <a:lnTo>
                    <a:pt x="232098" y="317576"/>
                  </a:lnTo>
                  <a:lnTo>
                    <a:pt x="230292" y="317487"/>
                  </a:lnTo>
                  <a:lnTo>
                    <a:pt x="228523" y="317186"/>
                  </a:lnTo>
                  <a:lnTo>
                    <a:pt x="226790" y="316670"/>
                  </a:lnTo>
                </a:path>
                <a:path w="256540" h="318135" extrusionOk="0">
                  <a:moveTo>
                    <a:pt x="226594" y="317325"/>
                  </a:moveTo>
                  <a:lnTo>
                    <a:pt x="25336" y="317340"/>
                  </a:lnTo>
                </a:path>
                <a:path w="256540" h="318135" extrusionOk="0">
                  <a:moveTo>
                    <a:pt x="25330" y="317282"/>
                  </a:moveTo>
                  <a:lnTo>
                    <a:pt x="23464" y="317490"/>
                  </a:lnTo>
                  <a:lnTo>
                    <a:pt x="21600" y="317472"/>
                  </a:lnTo>
                  <a:lnTo>
                    <a:pt x="19740" y="317218"/>
                  </a:lnTo>
                  <a:lnTo>
                    <a:pt x="17880" y="316967"/>
                  </a:lnTo>
                  <a:lnTo>
                    <a:pt x="16077" y="316491"/>
                  </a:lnTo>
                  <a:lnTo>
                    <a:pt x="14335" y="315792"/>
                  </a:lnTo>
                  <a:lnTo>
                    <a:pt x="12592" y="315097"/>
                  </a:lnTo>
                  <a:lnTo>
                    <a:pt x="10961" y="314194"/>
                  </a:lnTo>
                  <a:lnTo>
                    <a:pt x="9441" y="313090"/>
                  </a:lnTo>
                  <a:lnTo>
                    <a:pt x="7921" y="311990"/>
                  </a:lnTo>
                  <a:lnTo>
                    <a:pt x="6559" y="310718"/>
                  </a:lnTo>
                  <a:lnTo>
                    <a:pt x="5354" y="309278"/>
                  </a:lnTo>
                  <a:lnTo>
                    <a:pt x="4150" y="307838"/>
                  </a:lnTo>
                  <a:lnTo>
                    <a:pt x="3139" y="306272"/>
                  </a:lnTo>
                  <a:lnTo>
                    <a:pt x="2323" y="304581"/>
                  </a:lnTo>
                  <a:lnTo>
                    <a:pt x="1506" y="302891"/>
                  </a:lnTo>
                  <a:lnTo>
                    <a:pt x="908" y="301126"/>
                  </a:lnTo>
                  <a:lnTo>
                    <a:pt x="528" y="299287"/>
                  </a:lnTo>
                  <a:lnTo>
                    <a:pt x="149" y="297448"/>
                  </a:lnTo>
                  <a:lnTo>
                    <a:pt x="0" y="295591"/>
                  </a:lnTo>
                  <a:lnTo>
                    <a:pt x="80" y="293715"/>
                  </a:lnTo>
                  <a:lnTo>
                    <a:pt x="161" y="291839"/>
                  </a:lnTo>
                  <a:lnTo>
                    <a:pt x="470" y="290002"/>
                  </a:lnTo>
                  <a:lnTo>
                    <a:pt x="1006" y="288202"/>
                  </a:lnTo>
                </a:path>
                <a:path w="256540" h="318135" extrusionOk="0">
                  <a:moveTo>
                    <a:pt x="340" y="288004"/>
                  </a:moveTo>
                  <a:lnTo>
                    <a:pt x="348" y="23244"/>
                  </a:lnTo>
                </a:path>
                <a:path w="256540" h="318135" extrusionOk="0">
                  <a:moveTo>
                    <a:pt x="35731" y="202"/>
                  </a:moveTo>
                  <a:lnTo>
                    <a:pt x="71680" y="204"/>
                  </a:lnTo>
                </a:path>
              </a:pathLst>
            </a:custGeom>
            <a:noFill/>
            <a:ln w="16100" cap="flat" cmpd="sng">
              <a:solidFill>
                <a:srgbClr val="8061F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226" name="Google Shape;226;p18"/>
          <p:cNvSpPr txBox="1"/>
          <p:nvPr/>
        </p:nvSpPr>
        <p:spPr>
          <a:xfrm>
            <a:off x="1216920" y="3297237"/>
            <a:ext cx="2645400" cy="1238400"/>
          </a:xfrm>
          <a:prstGeom prst="rect">
            <a:avLst/>
          </a:prstGeom>
          <a:noFill/>
          <a:ln>
            <a:noFill/>
          </a:ln>
        </p:spPr>
        <p:txBody>
          <a:bodyPr spcFirstLastPara="1" wrap="square" lIns="0" tIns="17125" rIns="0" bIns="0" anchor="t" anchorCtr="0">
            <a:spAutoFit/>
          </a:bodyPr>
          <a:lstStyle/>
          <a:p>
            <a:pPr marL="12700" lvl="0" indent="0" algn="l" rtl="0">
              <a:lnSpc>
                <a:spcPct val="100000"/>
              </a:lnSpc>
              <a:spcBef>
                <a:spcPts val="0"/>
              </a:spcBef>
              <a:spcAft>
                <a:spcPts val="0"/>
              </a:spcAft>
              <a:buNone/>
            </a:pPr>
            <a:r>
              <a:rPr lang="en-US" sz="1650" b="1">
                <a:solidFill>
                  <a:srgbClr val="D9E1FF"/>
                </a:solidFill>
                <a:latin typeface="Trebuchet MS"/>
                <a:ea typeface="Trebuchet MS"/>
                <a:cs typeface="Trebuchet MS"/>
                <a:sym typeface="Trebuchet MS"/>
              </a:rPr>
              <a:t>Displayed Results</a:t>
            </a:r>
            <a:endParaRPr sz="1650">
              <a:latin typeface="Trebuchet MS"/>
              <a:ea typeface="Trebuchet MS"/>
              <a:cs typeface="Trebuchet MS"/>
              <a:sym typeface="Trebuchet MS"/>
            </a:endParaRPr>
          </a:p>
          <a:p>
            <a:pPr marL="12700" lvl="0" indent="0" algn="l" rtl="0">
              <a:lnSpc>
                <a:spcPct val="100000"/>
              </a:lnSpc>
              <a:spcBef>
                <a:spcPts val="1270"/>
              </a:spcBef>
              <a:spcAft>
                <a:spcPts val="0"/>
              </a:spcAft>
              <a:buNone/>
            </a:pPr>
            <a:r>
              <a:rPr lang="en-US" sz="1400">
                <a:solidFill>
                  <a:srgbClr val="D9E1FF"/>
                </a:solidFill>
                <a:latin typeface="Arial"/>
                <a:ea typeface="Arial"/>
                <a:cs typeface="Arial"/>
                <a:sym typeface="Arial"/>
              </a:rPr>
              <a:t>LED Name, Vs, Vf, If (mA), I (A),</a:t>
            </a:r>
            <a:endParaRPr sz="1400">
              <a:latin typeface="Arial"/>
              <a:ea typeface="Arial"/>
              <a:cs typeface="Arial"/>
              <a:sym typeface="Arial"/>
            </a:endParaRPr>
          </a:p>
          <a:p>
            <a:pPr marL="12700" marR="337185" lvl="0" indent="0" algn="l" rtl="0">
              <a:lnSpc>
                <a:spcPct val="134000"/>
              </a:lnSpc>
              <a:spcBef>
                <a:spcPts val="75"/>
              </a:spcBef>
              <a:spcAft>
                <a:spcPts val="0"/>
              </a:spcAft>
              <a:buNone/>
            </a:pPr>
            <a:r>
              <a:rPr lang="en-US" sz="1400">
                <a:solidFill>
                  <a:srgbClr val="D9E1FF"/>
                </a:solidFill>
                <a:latin typeface="Arial"/>
                <a:ea typeface="Arial"/>
                <a:cs typeface="Arial"/>
                <a:sym typeface="Arial"/>
              </a:rPr>
              <a:t>R (Ω), P (W), Design Status, and any warning message.</a:t>
            </a:r>
            <a:endParaRPr sz="1400">
              <a:latin typeface="Arial"/>
              <a:ea typeface="Arial"/>
              <a:cs typeface="Arial"/>
              <a:sym typeface="Arial"/>
            </a:endParaRPr>
          </a:p>
        </p:txBody>
      </p:sp>
      <p:grpSp>
        <p:nvGrpSpPr>
          <p:cNvPr id="227" name="Google Shape;227;p18"/>
          <p:cNvGrpSpPr/>
          <p:nvPr/>
        </p:nvGrpSpPr>
        <p:grpSpPr>
          <a:xfrm>
            <a:off x="4116201" y="3258992"/>
            <a:ext cx="323423" cy="380468"/>
            <a:chOff x="4116201" y="3258992"/>
            <a:chExt cx="323423" cy="380468"/>
          </a:xfrm>
        </p:grpSpPr>
        <p:pic>
          <p:nvPicPr>
            <p:cNvPr id="228" name="Google Shape;228;p18"/>
            <p:cNvPicPr preferRelativeResize="0"/>
            <p:nvPr/>
          </p:nvPicPr>
          <p:blipFill rotWithShape="1">
            <a:blip r:embed="rId3">
              <a:alphaModFix/>
            </a:blip>
            <a:srcRect/>
            <a:stretch/>
          </p:blipFill>
          <p:spPr>
            <a:xfrm>
              <a:off x="4116201" y="3258992"/>
              <a:ext cx="323423" cy="380468"/>
            </a:xfrm>
            <a:prstGeom prst="rect">
              <a:avLst/>
            </a:prstGeom>
            <a:noFill/>
            <a:ln>
              <a:noFill/>
            </a:ln>
          </p:spPr>
        </p:pic>
        <p:sp>
          <p:nvSpPr>
            <p:cNvPr id="229" name="Google Shape;229;p18"/>
            <p:cNvSpPr/>
            <p:nvPr/>
          </p:nvSpPr>
          <p:spPr>
            <a:xfrm>
              <a:off x="4124270" y="3310788"/>
              <a:ext cx="635" cy="271145"/>
            </a:xfrm>
            <a:custGeom>
              <a:avLst/>
              <a:gdLst/>
              <a:ahLst/>
              <a:cxnLst/>
              <a:rect l="l" t="t" r="r" b="b"/>
              <a:pathLst>
                <a:path w="635" h="271145" extrusionOk="0">
                  <a:moveTo>
                    <a:pt x="0" y="270648"/>
                  </a:moveTo>
                  <a:lnTo>
                    <a:pt x="77" y="0"/>
                  </a:lnTo>
                </a:path>
              </a:pathLst>
            </a:custGeom>
            <a:noFill/>
            <a:ln w="16125" cap="flat" cmpd="sng">
              <a:solidFill>
                <a:srgbClr val="8061F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230" name="Google Shape;230;p18"/>
          <p:cNvSpPr txBox="1"/>
          <p:nvPr/>
        </p:nvSpPr>
        <p:spPr>
          <a:xfrm>
            <a:off x="4677762" y="3297237"/>
            <a:ext cx="2393400" cy="1238400"/>
          </a:xfrm>
          <a:prstGeom prst="rect">
            <a:avLst/>
          </a:prstGeom>
          <a:noFill/>
          <a:ln>
            <a:noFill/>
          </a:ln>
        </p:spPr>
        <p:txBody>
          <a:bodyPr spcFirstLastPara="1" wrap="square" lIns="0" tIns="17125" rIns="0" bIns="0" anchor="t" anchorCtr="0">
            <a:spAutoFit/>
          </a:bodyPr>
          <a:lstStyle/>
          <a:p>
            <a:pPr marL="12700" lvl="0" indent="0" algn="l" rtl="0">
              <a:lnSpc>
                <a:spcPct val="100000"/>
              </a:lnSpc>
              <a:spcBef>
                <a:spcPts val="0"/>
              </a:spcBef>
              <a:spcAft>
                <a:spcPts val="0"/>
              </a:spcAft>
              <a:buNone/>
            </a:pPr>
            <a:r>
              <a:rPr lang="en-US" sz="1650" b="1">
                <a:solidFill>
                  <a:srgbClr val="D9E1FF"/>
                </a:solidFill>
                <a:latin typeface="Trebuchet MS"/>
                <a:ea typeface="Trebuchet MS"/>
                <a:cs typeface="Trebuchet MS"/>
                <a:sym typeface="Trebuchet MS"/>
              </a:rPr>
              <a:t>Saved to File</a:t>
            </a:r>
            <a:endParaRPr sz="1650">
              <a:latin typeface="Trebuchet MS"/>
              <a:ea typeface="Trebuchet MS"/>
              <a:cs typeface="Trebuchet MS"/>
              <a:sym typeface="Trebuchet MS"/>
            </a:endParaRPr>
          </a:p>
          <a:p>
            <a:pPr marL="12700" marR="5080" lvl="0" indent="0" algn="l" rtl="0">
              <a:lnSpc>
                <a:spcPct val="136000"/>
              </a:lnSpc>
              <a:spcBef>
                <a:spcPts val="665"/>
              </a:spcBef>
              <a:spcAft>
                <a:spcPts val="0"/>
              </a:spcAft>
              <a:buNone/>
            </a:pPr>
            <a:r>
              <a:rPr lang="en-US" sz="1400">
                <a:solidFill>
                  <a:srgbClr val="D9E1FF"/>
                </a:solidFill>
                <a:latin typeface="Arial"/>
                <a:ea typeface="Arial"/>
                <a:cs typeface="Arial"/>
                <a:sym typeface="Arial"/>
              </a:rPr>
              <a:t>All results are written to the report file for each iteration of the loop.</a:t>
            </a:r>
            <a:endParaRPr sz="1400">
              <a:latin typeface="Arial"/>
              <a:ea typeface="Arial"/>
              <a:cs typeface="Arial"/>
              <a:sym typeface="Arial"/>
            </a:endParaRPr>
          </a:p>
        </p:txBody>
      </p:sp>
      <p:pic>
        <p:nvPicPr>
          <p:cNvPr id="231" name="Google Shape;231;p18"/>
          <p:cNvPicPr preferRelativeResize="0"/>
          <p:nvPr/>
        </p:nvPicPr>
        <p:blipFill rotWithShape="1">
          <a:blip r:embed="rId4">
            <a:alphaModFix/>
          </a:blip>
          <a:srcRect/>
          <a:stretch/>
        </p:blipFill>
        <p:spPr>
          <a:xfrm>
            <a:off x="7554783" y="3259930"/>
            <a:ext cx="380468" cy="378595"/>
          </a:xfrm>
          <a:prstGeom prst="rect">
            <a:avLst/>
          </a:prstGeom>
          <a:noFill/>
          <a:ln>
            <a:noFill/>
          </a:ln>
        </p:spPr>
      </p:pic>
      <p:sp>
        <p:nvSpPr>
          <p:cNvPr id="232" name="Google Shape;232;p18"/>
          <p:cNvSpPr txBox="1"/>
          <p:nvPr/>
        </p:nvSpPr>
        <p:spPr>
          <a:xfrm>
            <a:off x="8138614" y="3297237"/>
            <a:ext cx="2538600" cy="1238400"/>
          </a:xfrm>
          <a:prstGeom prst="rect">
            <a:avLst/>
          </a:prstGeom>
          <a:noFill/>
          <a:ln>
            <a:noFill/>
          </a:ln>
        </p:spPr>
        <p:txBody>
          <a:bodyPr spcFirstLastPara="1" wrap="square" lIns="0" tIns="17125" rIns="0" bIns="0" anchor="t" anchorCtr="0">
            <a:spAutoFit/>
          </a:bodyPr>
          <a:lstStyle/>
          <a:p>
            <a:pPr marL="12700" lvl="0" indent="0" algn="l" rtl="0">
              <a:lnSpc>
                <a:spcPct val="100000"/>
              </a:lnSpc>
              <a:spcBef>
                <a:spcPts val="0"/>
              </a:spcBef>
              <a:spcAft>
                <a:spcPts val="0"/>
              </a:spcAft>
              <a:buNone/>
            </a:pPr>
            <a:r>
              <a:rPr lang="en-US" sz="1650" b="1">
                <a:solidFill>
                  <a:srgbClr val="D9E1FF"/>
                </a:solidFill>
                <a:latin typeface="Trebuchet MS"/>
                <a:ea typeface="Trebuchet MS"/>
                <a:cs typeface="Trebuchet MS"/>
                <a:sym typeface="Trebuchet MS"/>
              </a:rPr>
              <a:t>Completion Messaąe</a:t>
            </a:r>
            <a:endParaRPr sz="1650">
              <a:latin typeface="Trebuchet MS"/>
              <a:ea typeface="Trebuchet MS"/>
              <a:cs typeface="Trebuchet MS"/>
              <a:sym typeface="Trebuchet MS"/>
            </a:endParaRPr>
          </a:p>
          <a:p>
            <a:pPr marL="12700" marR="5080" lvl="0" indent="0" algn="l" rtl="0">
              <a:lnSpc>
                <a:spcPct val="133000"/>
              </a:lnSpc>
              <a:spcBef>
                <a:spcPts val="650"/>
              </a:spcBef>
              <a:spcAft>
                <a:spcPts val="0"/>
              </a:spcAft>
              <a:buNone/>
            </a:pPr>
            <a:r>
              <a:rPr lang="en-US" sz="1400">
                <a:solidFill>
                  <a:srgbClr val="D9E1FF"/>
                </a:solidFill>
                <a:latin typeface="Arial"/>
                <a:ea typeface="Arial"/>
                <a:cs typeface="Arial"/>
                <a:sym typeface="Arial"/>
              </a:rPr>
              <a:t>After all N calculations: </a:t>
            </a:r>
            <a:r>
              <a:rPr lang="en-US" sz="1450" i="1">
                <a:solidFill>
                  <a:srgbClr val="D9E1FF"/>
                </a:solidFill>
                <a:latin typeface="Arial"/>
                <a:ea typeface="Arial"/>
                <a:cs typeface="Arial"/>
                <a:sym typeface="Arial"/>
              </a:rPr>
              <a:t>"Report saved successfully." </a:t>
            </a:r>
            <a:r>
              <a:rPr lang="en-US" sz="1400">
                <a:solidFill>
                  <a:srgbClr val="D9E1FF"/>
                </a:solidFill>
                <a:latin typeface="Arial"/>
                <a:ea typeface="Arial"/>
                <a:cs typeface="Arial"/>
                <a:sym typeface="Arial"/>
              </a:rPr>
              <a:t>File is closed and system ends.</a:t>
            </a:r>
            <a:endParaRPr sz="1400">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20"/>
          <p:cNvSpPr/>
          <p:nvPr/>
        </p:nvSpPr>
        <p:spPr>
          <a:xfrm>
            <a:off x="0" y="0"/>
            <a:ext cx="11544300" cy="7613999"/>
          </a:xfrm>
          <a:custGeom>
            <a:avLst/>
            <a:gdLst/>
            <a:ahLst/>
            <a:cxnLst/>
            <a:rect l="l" t="t" r="r" b="b"/>
            <a:pathLst>
              <a:path w="11430000" h="6438900" extrusionOk="0">
                <a:moveTo>
                  <a:pt x="11430000" y="6438900"/>
                </a:moveTo>
                <a:lnTo>
                  <a:pt x="0" y="6438900"/>
                </a:lnTo>
                <a:lnTo>
                  <a:pt x="0" y="0"/>
                </a:lnTo>
                <a:lnTo>
                  <a:pt x="11430000" y="0"/>
                </a:lnTo>
                <a:lnTo>
                  <a:pt x="11430000" y="6438900"/>
                </a:lnTo>
                <a:close/>
              </a:path>
            </a:pathLst>
          </a:custGeom>
          <a:solidFill>
            <a:srgbClr val="0C0933"/>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40" name="Google Shape;240;p20"/>
          <p:cNvSpPr txBox="1">
            <a:spLocks noGrp="1"/>
          </p:cNvSpPr>
          <p:nvPr>
            <p:ph type="title"/>
          </p:nvPr>
        </p:nvSpPr>
        <p:spPr>
          <a:xfrm>
            <a:off x="2038342" y="230474"/>
            <a:ext cx="7385700" cy="535500"/>
          </a:xfrm>
          <a:prstGeom prst="rect">
            <a:avLst/>
          </a:prstGeom>
          <a:noFill/>
          <a:ln>
            <a:noFill/>
          </a:ln>
        </p:spPr>
        <p:txBody>
          <a:bodyPr spcFirstLastPara="1" wrap="square" lIns="0" tIns="15875" rIns="0" bIns="0" anchor="t" anchorCtr="0">
            <a:spAutoFit/>
          </a:bodyPr>
          <a:lstStyle/>
          <a:p>
            <a:pPr marL="12700" lvl="0" indent="0" algn="ctr" rtl="0">
              <a:lnSpc>
                <a:spcPct val="100000"/>
              </a:lnSpc>
              <a:spcBef>
                <a:spcPts val="0"/>
              </a:spcBef>
              <a:spcAft>
                <a:spcPts val="0"/>
              </a:spcAft>
              <a:buNone/>
            </a:pPr>
            <a:r>
              <a:rPr lang="en-US"/>
              <a:t>ALGORITHM</a:t>
            </a:r>
            <a:endParaRPr/>
          </a:p>
        </p:txBody>
      </p:sp>
      <p:sp>
        <p:nvSpPr>
          <p:cNvPr id="241" name="Google Shape;241;p20"/>
          <p:cNvSpPr/>
          <p:nvPr/>
        </p:nvSpPr>
        <p:spPr>
          <a:xfrm>
            <a:off x="6858000" y="2781300"/>
            <a:ext cx="1895475" cy="247650"/>
          </a:xfrm>
          <a:custGeom>
            <a:avLst/>
            <a:gdLst/>
            <a:ahLst/>
            <a:cxnLst/>
            <a:rect l="l" t="t" r="r" b="b"/>
            <a:pathLst>
              <a:path w="1895475" h="247650" extrusionOk="0">
                <a:moveTo>
                  <a:pt x="1875720" y="247650"/>
                </a:moveTo>
                <a:lnTo>
                  <a:pt x="19754" y="247650"/>
                </a:lnTo>
                <a:lnTo>
                  <a:pt x="16849" y="247068"/>
                </a:lnTo>
                <a:lnTo>
                  <a:pt x="0" y="227895"/>
                </a:lnTo>
                <a:lnTo>
                  <a:pt x="0" y="224875"/>
                </a:lnTo>
                <a:lnTo>
                  <a:pt x="0" y="19754"/>
                </a:lnTo>
                <a:lnTo>
                  <a:pt x="19754" y="0"/>
                </a:lnTo>
                <a:lnTo>
                  <a:pt x="1875720" y="0"/>
                </a:lnTo>
                <a:lnTo>
                  <a:pt x="1895475" y="19754"/>
                </a:lnTo>
                <a:lnTo>
                  <a:pt x="1895475" y="227895"/>
                </a:lnTo>
                <a:lnTo>
                  <a:pt x="1878625" y="247068"/>
                </a:lnTo>
                <a:lnTo>
                  <a:pt x="1875720" y="247650"/>
                </a:lnTo>
                <a:close/>
              </a:path>
            </a:pathLst>
          </a:custGeom>
          <a:solidFill>
            <a:srgbClr val="181740"/>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42" name="Google Shape;242;p20"/>
          <p:cNvSpPr txBox="1"/>
          <p:nvPr/>
        </p:nvSpPr>
        <p:spPr>
          <a:xfrm>
            <a:off x="278376" y="765974"/>
            <a:ext cx="5280214" cy="6941634"/>
          </a:xfrm>
          <a:prstGeom prst="rect">
            <a:avLst/>
          </a:prstGeom>
          <a:noFill/>
          <a:ln>
            <a:noFill/>
          </a:ln>
        </p:spPr>
        <p:txBody>
          <a:bodyPr spcFirstLastPara="1" wrap="square" lIns="0" tIns="16500" rIns="0" bIns="0" anchor="t" anchorCtr="0">
            <a:spAutoFit/>
          </a:bodyPr>
          <a:lstStyle/>
          <a:p>
            <a:pPr marL="0" lvl="0" indent="0" algn="l" rtl="0">
              <a:lnSpc>
                <a:spcPct val="100000"/>
              </a:lnSpc>
              <a:spcBef>
                <a:spcPts val="0"/>
              </a:spcBef>
              <a:spcAft>
                <a:spcPts val="0"/>
              </a:spcAft>
              <a:buNone/>
            </a:pPr>
            <a:r>
              <a:rPr lang="en-US" dirty="0">
                <a:solidFill>
                  <a:srgbClr val="D9E1FF"/>
                </a:solidFill>
              </a:rPr>
              <a:t> LED Resistor Value Calculator System</a:t>
            </a:r>
            <a:endParaRPr dirty="0">
              <a:solidFill>
                <a:srgbClr val="D9E1FF"/>
              </a:solidFill>
            </a:endParaRPr>
          </a:p>
          <a:p>
            <a:pPr marL="0" lvl="0" indent="0" algn="l" rtl="0">
              <a:lnSpc>
                <a:spcPct val="100000"/>
              </a:lnSpc>
              <a:spcBef>
                <a:spcPts val="0"/>
              </a:spcBef>
              <a:spcAft>
                <a:spcPts val="0"/>
              </a:spcAft>
              <a:buNone/>
            </a:pPr>
            <a:r>
              <a:rPr lang="en-US" dirty="0">
                <a:solidFill>
                  <a:srgbClr val="D9E1FF"/>
                </a:solidFill>
              </a:rPr>
              <a:t>1. Start the program.</a:t>
            </a:r>
            <a:endParaRPr dirty="0">
              <a:solidFill>
                <a:srgbClr val="D9E1FF"/>
              </a:solidFill>
            </a:endParaRPr>
          </a:p>
          <a:p>
            <a:pPr marL="0" lvl="0" indent="0" algn="l" rtl="0">
              <a:lnSpc>
                <a:spcPct val="100000"/>
              </a:lnSpc>
              <a:spcBef>
                <a:spcPts val="0"/>
              </a:spcBef>
              <a:spcAft>
                <a:spcPts val="0"/>
              </a:spcAft>
              <a:buNone/>
            </a:pPr>
            <a:r>
              <a:rPr lang="en-US" dirty="0">
                <a:solidFill>
                  <a:srgbClr val="D9E1FF"/>
                </a:solidFill>
              </a:rPr>
              <a:t>2. Display the program title: "LED Resistor Value Calculator System".</a:t>
            </a:r>
            <a:endParaRPr dirty="0">
              <a:solidFill>
                <a:srgbClr val="D9E1FF"/>
              </a:solidFill>
            </a:endParaRPr>
          </a:p>
          <a:p>
            <a:pPr marL="0" lvl="0" indent="0" algn="l" rtl="0">
              <a:lnSpc>
                <a:spcPct val="100000"/>
              </a:lnSpc>
              <a:spcBef>
                <a:spcPts val="0"/>
              </a:spcBef>
              <a:spcAft>
                <a:spcPts val="0"/>
              </a:spcAft>
              <a:buNone/>
            </a:pPr>
            <a:r>
              <a:rPr lang="en-US" dirty="0">
                <a:solidFill>
                  <a:srgbClr val="D9E1FF"/>
                </a:solidFill>
              </a:rPr>
              <a:t>3. Ask the user to enter the number of LED circuit calculations to perform.</a:t>
            </a:r>
            <a:endParaRPr dirty="0">
              <a:solidFill>
                <a:srgbClr val="D9E1FF"/>
              </a:solidFill>
            </a:endParaRPr>
          </a:p>
          <a:p>
            <a:pPr marL="0" lvl="0" indent="0" algn="l" rtl="0">
              <a:lnSpc>
                <a:spcPct val="100000"/>
              </a:lnSpc>
              <a:spcBef>
                <a:spcPts val="0"/>
              </a:spcBef>
              <a:spcAft>
                <a:spcPts val="0"/>
              </a:spcAft>
              <a:buNone/>
            </a:pPr>
            <a:r>
              <a:rPr lang="en-US" dirty="0">
                <a:solidFill>
                  <a:srgbClr val="D9E1FF"/>
                </a:solidFill>
              </a:rPr>
              <a:t>4. Repeat the following steps for each LED circuit:</a:t>
            </a:r>
            <a:endParaRPr dirty="0">
              <a:solidFill>
                <a:srgbClr val="D9E1FF"/>
              </a:solidFill>
            </a:endParaRPr>
          </a:p>
          <a:p>
            <a:pPr marL="0" lvl="0" indent="0" algn="l" rtl="0">
              <a:lnSpc>
                <a:spcPct val="100000"/>
              </a:lnSpc>
              <a:spcBef>
                <a:spcPts val="0"/>
              </a:spcBef>
              <a:spcAft>
                <a:spcPts val="0"/>
              </a:spcAft>
              <a:buNone/>
            </a:pPr>
            <a:r>
              <a:rPr lang="en-US" dirty="0">
                <a:solidFill>
                  <a:srgbClr val="D9E1FF"/>
                </a:solidFill>
              </a:rPr>
              <a:t>a. Prompt the user to enter:</a:t>
            </a:r>
            <a:endParaRPr dirty="0">
              <a:solidFill>
                <a:srgbClr val="D9E1FF"/>
              </a:solidFill>
            </a:endParaRPr>
          </a:p>
          <a:p>
            <a:pPr marL="0" lvl="0" indent="0" algn="l" rtl="0">
              <a:lnSpc>
                <a:spcPct val="100000"/>
              </a:lnSpc>
              <a:spcBef>
                <a:spcPts val="0"/>
              </a:spcBef>
              <a:spcAft>
                <a:spcPts val="0"/>
              </a:spcAft>
              <a:buNone/>
            </a:pPr>
            <a:r>
              <a:rPr lang="en-US" dirty="0">
                <a:solidFill>
                  <a:srgbClr val="D9E1FF"/>
                </a:solidFill>
              </a:rPr>
              <a:t>●LED name</a:t>
            </a:r>
            <a:endParaRPr dirty="0">
              <a:solidFill>
                <a:srgbClr val="D9E1FF"/>
              </a:solidFill>
            </a:endParaRPr>
          </a:p>
          <a:p>
            <a:pPr marL="0" lvl="0" indent="0" algn="l" rtl="0">
              <a:lnSpc>
                <a:spcPct val="100000"/>
              </a:lnSpc>
              <a:spcBef>
                <a:spcPts val="0"/>
              </a:spcBef>
              <a:spcAft>
                <a:spcPts val="0"/>
              </a:spcAft>
              <a:buNone/>
            </a:pPr>
            <a:r>
              <a:rPr lang="en-US" dirty="0">
                <a:solidFill>
                  <a:srgbClr val="D9E1FF"/>
                </a:solidFill>
              </a:rPr>
              <a:t>●Supply voltage (Vs)</a:t>
            </a:r>
            <a:endParaRPr dirty="0">
              <a:solidFill>
                <a:srgbClr val="D9E1FF"/>
              </a:solidFill>
            </a:endParaRPr>
          </a:p>
          <a:p>
            <a:pPr marL="0" lvl="0" indent="0" algn="l" rtl="0">
              <a:lnSpc>
                <a:spcPct val="100000"/>
              </a:lnSpc>
              <a:spcBef>
                <a:spcPts val="0"/>
              </a:spcBef>
              <a:spcAft>
                <a:spcPts val="0"/>
              </a:spcAft>
              <a:buNone/>
            </a:pPr>
            <a:r>
              <a:rPr lang="en-US" dirty="0">
                <a:solidFill>
                  <a:srgbClr val="D9E1FF"/>
                </a:solidFill>
              </a:rPr>
              <a:t>●Forward voltage ( </a:t>
            </a:r>
            <a:r>
              <a:rPr lang="en-US" dirty="0" err="1">
                <a:solidFill>
                  <a:srgbClr val="D9E1FF"/>
                </a:solidFill>
              </a:rPr>
              <a:t>Vf</a:t>
            </a:r>
            <a:r>
              <a:rPr lang="en-US" dirty="0">
                <a:solidFill>
                  <a:srgbClr val="D9E1FF"/>
                </a:solidFill>
              </a:rPr>
              <a:t> )</a:t>
            </a:r>
            <a:endParaRPr dirty="0">
              <a:solidFill>
                <a:srgbClr val="D9E1FF"/>
              </a:solidFill>
            </a:endParaRPr>
          </a:p>
          <a:p>
            <a:pPr marL="0" lvl="0" indent="0" algn="l" rtl="0">
              <a:lnSpc>
                <a:spcPct val="100000"/>
              </a:lnSpc>
              <a:spcBef>
                <a:spcPts val="0"/>
              </a:spcBef>
              <a:spcAft>
                <a:spcPts val="0"/>
              </a:spcAft>
              <a:buNone/>
            </a:pPr>
            <a:r>
              <a:rPr lang="en-US" dirty="0">
                <a:solidFill>
                  <a:srgbClr val="D9E1FF"/>
                </a:solidFill>
              </a:rPr>
              <a:t>●LED current (If) in milliamperes (mA)</a:t>
            </a:r>
            <a:endParaRPr dirty="0">
              <a:solidFill>
                <a:srgbClr val="D9E1FF"/>
              </a:solidFill>
            </a:endParaRPr>
          </a:p>
          <a:p>
            <a:pPr marL="0" lvl="0" indent="0" algn="l" rtl="0">
              <a:lnSpc>
                <a:spcPct val="100000"/>
              </a:lnSpc>
              <a:spcBef>
                <a:spcPts val="0"/>
              </a:spcBef>
              <a:spcAft>
                <a:spcPts val="0"/>
              </a:spcAft>
              <a:buNone/>
            </a:pPr>
            <a:r>
              <a:rPr lang="en-US" dirty="0">
                <a:solidFill>
                  <a:srgbClr val="D9E1FF"/>
                </a:solidFill>
              </a:rPr>
              <a:t>b. Validate the inputs:</a:t>
            </a:r>
            <a:endParaRPr dirty="0">
              <a:solidFill>
                <a:srgbClr val="D9E1FF"/>
              </a:solidFill>
            </a:endParaRPr>
          </a:p>
          <a:p>
            <a:pPr marL="0" lvl="0" indent="0" algn="l" rtl="0">
              <a:lnSpc>
                <a:spcPct val="100000"/>
              </a:lnSpc>
              <a:spcBef>
                <a:spcPts val="0"/>
              </a:spcBef>
              <a:spcAft>
                <a:spcPts val="0"/>
              </a:spcAft>
              <a:buNone/>
            </a:pPr>
            <a:r>
              <a:rPr lang="en-US" dirty="0">
                <a:solidFill>
                  <a:srgbClr val="D9E1FF"/>
                </a:solidFill>
              </a:rPr>
              <a:t>●Supply voltage must be greater than 0.</a:t>
            </a:r>
            <a:endParaRPr dirty="0">
              <a:solidFill>
                <a:srgbClr val="D9E1FF"/>
              </a:solidFill>
            </a:endParaRPr>
          </a:p>
          <a:p>
            <a:pPr marL="0" lvl="0" indent="0" algn="l" rtl="0">
              <a:lnSpc>
                <a:spcPct val="100000"/>
              </a:lnSpc>
              <a:spcBef>
                <a:spcPts val="0"/>
              </a:spcBef>
              <a:spcAft>
                <a:spcPts val="0"/>
              </a:spcAft>
              <a:buNone/>
            </a:pPr>
            <a:r>
              <a:rPr lang="en-US" dirty="0">
                <a:solidFill>
                  <a:srgbClr val="D9E1FF"/>
                </a:solidFill>
              </a:rPr>
              <a:t>●Forward voltage must be greater than 0.</a:t>
            </a:r>
            <a:endParaRPr dirty="0">
              <a:solidFill>
                <a:srgbClr val="D9E1FF"/>
              </a:solidFill>
            </a:endParaRPr>
          </a:p>
          <a:p>
            <a:pPr marL="0" lvl="0" indent="0" algn="l" rtl="0">
              <a:lnSpc>
                <a:spcPct val="100000"/>
              </a:lnSpc>
              <a:spcBef>
                <a:spcPts val="0"/>
              </a:spcBef>
              <a:spcAft>
                <a:spcPts val="0"/>
              </a:spcAft>
              <a:buNone/>
            </a:pPr>
            <a:r>
              <a:rPr lang="en-US" dirty="0">
                <a:solidFill>
                  <a:srgbClr val="D9E1FF"/>
                </a:solidFill>
              </a:rPr>
              <a:t>●Supply voltage must be greater than forward voltage.</a:t>
            </a:r>
            <a:endParaRPr dirty="0">
              <a:solidFill>
                <a:srgbClr val="D9E1FF"/>
              </a:solidFill>
            </a:endParaRPr>
          </a:p>
          <a:p>
            <a:pPr marL="0" lvl="0" indent="0" algn="l" rtl="0">
              <a:lnSpc>
                <a:spcPct val="100000"/>
              </a:lnSpc>
              <a:spcBef>
                <a:spcPts val="0"/>
              </a:spcBef>
              <a:spcAft>
                <a:spcPts val="0"/>
              </a:spcAft>
              <a:buNone/>
            </a:pPr>
            <a:r>
              <a:rPr lang="en-US" dirty="0">
                <a:solidFill>
                  <a:srgbClr val="D9E1FF"/>
                </a:solidFill>
              </a:rPr>
              <a:t>●LED current must be greater than 0.</a:t>
            </a:r>
            <a:endParaRPr dirty="0">
              <a:solidFill>
                <a:srgbClr val="D9E1FF"/>
              </a:solidFill>
            </a:endParaRPr>
          </a:p>
          <a:p>
            <a:pPr marL="0" lvl="0" indent="0" algn="l" rtl="0">
              <a:lnSpc>
                <a:spcPct val="100000"/>
              </a:lnSpc>
              <a:spcBef>
                <a:spcPts val="0"/>
              </a:spcBef>
              <a:spcAft>
                <a:spcPts val="0"/>
              </a:spcAft>
              <a:buNone/>
            </a:pPr>
            <a:r>
              <a:rPr lang="en-US" dirty="0">
                <a:solidFill>
                  <a:srgbClr val="D9E1FF"/>
                </a:solidFill>
              </a:rPr>
              <a:t>●If any input is invalid, display an error message and ask the user to enter the values again.</a:t>
            </a:r>
            <a:endParaRPr dirty="0">
              <a:solidFill>
                <a:srgbClr val="D9E1FF"/>
              </a:solidFill>
            </a:endParaRPr>
          </a:p>
          <a:p>
            <a:pPr marL="0" lvl="0" indent="0" algn="l" rtl="0">
              <a:lnSpc>
                <a:spcPct val="100000"/>
              </a:lnSpc>
              <a:spcBef>
                <a:spcPts val="0"/>
              </a:spcBef>
              <a:spcAft>
                <a:spcPts val="0"/>
              </a:spcAft>
              <a:buNone/>
            </a:pPr>
            <a:r>
              <a:rPr lang="en-US" dirty="0">
                <a:solidFill>
                  <a:srgbClr val="D9E1FF"/>
                </a:solidFill>
              </a:rPr>
              <a:t>c. Convert LED current from milliamperes to amperes:</a:t>
            </a:r>
            <a:endParaRPr dirty="0">
              <a:solidFill>
                <a:srgbClr val="D9E1FF"/>
              </a:solidFill>
            </a:endParaRPr>
          </a:p>
          <a:p>
            <a:pPr marL="0" lvl="0" indent="0" algn="l" rtl="0">
              <a:lnSpc>
                <a:spcPct val="100000"/>
              </a:lnSpc>
              <a:spcBef>
                <a:spcPts val="0"/>
              </a:spcBef>
              <a:spcAft>
                <a:spcPts val="0"/>
              </a:spcAft>
              <a:buNone/>
            </a:pPr>
            <a:r>
              <a:rPr lang="en-US" dirty="0">
                <a:solidFill>
                  <a:srgbClr val="D9E1FF"/>
                </a:solidFill>
              </a:rPr>
              <a:t>I= current/1000</a:t>
            </a:r>
            <a:endParaRPr dirty="0">
              <a:solidFill>
                <a:srgbClr val="D9E1FF"/>
              </a:solidFill>
            </a:endParaRPr>
          </a:p>
          <a:p>
            <a:pPr marL="0" lvl="0" indent="0" algn="l" rtl="0">
              <a:lnSpc>
                <a:spcPct val="100000"/>
              </a:lnSpc>
              <a:spcBef>
                <a:spcPts val="0"/>
              </a:spcBef>
              <a:spcAft>
                <a:spcPts val="0"/>
              </a:spcAft>
              <a:buNone/>
            </a:pPr>
            <a:r>
              <a:rPr lang="en-US" dirty="0">
                <a:solidFill>
                  <a:srgbClr val="D9E1FF"/>
                </a:solidFill>
              </a:rPr>
              <a:t>d. Calculate the resistor value:</a:t>
            </a:r>
            <a:endParaRPr dirty="0">
              <a:solidFill>
                <a:srgbClr val="D9E1FF"/>
              </a:solidFill>
            </a:endParaRPr>
          </a:p>
          <a:p>
            <a:pPr marL="0" lvl="0" indent="0" algn="l" rtl="0">
              <a:lnSpc>
                <a:spcPct val="100000"/>
              </a:lnSpc>
              <a:spcBef>
                <a:spcPts val="0"/>
              </a:spcBef>
              <a:spcAft>
                <a:spcPts val="0"/>
              </a:spcAft>
              <a:buNone/>
            </a:pPr>
            <a:r>
              <a:rPr lang="en-US" dirty="0">
                <a:solidFill>
                  <a:srgbClr val="D9E1FF"/>
                </a:solidFill>
              </a:rPr>
              <a:t>R= Vs- </a:t>
            </a:r>
            <a:r>
              <a:rPr lang="en-US" dirty="0" err="1">
                <a:solidFill>
                  <a:srgbClr val="D9E1FF"/>
                </a:solidFill>
              </a:rPr>
              <a:t>Vf</a:t>
            </a:r>
            <a:r>
              <a:rPr lang="en-US" dirty="0">
                <a:solidFill>
                  <a:srgbClr val="D9E1FF"/>
                </a:solidFill>
              </a:rPr>
              <a:t> /I</a:t>
            </a:r>
            <a:endParaRPr dirty="0">
              <a:solidFill>
                <a:srgbClr val="D9E1FF"/>
              </a:solidFill>
            </a:endParaRPr>
          </a:p>
        </p:txBody>
      </p:sp>
      <p:sp>
        <p:nvSpPr>
          <p:cNvPr id="243" name="Google Shape;243;p20"/>
          <p:cNvSpPr txBox="1"/>
          <p:nvPr/>
        </p:nvSpPr>
        <p:spPr>
          <a:xfrm>
            <a:off x="5871412" y="981409"/>
            <a:ext cx="7627141" cy="6155501"/>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D9E1FF"/>
                </a:solidFill>
                <a:effectLst/>
                <a:uLnTx/>
                <a:uFillTx/>
              </a:rPr>
              <a:t>e. Calculate the resistor power: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D9E1FF"/>
                </a:solidFill>
                <a:effectLst/>
                <a:uLnTx/>
                <a:uFillTx/>
              </a:rPr>
              <a:t>P=(Vs- </a:t>
            </a:r>
            <a:r>
              <a:rPr kumimoji="0" lang="en-US" sz="1800" b="0" i="0" u="none" strike="noStrike" kern="0" cap="none" spc="0" normalizeH="0" baseline="0" noProof="0" dirty="0" err="1">
                <a:ln>
                  <a:noFill/>
                </a:ln>
                <a:solidFill>
                  <a:srgbClr val="D9E1FF"/>
                </a:solidFill>
                <a:effectLst/>
                <a:uLnTx/>
                <a:uFillTx/>
              </a:rPr>
              <a:t>Vf</a:t>
            </a:r>
            <a:r>
              <a:rPr kumimoji="0" lang="en-US" sz="1800" b="0" i="0" u="none" strike="noStrike" kern="0" cap="none" spc="0" normalizeH="0" baseline="0" noProof="0" dirty="0">
                <a:ln>
                  <a:noFill/>
                </a:ln>
                <a:solidFill>
                  <a:srgbClr val="D9E1FF"/>
                </a:solidFill>
                <a:effectLst/>
                <a:uLnTx/>
                <a:uFillTx/>
              </a:rPr>
              <a:t>)×I</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D9E1FF"/>
                </a:solidFill>
                <a:effectLst/>
                <a:uLnTx/>
                <a:uFillTx/>
              </a:rPr>
              <a:t>f. Determine the design status: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D9E1FF"/>
                </a:solidFill>
                <a:effectLst/>
                <a:uLnTx/>
                <a:uFillTx/>
              </a:rPr>
              <a:t>If all inputs are valid, display ●"Design is Safe".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D9E1FF"/>
                </a:solidFill>
                <a:effectLst/>
                <a:uLnTx/>
                <a:uFillTx/>
              </a:rPr>
              <a:t>●Otherwise, display "Design is Invalid".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D9E1FF"/>
                </a:solidFill>
                <a:effectLst/>
                <a:uLnTx/>
                <a:uFillTx/>
              </a:rPr>
              <a:t>g. </a:t>
            </a:r>
          </a:p>
          <a:p>
            <a:pPr marL="0" lvl="0" indent="0" algn="l" rtl="0">
              <a:spcBef>
                <a:spcPts val="0"/>
              </a:spcBef>
              <a:spcAft>
                <a:spcPts val="0"/>
              </a:spcAft>
              <a:buNone/>
            </a:pPr>
            <a:endParaRPr lang="en-US" dirty="0">
              <a:solidFill>
                <a:srgbClr val="FFFFFF"/>
              </a:solidFill>
              <a:latin typeface="Calibri"/>
              <a:ea typeface="Calibri"/>
              <a:cs typeface="Calibri"/>
              <a:sym typeface="Calibri"/>
            </a:endParaRPr>
          </a:p>
          <a:p>
            <a:pPr marL="0" lvl="0" indent="0" algn="l" rtl="0">
              <a:spcBef>
                <a:spcPts val="0"/>
              </a:spcBef>
              <a:spcAft>
                <a:spcPts val="0"/>
              </a:spcAft>
              <a:buNone/>
            </a:pPr>
            <a:r>
              <a:rPr lang="en-US" sz="1800" dirty="0">
                <a:solidFill>
                  <a:srgbClr val="FFFFFF"/>
                </a:solidFill>
                <a:latin typeface="Calibri"/>
                <a:ea typeface="Calibri"/>
                <a:cs typeface="Calibri"/>
                <a:sym typeface="Calibri"/>
              </a:rPr>
              <a:t>Display:</a:t>
            </a:r>
            <a:endParaRPr sz="1800" dirty="0">
              <a:solidFill>
                <a:srgbClr val="FFFFFF"/>
              </a:solidFill>
              <a:latin typeface="Calibri"/>
              <a:ea typeface="Calibri"/>
              <a:cs typeface="Calibri"/>
              <a:sym typeface="Calibri"/>
            </a:endParaRPr>
          </a:p>
          <a:p>
            <a:pPr marL="0" lvl="0" indent="0" algn="l" rtl="0">
              <a:spcBef>
                <a:spcPts val="0"/>
              </a:spcBef>
              <a:spcAft>
                <a:spcPts val="0"/>
              </a:spcAft>
              <a:buNone/>
            </a:pPr>
            <a:r>
              <a:rPr lang="en-US" sz="1800" dirty="0">
                <a:solidFill>
                  <a:srgbClr val="FFFFFF"/>
                </a:solidFill>
                <a:latin typeface="Calibri"/>
                <a:ea typeface="Calibri"/>
                <a:cs typeface="Calibri"/>
                <a:sym typeface="Calibri"/>
              </a:rPr>
              <a:t>●LED name</a:t>
            </a:r>
            <a:endParaRPr sz="1800" dirty="0">
              <a:solidFill>
                <a:srgbClr val="FFFFFF"/>
              </a:solidFill>
              <a:latin typeface="Calibri"/>
              <a:ea typeface="Calibri"/>
              <a:cs typeface="Calibri"/>
              <a:sym typeface="Calibri"/>
            </a:endParaRPr>
          </a:p>
          <a:p>
            <a:pPr marL="0" lvl="0" indent="0" algn="l" rtl="0">
              <a:spcBef>
                <a:spcPts val="0"/>
              </a:spcBef>
              <a:spcAft>
                <a:spcPts val="0"/>
              </a:spcAft>
              <a:buNone/>
            </a:pPr>
            <a:r>
              <a:rPr lang="en-US" sz="1800" dirty="0">
                <a:solidFill>
                  <a:srgbClr val="FFFFFF"/>
                </a:solidFill>
                <a:latin typeface="Calibri"/>
                <a:ea typeface="Calibri"/>
                <a:cs typeface="Calibri"/>
                <a:sym typeface="Calibri"/>
              </a:rPr>
              <a:t>●Supply voltage</a:t>
            </a:r>
            <a:endParaRPr sz="1800" dirty="0">
              <a:solidFill>
                <a:srgbClr val="FFFFFF"/>
              </a:solidFill>
              <a:latin typeface="Calibri"/>
              <a:ea typeface="Calibri"/>
              <a:cs typeface="Calibri"/>
              <a:sym typeface="Calibri"/>
            </a:endParaRPr>
          </a:p>
          <a:p>
            <a:pPr marL="0" lvl="0" indent="0" algn="l" rtl="0">
              <a:spcBef>
                <a:spcPts val="0"/>
              </a:spcBef>
              <a:spcAft>
                <a:spcPts val="0"/>
              </a:spcAft>
              <a:buNone/>
            </a:pPr>
            <a:r>
              <a:rPr lang="en-US" sz="1800" dirty="0">
                <a:solidFill>
                  <a:srgbClr val="FFFFFF"/>
                </a:solidFill>
                <a:latin typeface="Calibri"/>
                <a:ea typeface="Calibri"/>
                <a:cs typeface="Calibri"/>
                <a:sym typeface="Calibri"/>
              </a:rPr>
              <a:t>●Forward voltage</a:t>
            </a:r>
            <a:endParaRPr sz="1800" dirty="0">
              <a:solidFill>
                <a:srgbClr val="FFFFFF"/>
              </a:solidFill>
              <a:latin typeface="Calibri"/>
              <a:ea typeface="Calibri"/>
              <a:cs typeface="Calibri"/>
              <a:sym typeface="Calibri"/>
            </a:endParaRPr>
          </a:p>
          <a:p>
            <a:pPr marL="0" lvl="0" indent="0" algn="l" rtl="0">
              <a:spcBef>
                <a:spcPts val="0"/>
              </a:spcBef>
              <a:spcAft>
                <a:spcPts val="0"/>
              </a:spcAft>
              <a:buNone/>
            </a:pPr>
            <a:r>
              <a:rPr lang="en-US" sz="1800" dirty="0">
                <a:solidFill>
                  <a:srgbClr val="FFFFFF"/>
                </a:solidFill>
                <a:latin typeface="Calibri"/>
                <a:ea typeface="Calibri"/>
                <a:cs typeface="Calibri"/>
                <a:sym typeface="Calibri"/>
              </a:rPr>
              <a:t>●LED current (mA and A)</a:t>
            </a:r>
            <a:endParaRPr sz="1800" dirty="0">
              <a:solidFill>
                <a:srgbClr val="FFFFFF"/>
              </a:solidFill>
              <a:latin typeface="Calibri"/>
              <a:ea typeface="Calibri"/>
              <a:cs typeface="Calibri"/>
              <a:sym typeface="Calibri"/>
            </a:endParaRPr>
          </a:p>
          <a:p>
            <a:pPr marL="0" lvl="0" indent="0" algn="l" rtl="0">
              <a:spcBef>
                <a:spcPts val="0"/>
              </a:spcBef>
              <a:spcAft>
                <a:spcPts val="0"/>
              </a:spcAft>
              <a:buNone/>
            </a:pPr>
            <a:r>
              <a:rPr lang="en-US" sz="1800" dirty="0">
                <a:solidFill>
                  <a:srgbClr val="FFFFFF"/>
                </a:solidFill>
                <a:latin typeface="Calibri"/>
                <a:ea typeface="Calibri"/>
                <a:cs typeface="Calibri"/>
                <a:sym typeface="Calibri"/>
              </a:rPr>
              <a:t>●Calculated resistor value (Ω)</a:t>
            </a:r>
            <a:endParaRPr sz="1800" dirty="0">
              <a:solidFill>
                <a:srgbClr val="FFFFFF"/>
              </a:solidFill>
              <a:latin typeface="Calibri"/>
              <a:ea typeface="Calibri"/>
              <a:cs typeface="Calibri"/>
              <a:sym typeface="Calibri"/>
            </a:endParaRPr>
          </a:p>
          <a:p>
            <a:pPr marL="0" lvl="0" indent="0" algn="l" rtl="0">
              <a:spcBef>
                <a:spcPts val="0"/>
              </a:spcBef>
              <a:spcAft>
                <a:spcPts val="0"/>
              </a:spcAft>
              <a:buNone/>
            </a:pPr>
            <a:r>
              <a:rPr lang="en-US" sz="1800" dirty="0">
                <a:solidFill>
                  <a:srgbClr val="FFFFFF"/>
                </a:solidFill>
                <a:latin typeface="Calibri"/>
                <a:ea typeface="Calibri"/>
                <a:cs typeface="Calibri"/>
                <a:sym typeface="Calibri"/>
              </a:rPr>
              <a:t>●Calculated resistor power (W)</a:t>
            </a:r>
            <a:endParaRPr sz="1800" dirty="0">
              <a:solidFill>
                <a:srgbClr val="FFFFFF"/>
              </a:solidFill>
              <a:latin typeface="Calibri"/>
              <a:ea typeface="Calibri"/>
              <a:cs typeface="Calibri"/>
              <a:sym typeface="Calibri"/>
            </a:endParaRPr>
          </a:p>
          <a:p>
            <a:pPr marL="0" lvl="0" indent="0" algn="l" rtl="0">
              <a:spcBef>
                <a:spcPts val="0"/>
              </a:spcBef>
              <a:spcAft>
                <a:spcPts val="0"/>
              </a:spcAft>
              <a:buNone/>
            </a:pPr>
            <a:r>
              <a:rPr lang="en-US" sz="1800" dirty="0">
                <a:solidFill>
                  <a:srgbClr val="FFFFFF"/>
                </a:solidFill>
                <a:latin typeface="Calibri"/>
                <a:ea typeface="Calibri"/>
                <a:cs typeface="Calibri"/>
                <a:sym typeface="Calibri"/>
              </a:rPr>
              <a:t>●Design status</a:t>
            </a:r>
            <a:endParaRPr sz="1800" dirty="0">
              <a:solidFill>
                <a:srgbClr val="FFFFFF"/>
              </a:solidFill>
              <a:latin typeface="Calibri"/>
              <a:ea typeface="Calibri"/>
              <a:cs typeface="Calibri"/>
              <a:sym typeface="Calibri"/>
            </a:endParaRPr>
          </a:p>
          <a:p>
            <a:pPr marL="0" lvl="0" indent="0" algn="l" rtl="0">
              <a:spcBef>
                <a:spcPts val="0"/>
              </a:spcBef>
              <a:spcAft>
                <a:spcPts val="0"/>
              </a:spcAft>
              <a:buNone/>
            </a:pPr>
            <a:r>
              <a:rPr lang="en-US" sz="1800" dirty="0">
                <a:solidFill>
                  <a:srgbClr val="FFFFFF"/>
                </a:solidFill>
                <a:latin typeface="Calibri"/>
                <a:ea typeface="Calibri"/>
                <a:cs typeface="Calibri"/>
                <a:sym typeface="Calibri"/>
              </a:rPr>
              <a:t>h. Save the calculation results to a text file.</a:t>
            </a:r>
            <a:endParaRPr sz="1800" dirty="0">
              <a:solidFill>
                <a:srgbClr val="FFFFFF"/>
              </a:solidFill>
              <a:latin typeface="Calibri"/>
              <a:ea typeface="Calibri"/>
              <a:cs typeface="Calibri"/>
              <a:sym typeface="Calibri"/>
            </a:endParaRPr>
          </a:p>
          <a:p>
            <a:pPr marL="0" lvl="0" indent="0" algn="l" rtl="0">
              <a:spcBef>
                <a:spcPts val="0"/>
              </a:spcBef>
              <a:spcAft>
                <a:spcPts val="0"/>
              </a:spcAft>
              <a:buNone/>
            </a:pPr>
            <a:endParaRPr sz="1800" dirty="0">
              <a:solidFill>
                <a:srgbClr val="FFFFFF"/>
              </a:solidFill>
              <a:latin typeface="Calibri"/>
              <a:ea typeface="Calibri"/>
              <a:cs typeface="Calibri"/>
              <a:sym typeface="Calibri"/>
            </a:endParaRPr>
          </a:p>
          <a:p>
            <a:pPr marL="0" lvl="0" indent="0" algn="l" rtl="0">
              <a:spcBef>
                <a:spcPts val="0"/>
              </a:spcBef>
              <a:spcAft>
                <a:spcPts val="0"/>
              </a:spcAft>
              <a:buNone/>
            </a:pPr>
            <a:r>
              <a:rPr lang="en-US" sz="1800" dirty="0">
                <a:solidFill>
                  <a:srgbClr val="FFFFFF"/>
                </a:solidFill>
                <a:latin typeface="Calibri"/>
                <a:ea typeface="Calibri"/>
                <a:cs typeface="Calibri"/>
                <a:sym typeface="Calibri"/>
              </a:rPr>
              <a:t>5. End the loop after all LED circuits have been processed.</a:t>
            </a:r>
            <a:endParaRPr sz="1800" dirty="0">
              <a:solidFill>
                <a:srgbClr val="FFFFFF"/>
              </a:solidFill>
              <a:latin typeface="Calibri"/>
              <a:ea typeface="Calibri"/>
              <a:cs typeface="Calibri"/>
              <a:sym typeface="Calibri"/>
            </a:endParaRPr>
          </a:p>
          <a:p>
            <a:pPr marL="0" lvl="0" indent="0" algn="l" rtl="0">
              <a:spcBef>
                <a:spcPts val="0"/>
              </a:spcBef>
              <a:spcAft>
                <a:spcPts val="0"/>
              </a:spcAft>
              <a:buNone/>
            </a:pPr>
            <a:r>
              <a:rPr lang="en-US" sz="1800" dirty="0">
                <a:solidFill>
                  <a:srgbClr val="FFFFFF"/>
                </a:solidFill>
                <a:latin typeface="Calibri"/>
                <a:ea typeface="Calibri"/>
                <a:cs typeface="Calibri"/>
                <a:sym typeface="Calibri"/>
              </a:rPr>
              <a:t>Display a message: "Report saved successfully."</a:t>
            </a:r>
            <a:endParaRPr sz="1800" dirty="0">
              <a:solidFill>
                <a:srgbClr val="FFFFFF"/>
              </a:solidFill>
              <a:latin typeface="Calibri"/>
              <a:ea typeface="Calibri"/>
              <a:cs typeface="Calibri"/>
              <a:sym typeface="Calibri"/>
            </a:endParaRPr>
          </a:p>
          <a:p>
            <a:pPr marL="0" lvl="0" indent="0" algn="l" rtl="0">
              <a:spcBef>
                <a:spcPts val="0"/>
              </a:spcBef>
              <a:spcAft>
                <a:spcPts val="0"/>
              </a:spcAft>
              <a:buNone/>
            </a:pPr>
            <a:endParaRPr sz="1800" dirty="0">
              <a:solidFill>
                <a:srgbClr val="FFFFFF"/>
              </a:solidFill>
              <a:latin typeface="Calibri"/>
              <a:ea typeface="Calibri"/>
              <a:cs typeface="Calibri"/>
              <a:sym typeface="Calibri"/>
            </a:endParaRPr>
          </a:p>
          <a:p>
            <a:pPr marL="0" lvl="0" indent="0" algn="l" rtl="0">
              <a:spcBef>
                <a:spcPts val="0"/>
              </a:spcBef>
              <a:spcAft>
                <a:spcPts val="0"/>
              </a:spcAft>
              <a:buNone/>
            </a:pPr>
            <a:r>
              <a:rPr lang="en-US" sz="1800" dirty="0">
                <a:solidFill>
                  <a:srgbClr val="FFFFFF"/>
                </a:solidFill>
                <a:latin typeface="Calibri"/>
                <a:ea typeface="Calibri"/>
                <a:cs typeface="Calibri"/>
                <a:sym typeface="Calibri"/>
              </a:rPr>
              <a:t>6. End the program.</a:t>
            </a:r>
            <a:endParaRPr sz="1800" dirty="0">
              <a:solidFill>
                <a:srgbClr val="FFFFFF"/>
              </a:solidFill>
              <a:latin typeface="Calibri"/>
              <a:ea typeface="Calibri"/>
              <a:cs typeface="Calibri"/>
              <a:sym typeface="Calibri"/>
            </a:endParaRPr>
          </a:p>
          <a:p>
            <a:pPr marL="0" lvl="0" indent="0" algn="l" rtl="0">
              <a:spcBef>
                <a:spcPts val="0"/>
              </a:spcBef>
              <a:spcAft>
                <a:spcPts val="0"/>
              </a:spcAft>
              <a:buNone/>
            </a:pPr>
            <a:endParaRPr dirty="0">
              <a:solidFill>
                <a:srgbClr val="FFFFFF"/>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p21"/>
          <p:cNvSpPr/>
          <p:nvPr/>
        </p:nvSpPr>
        <p:spPr>
          <a:xfrm>
            <a:off x="-43815" y="0"/>
            <a:ext cx="11544300" cy="7613999"/>
          </a:xfrm>
          <a:custGeom>
            <a:avLst/>
            <a:gdLst/>
            <a:ahLst/>
            <a:cxnLst/>
            <a:rect l="l" t="t" r="r" b="b"/>
            <a:pathLst>
              <a:path w="11430000" h="6438900" extrusionOk="0">
                <a:moveTo>
                  <a:pt x="11430000" y="6438900"/>
                </a:moveTo>
                <a:lnTo>
                  <a:pt x="0" y="6438900"/>
                </a:lnTo>
                <a:lnTo>
                  <a:pt x="0" y="0"/>
                </a:lnTo>
                <a:lnTo>
                  <a:pt x="11430000" y="0"/>
                </a:lnTo>
                <a:lnTo>
                  <a:pt x="11430000" y="6438900"/>
                </a:lnTo>
                <a:close/>
              </a:path>
            </a:pathLst>
          </a:custGeom>
          <a:solidFill>
            <a:srgbClr val="0C0933"/>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46" name="Google Shape;246;p21"/>
          <p:cNvSpPr txBox="1">
            <a:spLocks noGrp="1"/>
          </p:cNvSpPr>
          <p:nvPr>
            <p:ph type="title"/>
          </p:nvPr>
        </p:nvSpPr>
        <p:spPr>
          <a:xfrm>
            <a:off x="739179" y="650565"/>
            <a:ext cx="7385700" cy="535500"/>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a:t>PSEUDOCODE</a:t>
            </a:r>
            <a:endParaRPr/>
          </a:p>
        </p:txBody>
      </p:sp>
      <p:sp>
        <p:nvSpPr>
          <p:cNvPr id="247" name="Google Shape;247;p21"/>
          <p:cNvSpPr/>
          <p:nvPr/>
        </p:nvSpPr>
        <p:spPr>
          <a:xfrm>
            <a:off x="6858000" y="2781300"/>
            <a:ext cx="1895475" cy="247650"/>
          </a:xfrm>
          <a:custGeom>
            <a:avLst/>
            <a:gdLst/>
            <a:ahLst/>
            <a:cxnLst/>
            <a:rect l="l" t="t" r="r" b="b"/>
            <a:pathLst>
              <a:path w="1895475" h="247650" extrusionOk="0">
                <a:moveTo>
                  <a:pt x="1875720" y="247650"/>
                </a:moveTo>
                <a:lnTo>
                  <a:pt x="19754" y="247650"/>
                </a:lnTo>
                <a:lnTo>
                  <a:pt x="16849" y="247068"/>
                </a:lnTo>
                <a:lnTo>
                  <a:pt x="0" y="227895"/>
                </a:lnTo>
                <a:lnTo>
                  <a:pt x="0" y="224875"/>
                </a:lnTo>
                <a:lnTo>
                  <a:pt x="0" y="19754"/>
                </a:lnTo>
                <a:lnTo>
                  <a:pt x="19754" y="0"/>
                </a:lnTo>
                <a:lnTo>
                  <a:pt x="1875720" y="0"/>
                </a:lnTo>
                <a:lnTo>
                  <a:pt x="1895475" y="19754"/>
                </a:lnTo>
                <a:lnTo>
                  <a:pt x="1895475" y="227895"/>
                </a:lnTo>
                <a:lnTo>
                  <a:pt x="1878625" y="247068"/>
                </a:lnTo>
                <a:lnTo>
                  <a:pt x="1875720" y="247650"/>
                </a:lnTo>
                <a:close/>
              </a:path>
            </a:pathLst>
          </a:custGeom>
          <a:solidFill>
            <a:srgbClr val="181740"/>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48" name="Google Shape;248;p21"/>
          <p:cNvSpPr txBox="1"/>
          <p:nvPr/>
        </p:nvSpPr>
        <p:spPr>
          <a:xfrm>
            <a:off x="739187" y="1412216"/>
            <a:ext cx="4601100" cy="5307900"/>
          </a:xfrm>
          <a:prstGeom prst="rect">
            <a:avLst/>
          </a:prstGeom>
          <a:noFill/>
          <a:ln>
            <a:noFill/>
          </a:ln>
        </p:spPr>
        <p:txBody>
          <a:bodyPr spcFirstLastPara="1" wrap="square" lIns="0" tIns="16500" rIns="0" bIns="0" anchor="t" anchorCtr="0">
            <a:spAutoFit/>
          </a:bodyPr>
          <a:lstStyle/>
          <a:p>
            <a:pPr marL="0" lvl="0" indent="0" algn="l" rtl="0">
              <a:lnSpc>
                <a:spcPct val="100000"/>
              </a:lnSpc>
              <a:spcBef>
                <a:spcPts val="0"/>
              </a:spcBef>
              <a:spcAft>
                <a:spcPts val="0"/>
              </a:spcAft>
              <a:buNone/>
            </a:pPr>
            <a:r>
              <a:rPr lang="en-US">
                <a:solidFill>
                  <a:srgbClr val="D9E1FF"/>
                </a:solidFill>
                <a:latin typeface="Lucida Sans"/>
                <a:ea typeface="Lucida Sans"/>
                <a:cs typeface="Lucida Sans"/>
                <a:sym typeface="Lucida Sans"/>
              </a:rPr>
              <a:t>BEGIN</a:t>
            </a:r>
            <a:endParaRPr>
              <a:solidFill>
                <a:srgbClr val="D9E1FF"/>
              </a:solidFill>
              <a:latin typeface="Lucida Sans"/>
              <a:ea typeface="Lucida Sans"/>
              <a:cs typeface="Lucida Sans"/>
              <a:sym typeface="Lucida Sans"/>
            </a:endParaRPr>
          </a:p>
          <a:p>
            <a:pPr marL="0" lvl="0" indent="0" algn="l" rtl="0">
              <a:lnSpc>
                <a:spcPct val="100000"/>
              </a:lnSpc>
              <a:spcBef>
                <a:spcPts val="0"/>
              </a:spcBef>
              <a:spcAft>
                <a:spcPts val="0"/>
              </a:spcAft>
              <a:buNone/>
            </a:pPr>
            <a:endParaRPr>
              <a:solidFill>
                <a:srgbClr val="D9E1FF"/>
              </a:solidFill>
              <a:latin typeface="Lucida Sans"/>
              <a:ea typeface="Lucida Sans"/>
              <a:cs typeface="Lucida Sans"/>
              <a:sym typeface="Lucida Sans"/>
            </a:endParaRPr>
          </a:p>
          <a:p>
            <a:pPr marL="0" lvl="0" indent="0" algn="l" rtl="0">
              <a:lnSpc>
                <a:spcPct val="100000"/>
              </a:lnSpc>
              <a:spcBef>
                <a:spcPts val="0"/>
              </a:spcBef>
              <a:spcAft>
                <a:spcPts val="0"/>
              </a:spcAft>
              <a:buNone/>
            </a:pPr>
            <a:r>
              <a:rPr lang="en-US">
                <a:solidFill>
                  <a:srgbClr val="D9E1FF"/>
                </a:solidFill>
                <a:latin typeface="Lucida Sans"/>
                <a:ea typeface="Lucida Sans"/>
                <a:cs typeface="Lucida Sans"/>
                <a:sym typeface="Lucida Sans"/>
              </a:rPr>
              <a:t>OPEN "led_resistor_report.txt" FOR writing</a:t>
            </a:r>
            <a:endParaRPr>
              <a:solidFill>
                <a:srgbClr val="D9E1FF"/>
              </a:solidFill>
              <a:latin typeface="Lucida Sans"/>
              <a:ea typeface="Lucida Sans"/>
              <a:cs typeface="Lucida Sans"/>
              <a:sym typeface="Lucida Sans"/>
            </a:endParaRPr>
          </a:p>
          <a:p>
            <a:pPr marL="0" lvl="0" indent="0" algn="l" rtl="0">
              <a:lnSpc>
                <a:spcPct val="100000"/>
              </a:lnSpc>
              <a:spcBef>
                <a:spcPts val="0"/>
              </a:spcBef>
              <a:spcAft>
                <a:spcPts val="0"/>
              </a:spcAft>
              <a:buNone/>
            </a:pPr>
            <a:endParaRPr>
              <a:solidFill>
                <a:srgbClr val="D9E1FF"/>
              </a:solidFill>
              <a:latin typeface="Lucida Sans"/>
              <a:ea typeface="Lucida Sans"/>
              <a:cs typeface="Lucida Sans"/>
              <a:sym typeface="Lucida Sans"/>
            </a:endParaRPr>
          </a:p>
          <a:p>
            <a:pPr marL="0" lvl="0" indent="0" algn="l" rtl="0">
              <a:lnSpc>
                <a:spcPct val="100000"/>
              </a:lnSpc>
              <a:spcBef>
                <a:spcPts val="0"/>
              </a:spcBef>
              <a:spcAft>
                <a:spcPts val="0"/>
              </a:spcAft>
              <a:buNone/>
            </a:pPr>
            <a:r>
              <a:rPr lang="en-US">
                <a:solidFill>
                  <a:srgbClr val="D9E1FF"/>
                </a:solidFill>
                <a:latin typeface="Lucida Sans"/>
                <a:ea typeface="Lucida Sans"/>
                <a:cs typeface="Lucida Sans"/>
                <a:sym typeface="Lucida Sans"/>
              </a:rPr>
              <a:t>DISPLAY "===== LED RESISTOR VALUE CALCULATOR SYSTEM ====="</a:t>
            </a:r>
            <a:endParaRPr>
              <a:solidFill>
                <a:srgbClr val="D9E1FF"/>
              </a:solidFill>
              <a:latin typeface="Lucida Sans"/>
              <a:ea typeface="Lucida Sans"/>
              <a:cs typeface="Lucida Sans"/>
              <a:sym typeface="Lucida Sans"/>
            </a:endParaRPr>
          </a:p>
          <a:p>
            <a:pPr marL="0" lvl="0" indent="0" algn="l" rtl="0">
              <a:lnSpc>
                <a:spcPct val="100000"/>
              </a:lnSpc>
              <a:spcBef>
                <a:spcPts val="0"/>
              </a:spcBef>
              <a:spcAft>
                <a:spcPts val="0"/>
              </a:spcAft>
              <a:buNone/>
            </a:pPr>
            <a:endParaRPr>
              <a:solidFill>
                <a:srgbClr val="D9E1FF"/>
              </a:solidFill>
              <a:latin typeface="Lucida Sans"/>
              <a:ea typeface="Lucida Sans"/>
              <a:cs typeface="Lucida Sans"/>
              <a:sym typeface="Lucida Sans"/>
            </a:endParaRPr>
          </a:p>
          <a:p>
            <a:pPr marL="0" lvl="0" indent="0" algn="l" rtl="0">
              <a:lnSpc>
                <a:spcPct val="100000"/>
              </a:lnSpc>
              <a:spcBef>
                <a:spcPts val="0"/>
              </a:spcBef>
              <a:spcAft>
                <a:spcPts val="0"/>
              </a:spcAft>
              <a:buNone/>
            </a:pPr>
            <a:r>
              <a:rPr lang="en-US">
                <a:solidFill>
                  <a:srgbClr val="D9E1FF"/>
                </a:solidFill>
                <a:latin typeface="Lucida Sans"/>
                <a:ea typeface="Lucida Sans"/>
                <a:cs typeface="Lucida Sans"/>
                <a:sym typeface="Lucida Sans"/>
              </a:rPr>
              <a:t>REPEAT</a:t>
            </a:r>
            <a:endParaRPr>
              <a:solidFill>
                <a:srgbClr val="D9E1FF"/>
              </a:solidFill>
              <a:latin typeface="Lucida Sans"/>
              <a:ea typeface="Lucida Sans"/>
              <a:cs typeface="Lucida Sans"/>
              <a:sym typeface="Lucida Sans"/>
            </a:endParaRPr>
          </a:p>
          <a:p>
            <a:pPr marL="0" lvl="0" indent="0" algn="l" rtl="0">
              <a:lnSpc>
                <a:spcPct val="100000"/>
              </a:lnSpc>
              <a:spcBef>
                <a:spcPts val="0"/>
              </a:spcBef>
              <a:spcAft>
                <a:spcPts val="0"/>
              </a:spcAft>
              <a:buNone/>
            </a:pPr>
            <a:endParaRPr>
              <a:solidFill>
                <a:srgbClr val="D9E1FF"/>
              </a:solidFill>
              <a:latin typeface="Lucida Sans"/>
              <a:ea typeface="Lucida Sans"/>
              <a:cs typeface="Lucida Sans"/>
              <a:sym typeface="Lucida Sans"/>
            </a:endParaRPr>
          </a:p>
          <a:p>
            <a:pPr marL="0" lvl="0" indent="0" algn="l" rtl="0">
              <a:lnSpc>
                <a:spcPct val="100000"/>
              </a:lnSpc>
              <a:spcBef>
                <a:spcPts val="0"/>
              </a:spcBef>
              <a:spcAft>
                <a:spcPts val="0"/>
              </a:spcAft>
              <a:buNone/>
            </a:pPr>
            <a:r>
              <a:rPr lang="en-US">
                <a:solidFill>
                  <a:srgbClr val="D9E1FF"/>
                </a:solidFill>
                <a:latin typeface="Lucida Sans"/>
                <a:ea typeface="Lucida Sans"/>
                <a:cs typeface="Lucida Sans"/>
                <a:sym typeface="Lucida Sans"/>
              </a:rPr>
              <a:t>    INPUT LED_Name</a:t>
            </a:r>
            <a:endParaRPr>
              <a:solidFill>
                <a:srgbClr val="D9E1FF"/>
              </a:solidFill>
              <a:latin typeface="Lucida Sans"/>
              <a:ea typeface="Lucida Sans"/>
              <a:cs typeface="Lucida Sans"/>
              <a:sym typeface="Lucida Sans"/>
            </a:endParaRPr>
          </a:p>
          <a:p>
            <a:pPr marL="0" lvl="0" indent="0" algn="l" rtl="0">
              <a:lnSpc>
                <a:spcPct val="100000"/>
              </a:lnSpc>
              <a:spcBef>
                <a:spcPts val="0"/>
              </a:spcBef>
              <a:spcAft>
                <a:spcPts val="0"/>
              </a:spcAft>
              <a:buNone/>
            </a:pPr>
            <a:r>
              <a:rPr lang="en-US">
                <a:solidFill>
                  <a:srgbClr val="D9E1FF"/>
                </a:solidFill>
                <a:latin typeface="Lucida Sans"/>
                <a:ea typeface="Lucida Sans"/>
                <a:cs typeface="Lucida Sans"/>
                <a:sym typeface="Lucida Sans"/>
              </a:rPr>
              <a:t>    INPUT Supply_Voltage (Vs)</a:t>
            </a:r>
            <a:endParaRPr>
              <a:solidFill>
                <a:srgbClr val="D9E1FF"/>
              </a:solidFill>
              <a:latin typeface="Lucida Sans"/>
              <a:ea typeface="Lucida Sans"/>
              <a:cs typeface="Lucida Sans"/>
              <a:sym typeface="Lucida Sans"/>
            </a:endParaRPr>
          </a:p>
          <a:p>
            <a:pPr marL="0" lvl="0" indent="0" algn="l" rtl="0">
              <a:lnSpc>
                <a:spcPct val="100000"/>
              </a:lnSpc>
              <a:spcBef>
                <a:spcPts val="0"/>
              </a:spcBef>
              <a:spcAft>
                <a:spcPts val="0"/>
              </a:spcAft>
              <a:buNone/>
            </a:pPr>
            <a:r>
              <a:rPr lang="en-US">
                <a:solidFill>
                  <a:srgbClr val="D9E1FF"/>
                </a:solidFill>
                <a:latin typeface="Lucida Sans"/>
                <a:ea typeface="Lucida Sans"/>
                <a:cs typeface="Lucida Sans"/>
                <a:sym typeface="Lucida Sans"/>
              </a:rPr>
              <a:t>    INPUT Forward_Voltage (Vf)</a:t>
            </a:r>
            <a:endParaRPr>
              <a:solidFill>
                <a:srgbClr val="D9E1FF"/>
              </a:solidFill>
              <a:latin typeface="Lucida Sans"/>
              <a:ea typeface="Lucida Sans"/>
              <a:cs typeface="Lucida Sans"/>
              <a:sym typeface="Lucida Sans"/>
            </a:endParaRPr>
          </a:p>
          <a:p>
            <a:pPr marL="0" lvl="0" indent="0" algn="l" rtl="0">
              <a:lnSpc>
                <a:spcPct val="100000"/>
              </a:lnSpc>
              <a:spcBef>
                <a:spcPts val="0"/>
              </a:spcBef>
              <a:spcAft>
                <a:spcPts val="0"/>
              </a:spcAft>
              <a:buNone/>
            </a:pPr>
            <a:r>
              <a:rPr lang="en-US">
                <a:solidFill>
                  <a:srgbClr val="D9E1FF"/>
                </a:solidFill>
                <a:latin typeface="Lucida Sans"/>
                <a:ea typeface="Lucida Sans"/>
                <a:cs typeface="Lucida Sans"/>
                <a:sym typeface="Lucida Sans"/>
              </a:rPr>
              <a:t>    INPUT LED_Current (I)</a:t>
            </a:r>
            <a:endParaRPr>
              <a:solidFill>
                <a:srgbClr val="D9E1FF"/>
              </a:solidFill>
              <a:latin typeface="Lucida Sans"/>
              <a:ea typeface="Lucida Sans"/>
              <a:cs typeface="Lucida Sans"/>
              <a:sym typeface="Lucida Sans"/>
            </a:endParaRPr>
          </a:p>
          <a:p>
            <a:pPr marL="0" lvl="0" indent="0" algn="l" rtl="0">
              <a:lnSpc>
                <a:spcPct val="100000"/>
              </a:lnSpc>
              <a:spcBef>
                <a:spcPts val="0"/>
              </a:spcBef>
              <a:spcAft>
                <a:spcPts val="0"/>
              </a:spcAft>
              <a:buNone/>
            </a:pPr>
            <a:endParaRPr>
              <a:solidFill>
                <a:srgbClr val="D9E1FF"/>
              </a:solidFill>
              <a:latin typeface="Lucida Sans"/>
              <a:ea typeface="Lucida Sans"/>
              <a:cs typeface="Lucida Sans"/>
              <a:sym typeface="Lucida Sans"/>
            </a:endParaRPr>
          </a:p>
          <a:p>
            <a:pPr marL="0" lvl="0" indent="0" algn="l" rtl="0">
              <a:lnSpc>
                <a:spcPct val="100000"/>
              </a:lnSpc>
              <a:spcBef>
                <a:spcPts val="0"/>
              </a:spcBef>
              <a:spcAft>
                <a:spcPts val="0"/>
              </a:spcAft>
              <a:buNone/>
            </a:pPr>
            <a:r>
              <a:rPr lang="en-US">
                <a:solidFill>
                  <a:srgbClr val="D9E1FF"/>
                </a:solidFill>
                <a:latin typeface="Lucida Sans"/>
                <a:ea typeface="Lucida Sans"/>
                <a:cs typeface="Lucida Sans"/>
                <a:sym typeface="Lucida Sans"/>
              </a:rPr>
              <a:t>    IF Vs &lt;= 0 OR Vf &lt;= 0 OR I &lt;= 0 THEN</a:t>
            </a:r>
            <a:endParaRPr>
              <a:solidFill>
                <a:srgbClr val="D9E1FF"/>
              </a:solidFill>
              <a:latin typeface="Lucida Sans"/>
              <a:ea typeface="Lucida Sans"/>
              <a:cs typeface="Lucida Sans"/>
              <a:sym typeface="Lucida Sans"/>
            </a:endParaRPr>
          </a:p>
          <a:p>
            <a:pPr marL="0" lvl="0" indent="0" algn="l" rtl="0">
              <a:lnSpc>
                <a:spcPct val="100000"/>
              </a:lnSpc>
              <a:spcBef>
                <a:spcPts val="0"/>
              </a:spcBef>
              <a:spcAft>
                <a:spcPts val="0"/>
              </a:spcAft>
              <a:buNone/>
            </a:pPr>
            <a:r>
              <a:rPr lang="en-US">
                <a:solidFill>
                  <a:srgbClr val="D9E1FF"/>
                </a:solidFill>
                <a:latin typeface="Lucida Sans"/>
                <a:ea typeface="Lucida Sans"/>
                <a:cs typeface="Lucida Sans"/>
                <a:sym typeface="Lucida Sans"/>
              </a:rPr>
              <a:t>        DISPLAY "Invalid input. Values must be greater than zero."</a:t>
            </a:r>
            <a:endParaRPr>
              <a:solidFill>
                <a:srgbClr val="D9E1FF"/>
              </a:solidFill>
              <a:latin typeface="Lucida Sans"/>
              <a:ea typeface="Lucida Sans"/>
              <a:cs typeface="Lucida Sans"/>
              <a:sym typeface="Lucida Sans"/>
            </a:endParaRPr>
          </a:p>
          <a:p>
            <a:pPr marL="0" lvl="0" indent="0" algn="l" rtl="0">
              <a:lnSpc>
                <a:spcPct val="100000"/>
              </a:lnSpc>
              <a:spcBef>
                <a:spcPts val="0"/>
              </a:spcBef>
              <a:spcAft>
                <a:spcPts val="0"/>
              </a:spcAft>
              <a:buNone/>
            </a:pPr>
            <a:r>
              <a:rPr lang="en-US">
                <a:solidFill>
                  <a:srgbClr val="D9E1FF"/>
                </a:solidFill>
                <a:latin typeface="Lucida Sans"/>
                <a:ea typeface="Lucida Sans"/>
                <a:cs typeface="Lucida Sans"/>
                <a:sym typeface="Lucida Sans"/>
              </a:rPr>
              <a:t>        CONTINUE</a:t>
            </a:r>
            <a:endParaRPr>
              <a:solidFill>
                <a:srgbClr val="D9E1FF"/>
              </a:solidFill>
              <a:latin typeface="Lucida Sans"/>
              <a:ea typeface="Lucida Sans"/>
              <a:cs typeface="Lucida Sans"/>
              <a:sym typeface="Lucida Sans"/>
            </a:endParaRPr>
          </a:p>
          <a:p>
            <a:pPr marL="0" lvl="0" indent="0" algn="l" rtl="0">
              <a:lnSpc>
                <a:spcPct val="100000"/>
              </a:lnSpc>
              <a:spcBef>
                <a:spcPts val="0"/>
              </a:spcBef>
              <a:spcAft>
                <a:spcPts val="0"/>
              </a:spcAft>
              <a:buNone/>
            </a:pPr>
            <a:r>
              <a:rPr lang="en-US">
                <a:solidFill>
                  <a:srgbClr val="D9E1FF"/>
                </a:solidFill>
                <a:latin typeface="Lucida Sans"/>
                <a:ea typeface="Lucida Sans"/>
                <a:cs typeface="Lucida Sans"/>
                <a:sym typeface="Lucida Sans"/>
              </a:rPr>
              <a:t>    ENDIF</a:t>
            </a:r>
            <a:endParaRPr>
              <a:solidFill>
                <a:srgbClr val="D9E1FF"/>
              </a:solidFill>
              <a:latin typeface="Lucida Sans"/>
              <a:ea typeface="Lucida Sans"/>
              <a:cs typeface="Lucida Sans"/>
              <a:sym typeface="Lucida Sans"/>
            </a:endParaRPr>
          </a:p>
          <a:p>
            <a:pPr marL="0" lvl="0" indent="0" algn="l" rtl="0">
              <a:lnSpc>
                <a:spcPct val="100000"/>
              </a:lnSpc>
              <a:spcBef>
                <a:spcPts val="0"/>
              </a:spcBef>
              <a:spcAft>
                <a:spcPts val="0"/>
              </a:spcAft>
              <a:buNone/>
            </a:pPr>
            <a:endParaRPr>
              <a:solidFill>
                <a:srgbClr val="D9E1FF"/>
              </a:solidFill>
              <a:latin typeface="Lucida Sans"/>
              <a:ea typeface="Lucida Sans"/>
              <a:cs typeface="Lucida Sans"/>
              <a:sym typeface="Lucida Sans"/>
            </a:endParaRPr>
          </a:p>
          <a:p>
            <a:pPr marL="0" lvl="0" indent="0" algn="l" rtl="0">
              <a:lnSpc>
                <a:spcPct val="100000"/>
              </a:lnSpc>
              <a:spcBef>
                <a:spcPts val="0"/>
              </a:spcBef>
              <a:spcAft>
                <a:spcPts val="0"/>
              </a:spcAft>
              <a:buNone/>
            </a:pPr>
            <a:r>
              <a:rPr lang="en-US">
                <a:solidFill>
                  <a:srgbClr val="D9E1FF"/>
                </a:solidFill>
                <a:latin typeface="Lucida Sans"/>
                <a:ea typeface="Lucida Sans"/>
                <a:cs typeface="Lucida Sans"/>
                <a:sym typeface="Lucida Sans"/>
              </a:rPr>
              <a:t>    IF Vf &gt;= Vs THEN</a:t>
            </a:r>
            <a:endParaRPr>
              <a:solidFill>
                <a:srgbClr val="D9E1FF"/>
              </a:solidFill>
              <a:latin typeface="Lucida Sans"/>
              <a:ea typeface="Lucida Sans"/>
              <a:cs typeface="Lucida Sans"/>
              <a:sym typeface="Lucida Sans"/>
            </a:endParaRPr>
          </a:p>
          <a:p>
            <a:pPr marL="0" lvl="0" indent="0" algn="l" rtl="0">
              <a:lnSpc>
                <a:spcPct val="100000"/>
              </a:lnSpc>
              <a:spcBef>
                <a:spcPts val="0"/>
              </a:spcBef>
              <a:spcAft>
                <a:spcPts val="0"/>
              </a:spcAft>
              <a:buNone/>
            </a:pPr>
            <a:r>
              <a:rPr lang="en-US">
                <a:solidFill>
                  <a:srgbClr val="D9E1FF"/>
                </a:solidFill>
                <a:latin typeface="Lucida Sans"/>
                <a:ea typeface="Lucida Sans"/>
                <a:cs typeface="Lucida Sans"/>
                <a:sym typeface="Lucida Sans"/>
              </a:rPr>
              <a:t>        DISPLAY "Invalid circuit. Forward voltage must be less than supply voltage."</a:t>
            </a:r>
            <a:endParaRPr>
              <a:solidFill>
                <a:srgbClr val="D9E1FF"/>
              </a:solidFill>
              <a:latin typeface="Lucida Sans"/>
              <a:ea typeface="Lucida Sans"/>
              <a:cs typeface="Lucida Sans"/>
              <a:sym typeface="Lucida Sans"/>
            </a:endParaRPr>
          </a:p>
          <a:p>
            <a:pPr marL="0" lvl="0" indent="0" algn="l" rtl="0">
              <a:lnSpc>
                <a:spcPct val="100000"/>
              </a:lnSpc>
              <a:spcBef>
                <a:spcPts val="0"/>
              </a:spcBef>
              <a:spcAft>
                <a:spcPts val="0"/>
              </a:spcAft>
              <a:buNone/>
            </a:pPr>
            <a:r>
              <a:rPr lang="en-US">
                <a:solidFill>
                  <a:srgbClr val="D9E1FF"/>
                </a:solidFill>
                <a:latin typeface="Lucida Sans"/>
                <a:ea typeface="Lucida Sans"/>
                <a:cs typeface="Lucida Sans"/>
                <a:sym typeface="Lucida Sans"/>
              </a:rPr>
              <a:t>        CONTINUE</a:t>
            </a:r>
            <a:endParaRPr>
              <a:solidFill>
                <a:srgbClr val="D9E1FF"/>
              </a:solidFill>
              <a:latin typeface="Lucida Sans"/>
              <a:ea typeface="Lucida Sans"/>
              <a:cs typeface="Lucida Sans"/>
              <a:sym typeface="Lucida Sans"/>
            </a:endParaRPr>
          </a:p>
          <a:p>
            <a:pPr marL="0" lvl="0" indent="0" algn="l" rtl="0">
              <a:lnSpc>
                <a:spcPct val="100000"/>
              </a:lnSpc>
              <a:spcBef>
                <a:spcPts val="0"/>
              </a:spcBef>
              <a:spcAft>
                <a:spcPts val="0"/>
              </a:spcAft>
              <a:buNone/>
            </a:pPr>
            <a:r>
              <a:rPr lang="en-US">
                <a:solidFill>
                  <a:srgbClr val="D9E1FF"/>
                </a:solidFill>
                <a:latin typeface="Lucida Sans"/>
                <a:ea typeface="Lucida Sans"/>
                <a:cs typeface="Lucida Sans"/>
                <a:sym typeface="Lucida Sans"/>
              </a:rPr>
              <a:t>   ENDIF</a:t>
            </a:r>
            <a:endParaRPr>
              <a:solidFill>
                <a:srgbClr val="D9E1FF"/>
              </a:solidFill>
              <a:latin typeface="Lucida Sans"/>
              <a:ea typeface="Lucida Sans"/>
              <a:cs typeface="Lucida Sans"/>
              <a:sym typeface="Lucida Sans"/>
            </a:endParaRPr>
          </a:p>
        </p:txBody>
      </p:sp>
      <p:sp>
        <p:nvSpPr>
          <p:cNvPr id="249" name="Google Shape;249;p21"/>
          <p:cNvSpPr txBox="1"/>
          <p:nvPr/>
        </p:nvSpPr>
        <p:spPr>
          <a:xfrm>
            <a:off x="5708373" y="349751"/>
            <a:ext cx="6089700" cy="2936100"/>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stStyle>
          <a:p>
            <a:pPr marL="0" lvl="0" indent="0" algn="l" rtl="0">
              <a:spcBef>
                <a:spcPts val="0"/>
              </a:spcBef>
              <a:spcAft>
                <a:spcPts val="0"/>
              </a:spcAft>
              <a:buNone/>
            </a:pPr>
            <a:r>
              <a:rPr lang="en-US">
                <a:solidFill>
                  <a:srgbClr val="FFFFFF"/>
                </a:solidFill>
                <a:latin typeface="Calibri"/>
                <a:ea typeface="Calibri"/>
                <a:cs typeface="Calibri"/>
                <a:sym typeface="Calibri"/>
              </a:rPr>
              <a:t> SET Resistor = (Vs - Vf) / I</a:t>
            </a:r>
            <a:endParaRPr>
              <a:solidFill>
                <a:srgbClr val="FFFFFF"/>
              </a:solidFill>
              <a:latin typeface="Calibri"/>
              <a:ea typeface="Calibri"/>
              <a:cs typeface="Calibri"/>
              <a:sym typeface="Calibri"/>
            </a:endParaRPr>
          </a:p>
          <a:p>
            <a:pPr marL="0" lvl="0" indent="0" algn="l" rtl="0">
              <a:spcBef>
                <a:spcPts val="0"/>
              </a:spcBef>
              <a:spcAft>
                <a:spcPts val="0"/>
              </a:spcAft>
              <a:buNone/>
            </a:pPr>
            <a:endParaRPr>
              <a:solidFill>
                <a:srgbClr val="FFFFFF"/>
              </a:solidFill>
              <a:latin typeface="Calibri"/>
              <a:ea typeface="Calibri"/>
              <a:cs typeface="Calibri"/>
              <a:sym typeface="Calibri"/>
            </a:endParaRPr>
          </a:p>
          <a:p>
            <a:pPr marL="0" lvl="0" indent="0" algn="l" rtl="0">
              <a:spcBef>
                <a:spcPts val="0"/>
              </a:spcBef>
              <a:spcAft>
                <a:spcPts val="0"/>
              </a:spcAft>
              <a:buNone/>
            </a:pPr>
            <a:r>
              <a:rPr lang="en-US">
                <a:solidFill>
                  <a:srgbClr val="FFFFFF"/>
                </a:solidFill>
                <a:latin typeface="Calibri"/>
                <a:ea typeface="Calibri"/>
                <a:cs typeface="Calibri"/>
                <a:sym typeface="Calibri"/>
              </a:rPr>
              <a:t>    SET Power = I * I * Resistor</a:t>
            </a:r>
            <a:endParaRPr>
              <a:solidFill>
                <a:srgbClr val="FFFFFF"/>
              </a:solidFill>
              <a:latin typeface="Calibri"/>
              <a:ea typeface="Calibri"/>
              <a:cs typeface="Calibri"/>
              <a:sym typeface="Calibri"/>
            </a:endParaRPr>
          </a:p>
          <a:p>
            <a:pPr marL="0" lvl="0" indent="0" algn="l" rtl="0">
              <a:spcBef>
                <a:spcPts val="0"/>
              </a:spcBef>
              <a:spcAft>
                <a:spcPts val="0"/>
              </a:spcAft>
              <a:buNone/>
            </a:pPr>
            <a:endParaRPr>
              <a:solidFill>
                <a:srgbClr val="FFFFFF"/>
              </a:solidFill>
              <a:latin typeface="Calibri"/>
              <a:ea typeface="Calibri"/>
              <a:cs typeface="Calibri"/>
              <a:sym typeface="Calibri"/>
            </a:endParaRPr>
          </a:p>
          <a:p>
            <a:pPr marL="0" lvl="0" indent="0" algn="l" rtl="0">
              <a:spcBef>
                <a:spcPts val="0"/>
              </a:spcBef>
              <a:spcAft>
                <a:spcPts val="0"/>
              </a:spcAft>
              <a:buNone/>
            </a:pPr>
            <a:r>
              <a:rPr lang="en-US">
                <a:solidFill>
                  <a:srgbClr val="FFFFFF"/>
                </a:solidFill>
                <a:latin typeface="Calibri"/>
                <a:ea typeface="Calibri"/>
                <a:cs typeface="Calibri"/>
                <a:sym typeface="Calibri"/>
              </a:rPr>
              <a:t>    IF Resistor &lt;= 0 THEN</a:t>
            </a:r>
            <a:endParaRPr>
              <a:solidFill>
                <a:srgbClr val="FFFFFF"/>
              </a:solidFill>
              <a:latin typeface="Calibri"/>
              <a:ea typeface="Calibri"/>
              <a:cs typeface="Calibri"/>
              <a:sym typeface="Calibri"/>
            </a:endParaRPr>
          </a:p>
          <a:p>
            <a:pPr marL="0" lvl="0" indent="0" algn="l" rtl="0">
              <a:spcBef>
                <a:spcPts val="0"/>
              </a:spcBef>
              <a:spcAft>
                <a:spcPts val="0"/>
              </a:spcAft>
              <a:buNone/>
            </a:pPr>
            <a:r>
              <a:rPr lang="en-US">
                <a:solidFill>
                  <a:srgbClr val="FFFFFF"/>
                </a:solidFill>
                <a:latin typeface="Calibri"/>
                <a:ea typeface="Calibri"/>
                <a:cs typeface="Calibri"/>
                <a:sym typeface="Calibri"/>
              </a:rPr>
              <a:t>        Status = "INVALID"</a:t>
            </a:r>
            <a:endParaRPr>
              <a:solidFill>
                <a:srgbClr val="FFFFFF"/>
              </a:solidFill>
              <a:latin typeface="Calibri"/>
              <a:ea typeface="Calibri"/>
              <a:cs typeface="Calibri"/>
              <a:sym typeface="Calibri"/>
            </a:endParaRPr>
          </a:p>
          <a:p>
            <a:pPr marL="0" lvl="0" indent="0" algn="l" rtl="0">
              <a:spcBef>
                <a:spcPts val="0"/>
              </a:spcBef>
              <a:spcAft>
                <a:spcPts val="0"/>
              </a:spcAft>
              <a:buNone/>
            </a:pPr>
            <a:r>
              <a:rPr lang="en-US">
                <a:solidFill>
                  <a:srgbClr val="FFFFFF"/>
                </a:solidFill>
                <a:latin typeface="Calibri"/>
                <a:ea typeface="Calibri"/>
                <a:cs typeface="Calibri"/>
                <a:sym typeface="Calibri"/>
              </a:rPr>
              <a:t>    ELSE IF Power &gt; 0.25 THEN</a:t>
            </a:r>
            <a:endParaRPr>
              <a:solidFill>
                <a:srgbClr val="FFFFFF"/>
              </a:solidFill>
              <a:latin typeface="Calibri"/>
              <a:ea typeface="Calibri"/>
              <a:cs typeface="Calibri"/>
              <a:sym typeface="Calibri"/>
            </a:endParaRPr>
          </a:p>
          <a:p>
            <a:pPr marL="0" lvl="0" indent="0" algn="l" rtl="0">
              <a:spcBef>
                <a:spcPts val="0"/>
              </a:spcBef>
              <a:spcAft>
                <a:spcPts val="0"/>
              </a:spcAft>
              <a:buNone/>
            </a:pPr>
            <a:r>
              <a:rPr lang="en-US">
                <a:solidFill>
                  <a:srgbClr val="FFFFFF"/>
                </a:solidFill>
                <a:latin typeface="Calibri"/>
                <a:ea typeface="Calibri"/>
                <a:cs typeface="Calibri"/>
                <a:sym typeface="Calibri"/>
              </a:rPr>
              <a:t>        Status = "WARNING: Use a resistor with a higher power rating."</a:t>
            </a:r>
            <a:endParaRPr>
              <a:solidFill>
                <a:srgbClr val="FFFFFF"/>
              </a:solidFill>
              <a:latin typeface="Calibri"/>
              <a:ea typeface="Calibri"/>
              <a:cs typeface="Calibri"/>
              <a:sym typeface="Calibri"/>
            </a:endParaRPr>
          </a:p>
          <a:p>
            <a:pPr marL="0" lvl="0" indent="0" algn="l" rtl="0">
              <a:spcBef>
                <a:spcPts val="0"/>
              </a:spcBef>
              <a:spcAft>
                <a:spcPts val="0"/>
              </a:spcAft>
              <a:buNone/>
            </a:pPr>
            <a:r>
              <a:rPr lang="en-US">
                <a:solidFill>
                  <a:srgbClr val="FFFFFF"/>
                </a:solidFill>
                <a:latin typeface="Calibri"/>
                <a:ea typeface="Calibri"/>
                <a:cs typeface="Calibri"/>
                <a:sym typeface="Calibri"/>
              </a:rPr>
              <a:t>    ELSE</a:t>
            </a:r>
            <a:endParaRPr>
              <a:solidFill>
                <a:srgbClr val="FFFFFF"/>
              </a:solidFill>
              <a:latin typeface="Calibri"/>
              <a:ea typeface="Calibri"/>
              <a:cs typeface="Calibri"/>
              <a:sym typeface="Calibri"/>
            </a:endParaRPr>
          </a:p>
          <a:p>
            <a:pPr marL="0" lvl="0" indent="0" algn="l" rtl="0">
              <a:spcBef>
                <a:spcPts val="0"/>
              </a:spcBef>
              <a:spcAft>
                <a:spcPts val="0"/>
              </a:spcAft>
              <a:buNone/>
            </a:pPr>
            <a:r>
              <a:rPr lang="en-US">
                <a:solidFill>
                  <a:srgbClr val="FFFFFF"/>
                </a:solidFill>
                <a:latin typeface="Calibri"/>
                <a:ea typeface="Calibri"/>
                <a:cs typeface="Calibri"/>
                <a:sym typeface="Calibri"/>
              </a:rPr>
              <a:t>        Status = "ACCEPTED"</a:t>
            </a:r>
            <a:endParaRPr>
              <a:solidFill>
                <a:srgbClr val="FFFFFF"/>
              </a:solidFill>
              <a:latin typeface="Calibri"/>
              <a:ea typeface="Calibri"/>
              <a:cs typeface="Calibri"/>
              <a:sym typeface="Calibri"/>
            </a:endParaRPr>
          </a:p>
          <a:p>
            <a:pPr marL="0" lvl="0" indent="0" algn="l" rtl="0">
              <a:spcBef>
                <a:spcPts val="0"/>
              </a:spcBef>
              <a:spcAft>
                <a:spcPts val="0"/>
              </a:spcAft>
              <a:buNone/>
            </a:pPr>
            <a:r>
              <a:rPr lang="en-US">
                <a:solidFill>
                  <a:srgbClr val="FFFFFF"/>
                </a:solidFill>
                <a:latin typeface="Calibri"/>
                <a:ea typeface="Calibri"/>
                <a:cs typeface="Calibri"/>
                <a:sym typeface="Calibri"/>
              </a:rPr>
              <a:t>    ENDIF</a:t>
            </a:r>
            <a:endParaRPr>
              <a:solidFill>
                <a:srgbClr val="FFFFFF"/>
              </a:solidFill>
              <a:latin typeface="Calibri"/>
              <a:ea typeface="Calibri"/>
              <a:cs typeface="Calibri"/>
              <a:sym typeface="Calibri"/>
            </a:endParaRPr>
          </a:p>
          <a:p>
            <a:pPr marL="0" lvl="0" indent="0" algn="l" rtl="0">
              <a:spcBef>
                <a:spcPts val="0"/>
              </a:spcBef>
              <a:spcAft>
                <a:spcPts val="0"/>
              </a:spcAft>
              <a:buNone/>
            </a:pPr>
            <a:endParaRPr>
              <a:solidFill>
                <a:srgbClr val="FFFFFF"/>
              </a:solidFill>
              <a:latin typeface="Calibri"/>
              <a:ea typeface="Calibri"/>
              <a:cs typeface="Calibri"/>
              <a:sym typeface="Calibri"/>
            </a:endParaRPr>
          </a:p>
          <a:p>
            <a:pPr marL="0" lvl="0" indent="0" algn="l" rtl="0">
              <a:spcBef>
                <a:spcPts val="0"/>
              </a:spcBef>
              <a:spcAft>
                <a:spcPts val="0"/>
              </a:spcAft>
              <a:buNone/>
            </a:pPr>
            <a:r>
              <a:rPr lang="en-US">
                <a:solidFill>
                  <a:srgbClr val="FFFFFF"/>
                </a:solidFill>
                <a:latin typeface="Calibri"/>
                <a:ea typeface="Calibri"/>
                <a:cs typeface="Calibri"/>
                <a:sym typeface="Calibri"/>
              </a:rPr>
              <a:t>    </a:t>
            </a:r>
            <a:endParaRPr>
              <a:solidFill>
                <a:srgbClr val="FFFFFF"/>
              </a:solidFill>
              <a:latin typeface="Calibri"/>
              <a:ea typeface="Calibri"/>
              <a:cs typeface="Calibri"/>
              <a:sym typeface="Calibri"/>
            </a:endParaRPr>
          </a:p>
        </p:txBody>
      </p:sp>
      <p:sp>
        <p:nvSpPr>
          <p:cNvPr id="250" name="Google Shape;250;p21"/>
          <p:cNvSpPr txBox="1"/>
          <p:nvPr/>
        </p:nvSpPr>
        <p:spPr>
          <a:xfrm>
            <a:off x="5998044" y="3028945"/>
            <a:ext cx="4601100" cy="4206000"/>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stStyle>
          <a:p>
            <a:pPr marL="0" lvl="0" indent="0" algn="l" rtl="0">
              <a:spcBef>
                <a:spcPts val="0"/>
              </a:spcBef>
              <a:spcAft>
                <a:spcPts val="0"/>
              </a:spcAft>
              <a:buNone/>
            </a:pPr>
            <a:r>
              <a:rPr lang="en-US" sz="1200">
                <a:solidFill>
                  <a:srgbClr val="FFFFFF"/>
                </a:solidFill>
                <a:latin typeface="Calibri"/>
                <a:ea typeface="Calibri"/>
                <a:cs typeface="Calibri"/>
                <a:sym typeface="Calibri"/>
              </a:rPr>
              <a:t>DISPLAY "------------------------------------"</a:t>
            </a:r>
            <a:endParaRPr sz="1200">
              <a:solidFill>
                <a:srgbClr val="FFFFFF"/>
              </a:solidFill>
              <a:latin typeface="Calibri"/>
              <a:ea typeface="Calibri"/>
              <a:cs typeface="Calibri"/>
              <a:sym typeface="Calibri"/>
            </a:endParaRPr>
          </a:p>
          <a:p>
            <a:pPr marL="0" lvl="0" indent="0" algn="l" rtl="0">
              <a:spcBef>
                <a:spcPts val="0"/>
              </a:spcBef>
              <a:spcAft>
                <a:spcPts val="0"/>
              </a:spcAft>
              <a:buNone/>
            </a:pPr>
            <a:r>
              <a:rPr lang="en-US" sz="1200">
                <a:solidFill>
                  <a:srgbClr val="FFFFFF"/>
                </a:solidFill>
                <a:latin typeface="Calibri"/>
                <a:ea typeface="Calibri"/>
                <a:cs typeface="Calibri"/>
                <a:sym typeface="Calibri"/>
              </a:rPr>
              <a:t>    DISPLAY "LED Name: ", LED_Name</a:t>
            </a:r>
            <a:endParaRPr sz="1200">
              <a:solidFill>
                <a:srgbClr val="FFFFFF"/>
              </a:solidFill>
              <a:latin typeface="Calibri"/>
              <a:ea typeface="Calibri"/>
              <a:cs typeface="Calibri"/>
              <a:sym typeface="Calibri"/>
            </a:endParaRPr>
          </a:p>
          <a:p>
            <a:pPr marL="0" lvl="0" indent="0" algn="l" rtl="0">
              <a:spcBef>
                <a:spcPts val="0"/>
              </a:spcBef>
              <a:spcAft>
                <a:spcPts val="0"/>
              </a:spcAft>
              <a:buNone/>
            </a:pPr>
            <a:r>
              <a:rPr lang="en-US" sz="1200">
                <a:solidFill>
                  <a:srgbClr val="FFFFFF"/>
                </a:solidFill>
                <a:latin typeface="Calibri"/>
                <a:ea typeface="Calibri"/>
                <a:cs typeface="Calibri"/>
                <a:sym typeface="Calibri"/>
              </a:rPr>
              <a:t>    DISPLAY "Supply Voltage: ", Vs, " V"</a:t>
            </a:r>
            <a:endParaRPr sz="1200">
              <a:solidFill>
                <a:srgbClr val="FFFFFF"/>
              </a:solidFill>
              <a:latin typeface="Calibri"/>
              <a:ea typeface="Calibri"/>
              <a:cs typeface="Calibri"/>
              <a:sym typeface="Calibri"/>
            </a:endParaRPr>
          </a:p>
          <a:p>
            <a:pPr marL="0" lvl="0" indent="0" algn="l" rtl="0">
              <a:spcBef>
                <a:spcPts val="0"/>
              </a:spcBef>
              <a:spcAft>
                <a:spcPts val="0"/>
              </a:spcAft>
              <a:buNone/>
            </a:pPr>
            <a:r>
              <a:rPr lang="en-US" sz="1200">
                <a:solidFill>
                  <a:srgbClr val="FFFFFF"/>
                </a:solidFill>
                <a:latin typeface="Calibri"/>
                <a:ea typeface="Calibri"/>
                <a:cs typeface="Calibri"/>
                <a:sym typeface="Calibri"/>
              </a:rPr>
              <a:t>    DISPLAY "Forward Voltage: ", Vf, " V"</a:t>
            </a:r>
            <a:endParaRPr sz="1200">
              <a:solidFill>
                <a:srgbClr val="FFFFFF"/>
              </a:solidFill>
              <a:latin typeface="Calibri"/>
              <a:ea typeface="Calibri"/>
              <a:cs typeface="Calibri"/>
              <a:sym typeface="Calibri"/>
            </a:endParaRPr>
          </a:p>
          <a:p>
            <a:pPr marL="0" lvl="0" indent="0" algn="l" rtl="0">
              <a:spcBef>
                <a:spcPts val="0"/>
              </a:spcBef>
              <a:spcAft>
                <a:spcPts val="0"/>
              </a:spcAft>
              <a:buNone/>
            </a:pPr>
            <a:r>
              <a:rPr lang="en-US" sz="1200">
                <a:solidFill>
                  <a:srgbClr val="FFFFFF"/>
                </a:solidFill>
                <a:latin typeface="Calibri"/>
                <a:ea typeface="Calibri"/>
                <a:cs typeface="Calibri"/>
                <a:sym typeface="Calibri"/>
              </a:rPr>
              <a:t>    DISPLAY "LED Current: ", I, " A"</a:t>
            </a:r>
            <a:endParaRPr sz="1200">
              <a:solidFill>
                <a:srgbClr val="FFFFFF"/>
              </a:solidFill>
              <a:latin typeface="Calibri"/>
              <a:ea typeface="Calibri"/>
              <a:cs typeface="Calibri"/>
              <a:sym typeface="Calibri"/>
            </a:endParaRPr>
          </a:p>
          <a:p>
            <a:pPr marL="0" lvl="0" indent="0" algn="l" rtl="0">
              <a:spcBef>
                <a:spcPts val="0"/>
              </a:spcBef>
              <a:spcAft>
                <a:spcPts val="0"/>
              </a:spcAft>
              <a:buNone/>
            </a:pPr>
            <a:r>
              <a:rPr lang="en-US" sz="1200">
                <a:solidFill>
                  <a:srgbClr val="FFFFFF"/>
                </a:solidFill>
                <a:latin typeface="Calibri"/>
                <a:ea typeface="Calibri"/>
                <a:cs typeface="Calibri"/>
                <a:sym typeface="Calibri"/>
              </a:rPr>
              <a:t>    DISPLAY "Recommended Resistor: ", Resistor, " Ohms"</a:t>
            </a:r>
            <a:endParaRPr sz="1200">
              <a:solidFill>
                <a:srgbClr val="FFFFFF"/>
              </a:solidFill>
              <a:latin typeface="Calibri"/>
              <a:ea typeface="Calibri"/>
              <a:cs typeface="Calibri"/>
              <a:sym typeface="Calibri"/>
            </a:endParaRPr>
          </a:p>
          <a:p>
            <a:pPr marL="0" lvl="0" indent="0" algn="l" rtl="0">
              <a:spcBef>
                <a:spcPts val="0"/>
              </a:spcBef>
              <a:spcAft>
                <a:spcPts val="0"/>
              </a:spcAft>
              <a:buNone/>
            </a:pPr>
            <a:r>
              <a:rPr lang="en-US" sz="1200">
                <a:solidFill>
                  <a:srgbClr val="FFFFFF"/>
                </a:solidFill>
                <a:latin typeface="Calibri"/>
                <a:ea typeface="Calibri"/>
                <a:cs typeface="Calibri"/>
                <a:sym typeface="Calibri"/>
              </a:rPr>
              <a:t>    DISPLAY "Minimum Power Rating: ", Power, " Watts"</a:t>
            </a:r>
            <a:endParaRPr sz="1200">
              <a:solidFill>
                <a:srgbClr val="FFFFFF"/>
              </a:solidFill>
              <a:latin typeface="Calibri"/>
              <a:ea typeface="Calibri"/>
              <a:cs typeface="Calibri"/>
              <a:sym typeface="Calibri"/>
            </a:endParaRPr>
          </a:p>
          <a:p>
            <a:pPr marL="0" lvl="0" indent="0" algn="l" rtl="0">
              <a:spcBef>
                <a:spcPts val="0"/>
              </a:spcBef>
              <a:spcAft>
                <a:spcPts val="0"/>
              </a:spcAft>
              <a:buNone/>
            </a:pPr>
            <a:r>
              <a:rPr lang="en-US" sz="1200">
                <a:solidFill>
                  <a:srgbClr val="FFFFFF"/>
                </a:solidFill>
                <a:latin typeface="Calibri"/>
                <a:ea typeface="Calibri"/>
                <a:cs typeface="Calibri"/>
                <a:sym typeface="Calibri"/>
              </a:rPr>
              <a:t>    DISPLAY "Circuit Status: ", Status</a:t>
            </a:r>
            <a:endParaRPr sz="1200">
              <a:solidFill>
                <a:srgbClr val="FFFFFF"/>
              </a:solidFill>
              <a:latin typeface="Calibri"/>
              <a:ea typeface="Calibri"/>
              <a:cs typeface="Calibri"/>
              <a:sym typeface="Calibri"/>
            </a:endParaRPr>
          </a:p>
          <a:p>
            <a:pPr marL="0" lvl="0" indent="0" algn="l" rtl="0">
              <a:spcBef>
                <a:spcPts val="0"/>
              </a:spcBef>
              <a:spcAft>
                <a:spcPts val="0"/>
              </a:spcAft>
              <a:buNone/>
            </a:pPr>
            <a:r>
              <a:rPr lang="en-US" sz="1200">
                <a:solidFill>
                  <a:srgbClr val="FFFFFF"/>
                </a:solidFill>
                <a:latin typeface="Calibri"/>
                <a:ea typeface="Calibri"/>
                <a:cs typeface="Calibri"/>
                <a:sym typeface="Calibri"/>
              </a:rPr>
              <a:t>    DISPLAY "------------------------------------"</a:t>
            </a:r>
            <a:endParaRPr sz="1200">
              <a:solidFill>
                <a:srgbClr val="FFFFFF"/>
              </a:solidFill>
              <a:latin typeface="Calibri"/>
              <a:ea typeface="Calibri"/>
              <a:cs typeface="Calibri"/>
              <a:sym typeface="Calibri"/>
            </a:endParaRPr>
          </a:p>
          <a:p>
            <a:pPr marL="0" lvl="0" indent="0" algn="l" rtl="0">
              <a:spcBef>
                <a:spcPts val="0"/>
              </a:spcBef>
              <a:spcAft>
                <a:spcPts val="0"/>
              </a:spcAft>
              <a:buNone/>
            </a:pPr>
            <a:endParaRPr sz="1200">
              <a:solidFill>
                <a:srgbClr val="FFFFFF"/>
              </a:solidFill>
              <a:latin typeface="Calibri"/>
              <a:ea typeface="Calibri"/>
              <a:cs typeface="Calibri"/>
              <a:sym typeface="Calibri"/>
            </a:endParaRPr>
          </a:p>
          <a:p>
            <a:pPr marL="0" lvl="0" indent="0" algn="l" rtl="0">
              <a:spcBef>
                <a:spcPts val="0"/>
              </a:spcBef>
              <a:spcAft>
                <a:spcPts val="0"/>
              </a:spcAft>
              <a:buNone/>
            </a:pPr>
            <a:r>
              <a:rPr lang="en-US" sz="1200">
                <a:solidFill>
                  <a:srgbClr val="FFFFFF"/>
                </a:solidFill>
                <a:latin typeface="Calibri"/>
                <a:ea typeface="Calibri"/>
                <a:cs typeface="Calibri"/>
                <a:sym typeface="Calibri"/>
              </a:rPr>
              <a:t>    WRITE all report details to "led_resistor_report.txt"</a:t>
            </a:r>
            <a:endParaRPr sz="1200">
              <a:solidFill>
                <a:srgbClr val="FFFFFF"/>
              </a:solidFill>
              <a:latin typeface="Calibri"/>
              <a:ea typeface="Calibri"/>
              <a:cs typeface="Calibri"/>
              <a:sym typeface="Calibri"/>
            </a:endParaRPr>
          </a:p>
          <a:p>
            <a:pPr marL="0" lvl="0" indent="0" algn="l" rtl="0">
              <a:spcBef>
                <a:spcPts val="0"/>
              </a:spcBef>
              <a:spcAft>
                <a:spcPts val="0"/>
              </a:spcAft>
              <a:buNone/>
            </a:pPr>
            <a:endParaRPr sz="1200">
              <a:solidFill>
                <a:srgbClr val="FFFFFF"/>
              </a:solidFill>
              <a:latin typeface="Calibri"/>
              <a:ea typeface="Calibri"/>
              <a:cs typeface="Calibri"/>
              <a:sym typeface="Calibri"/>
            </a:endParaRPr>
          </a:p>
          <a:p>
            <a:pPr marL="0" lvl="0" indent="0" algn="l" rtl="0">
              <a:spcBef>
                <a:spcPts val="0"/>
              </a:spcBef>
              <a:spcAft>
                <a:spcPts val="0"/>
              </a:spcAft>
              <a:buNone/>
            </a:pPr>
            <a:r>
              <a:rPr lang="en-US" sz="1200">
                <a:solidFill>
                  <a:srgbClr val="FFFFFF"/>
                </a:solidFill>
                <a:latin typeface="Calibri"/>
                <a:ea typeface="Calibri"/>
                <a:cs typeface="Calibri"/>
                <a:sym typeface="Calibri"/>
              </a:rPr>
              <a:t>    INPUT "Do you want to calculate another LED? (Y/N): ", Choice</a:t>
            </a:r>
            <a:endParaRPr sz="1200">
              <a:solidFill>
                <a:srgbClr val="FFFFFF"/>
              </a:solidFill>
              <a:latin typeface="Calibri"/>
              <a:ea typeface="Calibri"/>
              <a:cs typeface="Calibri"/>
              <a:sym typeface="Calibri"/>
            </a:endParaRPr>
          </a:p>
          <a:p>
            <a:pPr marL="0" lvl="0" indent="0" algn="l" rtl="0">
              <a:spcBef>
                <a:spcPts val="0"/>
              </a:spcBef>
              <a:spcAft>
                <a:spcPts val="0"/>
              </a:spcAft>
              <a:buNone/>
            </a:pPr>
            <a:endParaRPr sz="1200">
              <a:solidFill>
                <a:srgbClr val="FFFFFF"/>
              </a:solidFill>
              <a:latin typeface="Calibri"/>
              <a:ea typeface="Calibri"/>
              <a:cs typeface="Calibri"/>
              <a:sym typeface="Calibri"/>
            </a:endParaRPr>
          </a:p>
          <a:p>
            <a:pPr marL="0" lvl="0" indent="0" algn="l" rtl="0">
              <a:spcBef>
                <a:spcPts val="0"/>
              </a:spcBef>
              <a:spcAft>
                <a:spcPts val="0"/>
              </a:spcAft>
              <a:buNone/>
            </a:pPr>
            <a:r>
              <a:rPr lang="en-US" sz="1200">
                <a:solidFill>
                  <a:srgbClr val="FFFFFF"/>
                </a:solidFill>
                <a:latin typeface="Calibri"/>
                <a:ea typeface="Calibri"/>
                <a:cs typeface="Calibri"/>
                <a:sym typeface="Calibri"/>
              </a:rPr>
              <a:t>UNTIL Choice = 'N' OR Choice = 'n'</a:t>
            </a:r>
            <a:endParaRPr sz="1200">
              <a:solidFill>
                <a:srgbClr val="FFFFFF"/>
              </a:solidFill>
              <a:latin typeface="Calibri"/>
              <a:ea typeface="Calibri"/>
              <a:cs typeface="Calibri"/>
              <a:sym typeface="Calibri"/>
            </a:endParaRPr>
          </a:p>
          <a:p>
            <a:pPr marL="0" lvl="0" indent="0" algn="l" rtl="0">
              <a:spcBef>
                <a:spcPts val="0"/>
              </a:spcBef>
              <a:spcAft>
                <a:spcPts val="0"/>
              </a:spcAft>
              <a:buNone/>
            </a:pPr>
            <a:endParaRPr sz="1200">
              <a:solidFill>
                <a:srgbClr val="FFFFFF"/>
              </a:solidFill>
              <a:latin typeface="Calibri"/>
              <a:ea typeface="Calibri"/>
              <a:cs typeface="Calibri"/>
              <a:sym typeface="Calibri"/>
            </a:endParaRPr>
          </a:p>
          <a:p>
            <a:pPr marL="0" lvl="0" indent="0" algn="l" rtl="0">
              <a:spcBef>
                <a:spcPts val="0"/>
              </a:spcBef>
              <a:spcAft>
                <a:spcPts val="0"/>
              </a:spcAft>
              <a:buNone/>
            </a:pPr>
            <a:r>
              <a:rPr lang="en-US" sz="1200">
                <a:solidFill>
                  <a:srgbClr val="FFFFFF"/>
                </a:solidFill>
                <a:latin typeface="Calibri"/>
                <a:ea typeface="Calibri"/>
                <a:cs typeface="Calibri"/>
                <a:sym typeface="Calibri"/>
              </a:rPr>
              <a:t>CLOSE "led_resistor_report.txt"</a:t>
            </a:r>
            <a:endParaRPr sz="1200">
              <a:solidFill>
                <a:srgbClr val="FFFFFF"/>
              </a:solidFill>
              <a:latin typeface="Calibri"/>
              <a:ea typeface="Calibri"/>
              <a:cs typeface="Calibri"/>
              <a:sym typeface="Calibri"/>
            </a:endParaRPr>
          </a:p>
          <a:p>
            <a:pPr marL="0" lvl="0" indent="0" algn="l" rtl="0">
              <a:spcBef>
                <a:spcPts val="0"/>
              </a:spcBef>
              <a:spcAft>
                <a:spcPts val="0"/>
              </a:spcAft>
              <a:buNone/>
            </a:pPr>
            <a:endParaRPr sz="1200">
              <a:solidFill>
                <a:srgbClr val="FFFFFF"/>
              </a:solidFill>
              <a:latin typeface="Calibri"/>
              <a:ea typeface="Calibri"/>
              <a:cs typeface="Calibri"/>
              <a:sym typeface="Calibri"/>
            </a:endParaRPr>
          </a:p>
          <a:p>
            <a:pPr marL="0" lvl="0" indent="0" algn="l" rtl="0">
              <a:spcBef>
                <a:spcPts val="0"/>
              </a:spcBef>
              <a:spcAft>
                <a:spcPts val="0"/>
              </a:spcAft>
              <a:buNone/>
            </a:pPr>
            <a:r>
              <a:rPr lang="en-US" sz="1200">
                <a:solidFill>
                  <a:srgbClr val="FFFFFF"/>
                </a:solidFill>
                <a:latin typeface="Calibri"/>
                <a:ea typeface="Calibri"/>
                <a:cs typeface="Calibri"/>
                <a:sym typeface="Calibri"/>
              </a:rPr>
              <a:t>DISPLAY "Report saved successfully."</a:t>
            </a:r>
            <a:endParaRPr sz="1200">
              <a:solidFill>
                <a:srgbClr val="FFFFFF"/>
              </a:solidFill>
              <a:latin typeface="Calibri"/>
              <a:ea typeface="Calibri"/>
              <a:cs typeface="Calibri"/>
              <a:sym typeface="Calibri"/>
            </a:endParaRPr>
          </a:p>
          <a:p>
            <a:pPr marL="0" lvl="0" indent="0" algn="l" rtl="0">
              <a:spcBef>
                <a:spcPts val="0"/>
              </a:spcBef>
              <a:spcAft>
                <a:spcPts val="0"/>
              </a:spcAft>
              <a:buNone/>
            </a:pPr>
            <a:endParaRPr sz="1200">
              <a:solidFill>
                <a:srgbClr val="FFFFFF"/>
              </a:solidFill>
              <a:latin typeface="Calibri"/>
              <a:ea typeface="Calibri"/>
              <a:cs typeface="Calibri"/>
              <a:sym typeface="Calibri"/>
            </a:endParaRPr>
          </a:p>
          <a:p>
            <a:pPr marL="0" lvl="0" indent="0" algn="l" rtl="0">
              <a:spcBef>
                <a:spcPts val="0"/>
              </a:spcBef>
              <a:spcAft>
                <a:spcPts val="0"/>
              </a:spcAft>
              <a:buNone/>
            </a:pPr>
            <a:r>
              <a:rPr lang="en-US" sz="1200">
                <a:solidFill>
                  <a:srgbClr val="FFFFFF"/>
                </a:solidFill>
                <a:latin typeface="Calibri"/>
                <a:ea typeface="Calibri"/>
                <a:cs typeface="Calibri"/>
                <a:sym typeface="Calibri"/>
              </a:rPr>
              <a:t>END</a:t>
            </a:r>
            <a:endParaRPr sz="1200">
              <a:solidFill>
                <a:srgbClr val="FFFFFF"/>
              </a:solidFill>
              <a:latin typeface="Calibri"/>
              <a:ea typeface="Calibri"/>
              <a:cs typeface="Calibri"/>
              <a:sym typeface="Calibri"/>
            </a:endParaRPr>
          </a:p>
          <a:p>
            <a:pPr marL="0" lvl="0" indent="0" algn="l" rtl="0">
              <a:spcBef>
                <a:spcPts val="0"/>
              </a:spcBef>
              <a:spcAft>
                <a:spcPts val="0"/>
              </a:spcAft>
              <a:buNone/>
            </a:pPr>
            <a:endParaRPr sz="1200">
              <a:solidFill>
                <a:srgbClr val="FFFFFF"/>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Shape 251"/>
        <p:cNvGrpSpPr/>
        <p:nvPr/>
      </p:nvGrpSpPr>
      <p:grpSpPr>
        <a:xfrm>
          <a:off x="0" y="0"/>
          <a:ext cx="0" cy="0"/>
          <a:chOff x="0" y="0"/>
          <a:chExt cx="0" cy="0"/>
        </a:xfrm>
      </p:grpSpPr>
      <p:sp>
        <p:nvSpPr>
          <p:cNvPr id="252" name="Google Shape;252;p22"/>
          <p:cNvSpPr/>
          <p:nvPr/>
        </p:nvSpPr>
        <p:spPr>
          <a:xfrm>
            <a:off x="0" y="0"/>
            <a:ext cx="11430000" cy="7620000"/>
          </a:xfrm>
          <a:custGeom>
            <a:avLst/>
            <a:gdLst/>
            <a:ahLst/>
            <a:cxnLst/>
            <a:rect l="l" t="t" r="r" b="b"/>
            <a:pathLst>
              <a:path w="11430000" h="7620000" extrusionOk="0">
                <a:moveTo>
                  <a:pt x="11430000" y="0"/>
                </a:moveTo>
                <a:lnTo>
                  <a:pt x="0" y="0"/>
                </a:lnTo>
                <a:lnTo>
                  <a:pt x="0" y="7620000"/>
                </a:lnTo>
                <a:lnTo>
                  <a:pt x="11430000" y="7620000"/>
                </a:lnTo>
                <a:lnTo>
                  <a:pt x="11430000" y="0"/>
                </a:lnTo>
                <a:close/>
              </a:path>
            </a:pathLst>
          </a:custGeom>
          <a:solidFill>
            <a:srgbClr val="0C0932"/>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53" name="Google Shape;253;p22"/>
          <p:cNvSpPr txBox="1">
            <a:spLocks noGrp="1"/>
          </p:cNvSpPr>
          <p:nvPr>
            <p:ph type="title"/>
          </p:nvPr>
        </p:nvSpPr>
        <p:spPr>
          <a:xfrm>
            <a:off x="624879" y="473075"/>
            <a:ext cx="10180200" cy="539700"/>
          </a:xfrm>
          <a:prstGeom prst="rect">
            <a:avLst/>
          </a:prstGeom>
          <a:noFill/>
          <a:ln>
            <a:noFill/>
          </a:ln>
        </p:spPr>
        <p:txBody>
          <a:bodyPr spcFirstLastPara="1" wrap="square" lIns="0" tIns="15875" rIns="0" bIns="0" anchor="t" anchorCtr="0">
            <a:spAutoFit/>
          </a:bodyPr>
          <a:lstStyle/>
          <a:p>
            <a:pPr marL="12700" lvl="0" indent="0" algn="ctr" rtl="0">
              <a:lnSpc>
                <a:spcPct val="100000"/>
              </a:lnSpc>
              <a:spcBef>
                <a:spcPts val="0"/>
              </a:spcBef>
              <a:spcAft>
                <a:spcPts val="0"/>
              </a:spcAft>
              <a:buNone/>
            </a:pPr>
            <a:r>
              <a:rPr lang="en-US"/>
              <a:t>Full Flowchart at a Glance</a:t>
            </a:r>
            <a:endParaRPr/>
          </a:p>
        </p:txBody>
      </p:sp>
      <p:sp>
        <p:nvSpPr>
          <p:cNvPr id="254" name="Google Shape;254;p22"/>
          <p:cNvSpPr txBox="1"/>
          <p:nvPr/>
        </p:nvSpPr>
        <p:spPr>
          <a:xfrm>
            <a:off x="857671" y="1478860"/>
            <a:ext cx="9716700" cy="423600"/>
          </a:xfrm>
          <a:prstGeom prst="rect">
            <a:avLst/>
          </a:prstGeom>
          <a:noFill/>
          <a:ln>
            <a:noFill/>
          </a:ln>
        </p:spPr>
        <p:txBody>
          <a:bodyPr spcFirstLastPara="1" wrap="square" lIns="0" tIns="3800" rIns="0" bIns="0" anchor="t" anchorCtr="0">
            <a:spAutoFit/>
          </a:bodyPr>
          <a:lstStyle/>
          <a:p>
            <a:pPr marL="3416935" marR="5080" lvl="0" indent="-3404870" algn="l" rtl="0">
              <a:lnSpc>
                <a:spcPct val="107000"/>
              </a:lnSpc>
              <a:spcBef>
                <a:spcPts val="0"/>
              </a:spcBef>
              <a:spcAft>
                <a:spcPts val="0"/>
              </a:spcAft>
              <a:buNone/>
            </a:pPr>
            <a:r>
              <a:rPr lang="en-US" sz="1250">
                <a:solidFill>
                  <a:srgbClr val="D9E1FF"/>
                </a:solidFill>
                <a:latin typeface="Arial"/>
                <a:ea typeface="Arial"/>
                <a:cs typeface="Arial"/>
                <a:sym typeface="Arial"/>
              </a:rPr>
              <a:t>The system loops through all N LED circuits, validating inputs, calculating resistor values and power, flagging high-current designs, and saving a complete report before closing.</a:t>
            </a:r>
            <a:endParaRPr sz="1250">
              <a:latin typeface="Arial"/>
              <a:ea typeface="Arial"/>
              <a:cs typeface="Arial"/>
              <a:sym typeface="Arial"/>
            </a:endParaRPr>
          </a:p>
        </p:txBody>
      </p:sp>
      <p:pic>
        <p:nvPicPr>
          <p:cNvPr id="255" name="Google Shape;255;p22" descr="Screenshot 2026-07-11 101025"/>
          <p:cNvPicPr preferRelativeResize="0"/>
          <p:nvPr/>
        </p:nvPicPr>
        <p:blipFill rotWithShape="1">
          <a:blip r:embed="rId2">
            <a:alphaModFix/>
          </a:blip>
          <a:srcRect/>
          <a:stretch/>
        </p:blipFill>
        <p:spPr>
          <a:xfrm>
            <a:off x="4267200" y="1981200"/>
            <a:ext cx="3092450" cy="50355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Shape 251"/>
        <p:cNvGrpSpPr/>
        <p:nvPr/>
      </p:nvGrpSpPr>
      <p:grpSpPr>
        <a:xfrm>
          <a:off x="0" y="0"/>
          <a:ext cx="0" cy="0"/>
          <a:chOff x="0" y="0"/>
          <a:chExt cx="0" cy="0"/>
        </a:xfrm>
      </p:grpSpPr>
      <p:sp>
        <p:nvSpPr>
          <p:cNvPr id="252" name="Google Shape;252;p22"/>
          <p:cNvSpPr/>
          <p:nvPr/>
        </p:nvSpPr>
        <p:spPr>
          <a:xfrm>
            <a:off x="0" y="0"/>
            <a:ext cx="11430000" cy="7620000"/>
          </a:xfrm>
          <a:custGeom>
            <a:avLst/>
            <a:gdLst/>
            <a:ahLst/>
            <a:cxnLst/>
            <a:rect l="l" t="t" r="r" b="b"/>
            <a:pathLst>
              <a:path w="11430000" h="7620000" extrusionOk="0">
                <a:moveTo>
                  <a:pt x="11430000" y="0"/>
                </a:moveTo>
                <a:lnTo>
                  <a:pt x="0" y="0"/>
                </a:lnTo>
                <a:lnTo>
                  <a:pt x="0" y="7620000"/>
                </a:lnTo>
                <a:lnTo>
                  <a:pt x="11430000" y="7620000"/>
                </a:lnTo>
                <a:lnTo>
                  <a:pt x="11430000" y="0"/>
                </a:lnTo>
                <a:close/>
              </a:path>
            </a:pathLst>
          </a:custGeom>
          <a:solidFill>
            <a:srgbClr val="0C0932"/>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53" name="Google Shape;253;p22"/>
          <p:cNvSpPr txBox="1">
            <a:spLocks noGrp="1"/>
          </p:cNvSpPr>
          <p:nvPr>
            <p:ph type="title"/>
          </p:nvPr>
        </p:nvSpPr>
        <p:spPr>
          <a:xfrm>
            <a:off x="624879" y="473075"/>
            <a:ext cx="10180200" cy="539700"/>
          </a:xfrm>
          <a:prstGeom prst="rect">
            <a:avLst/>
          </a:prstGeom>
          <a:noFill/>
          <a:ln>
            <a:noFill/>
          </a:ln>
        </p:spPr>
        <p:txBody>
          <a:bodyPr spcFirstLastPara="1" wrap="square" lIns="0" tIns="15875" rIns="0" bIns="0" anchor="t" anchorCtr="0">
            <a:spAutoFit/>
          </a:bodyPr>
          <a:lstStyle/>
          <a:p>
            <a:pPr marL="12700" lvl="0" indent="0" algn="ctr" rtl="0">
              <a:lnSpc>
                <a:spcPct val="100000"/>
              </a:lnSpc>
              <a:spcBef>
                <a:spcPts val="0"/>
              </a:spcBef>
              <a:spcAft>
                <a:spcPts val="0"/>
              </a:spcAft>
              <a:buNone/>
            </a:pPr>
            <a:r>
              <a:rPr lang="en-US" dirty="0"/>
              <a:t>IMPLEMENTATION</a:t>
            </a:r>
            <a:endParaRPr dirty="0"/>
          </a:p>
        </p:txBody>
      </p:sp>
      <p:sp>
        <p:nvSpPr>
          <p:cNvPr id="254" name="Google Shape;254;p22"/>
          <p:cNvSpPr txBox="1"/>
          <p:nvPr/>
        </p:nvSpPr>
        <p:spPr>
          <a:xfrm>
            <a:off x="857671" y="1478860"/>
            <a:ext cx="9716700" cy="4614330"/>
          </a:xfrm>
          <a:prstGeom prst="rect">
            <a:avLst/>
          </a:prstGeom>
          <a:noFill/>
          <a:ln>
            <a:noFill/>
          </a:ln>
        </p:spPr>
        <p:txBody>
          <a:bodyPr spcFirstLastPara="1" wrap="square" lIns="0" tIns="3800" rIns="0" bIns="0" anchor="t" anchorCtr="0">
            <a:spAutoFit/>
          </a:bodyPr>
          <a:lstStyle/>
          <a:p>
            <a:pPr marL="3416935" marR="5080" lvl="0" indent="-3404870" algn="ctr" rtl="0">
              <a:lnSpc>
                <a:spcPct val="107000"/>
              </a:lnSpc>
              <a:spcBef>
                <a:spcPts val="0"/>
              </a:spcBef>
              <a:spcAft>
                <a:spcPts val="0"/>
              </a:spcAft>
              <a:buNone/>
            </a:pPr>
            <a:endParaRPr lang="en-US" sz="2000" dirty="0">
              <a:solidFill>
                <a:schemeClr val="bg1"/>
              </a:solidFill>
              <a:latin typeface="Arial"/>
              <a:ea typeface="Arial"/>
              <a:cs typeface="Arial"/>
              <a:sym typeface="Arial"/>
            </a:endParaRPr>
          </a:p>
          <a:p>
            <a:pPr marL="3416935" marR="5080" lvl="0" indent="-3404870" algn="ctr" rtl="0">
              <a:lnSpc>
                <a:spcPct val="107000"/>
              </a:lnSpc>
              <a:spcBef>
                <a:spcPts val="0"/>
              </a:spcBef>
              <a:spcAft>
                <a:spcPts val="0"/>
              </a:spcAft>
              <a:buNone/>
            </a:pPr>
            <a:r>
              <a:rPr lang="en-US" sz="2000" dirty="0">
                <a:solidFill>
                  <a:schemeClr val="bg1"/>
                </a:solidFill>
                <a:latin typeface="Arial"/>
                <a:ea typeface="Arial"/>
                <a:cs typeface="Arial"/>
                <a:sym typeface="Arial"/>
              </a:rPr>
              <a:t>SYSTEM IMPLEMENTATION</a:t>
            </a:r>
          </a:p>
          <a:p>
            <a:pPr marL="3416935" marR="5080" lvl="0" indent="-3404870" algn="ctr" rtl="0">
              <a:lnSpc>
                <a:spcPct val="107000"/>
              </a:lnSpc>
              <a:spcBef>
                <a:spcPts val="0"/>
              </a:spcBef>
              <a:spcAft>
                <a:spcPts val="0"/>
              </a:spcAft>
              <a:buNone/>
            </a:pPr>
            <a:r>
              <a:rPr lang="en-US" sz="2000" dirty="0">
                <a:solidFill>
                  <a:schemeClr val="bg1"/>
                </a:solidFill>
                <a:latin typeface="Arial"/>
                <a:ea typeface="Arial"/>
                <a:cs typeface="Arial"/>
                <a:sym typeface="Arial"/>
              </a:rPr>
              <a:t>The LED Resistor Value Calculator System was developed using C++ with an object-oriented programming approach. The application : Accepts the LED name, supply voltage, forward voltage, and desired current. Validates all user inputs to prevent invalid circuit designs. Converts current from milliamperes (mA) to amperes (A).Calculates the required resistor value using Ohm's Law. Calculates the minimum resistor power rating. Displays the design status (Accepted, Invalid, or Warning).Saves all calculation results to led _ resistor _ report.txt. Supports multiple LED calculations in a single program execution.</a:t>
            </a:r>
            <a:endParaRPr sz="2000" dirty="0">
              <a:solidFill>
                <a:schemeClr val="bg1"/>
              </a:solidFill>
              <a:latin typeface="Arial"/>
              <a:ea typeface="Arial"/>
              <a:cs typeface="Arial"/>
              <a:sym typeface="Arial"/>
            </a:endParaRPr>
          </a:p>
        </p:txBody>
      </p:sp>
    </p:spTree>
    <p:extLst>
      <p:ext uri="{BB962C8B-B14F-4D97-AF65-F5344CB8AC3E}">
        <p14:creationId xmlns:p14="http://schemas.microsoft.com/office/powerpoint/2010/main" val="7986334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Shape 251"/>
        <p:cNvGrpSpPr/>
        <p:nvPr/>
      </p:nvGrpSpPr>
      <p:grpSpPr>
        <a:xfrm>
          <a:off x="0" y="0"/>
          <a:ext cx="0" cy="0"/>
          <a:chOff x="0" y="0"/>
          <a:chExt cx="0" cy="0"/>
        </a:xfrm>
      </p:grpSpPr>
      <p:sp>
        <p:nvSpPr>
          <p:cNvPr id="252" name="Google Shape;252;p22"/>
          <p:cNvSpPr/>
          <p:nvPr/>
        </p:nvSpPr>
        <p:spPr>
          <a:xfrm>
            <a:off x="0" y="0"/>
            <a:ext cx="11430000" cy="7620000"/>
          </a:xfrm>
          <a:custGeom>
            <a:avLst/>
            <a:gdLst/>
            <a:ahLst/>
            <a:cxnLst/>
            <a:rect l="l" t="t" r="r" b="b"/>
            <a:pathLst>
              <a:path w="11430000" h="7620000" extrusionOk="0">
                <a:moveTo>
                  <a:pt x="11430000" y="0"/>
                </a:moveTo>
                <a:lnTo>
                  <a:pt x="0" y="0"/>
                </a:lnTo>
                <a:lnTo>
                  <a:pt x="0" y="7620000"/>
                </a:lnTo>
                <a:lnTo>
                  <a:pt x="11430000" y="7620000"/>
                </a:lnTo>
                <a:lnTo>
                  <a:pt x="11430000" y="0"/>
                </a:lnTo>
                <a:close/>
              </a:path>
            </a:pathLst>
          </a:custGeom>
          <a:solidFill>
            <a:srgbClr val="0C0932"/>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53" name="Google Shape;253;p22"/>
          <p:cNvSpPr txBox="1">
            <a:spLocks noGrp="1"/>
          </p:cNvSpPr>
          <p:nvPr>
            <p:ph type="title"/>
          </p:nvPr>
        </p:nvSpPr>
        <p:spPr>
          <a:xfrm>
            <a:off x="624879" y="473075"/>
            <a:ext cx="10180200" cy="539700"/>
          </a:xfrm>
          <a:prstGeom prst="rect">
            <a:avLst/>
          </a:prstGeom>
          <a:noFill/>
          <a:ln>
            <a:noFill/>
          </a:ln>
        </p:spPr>
        <p:txBody>
          <a:bodyPr spcFirstLastPara="1" wrap="square" lIns="0" tIns="15875" rIns="0" bIns="0" anchor="t" anchorCtr="0">
            <a:spAutoFit/>
          </a:bodyPr>
          <a:lstStyle/>
          <a:p>
            <a:pPr marL="12700" lvl="0" indent="0" algn="ctr" rtl="0">
              <a:lnSpc>
                <a:spcPct val="100000"/>
              </a:lnSpc>
              <a:spcBef>
                <a:spcPts val="0"/>
              </a:spcBef>
              <a:spcAft>
                <a:spcPts val="0"/>
              </a:spcAft>
              <a:buNone/>
            </a:pPr>
            <a:r>
              <a:rPr lang="en-US" dirty="0"/>
              <a:t>CONCLUSION</a:t>
            </a:r>
            <a:endParaRPr dirty="0"/>
          </a:p>
        </p:txBody>
      </p:sp>
      <p:sp>
        <p:nvSpPr>
          <p:cNvPr id="254" name="Google Shape;254;p22"/>
          <p:cNvSpPr txBox="1"/>
          <p:nvPr/>
        </p:nvSpPr>
        <p:spPr>
          <a:xfrm>
            <a:off x="857671" y="1478860"/>
            <a:ext cx="9716700" cy="3297046"/>
          </a:xfrm>
          <a:prstGeom prst="rect">
            <a:avLst/>
          </a:prstGeom>
          <a:noFill/>
          <a:ln>
            <a:noFill/>
          </a:ln>
        </p:spPr>
        <p:txBody>
          <a:bodyPr spcFirstLastPara="1" wrap="square" lIns="0" tIns="3800" rIns="0" bIns="0" anchor="t" anchorCtr="0">
            <a:spAutoFit/>
          </a:bodyPr>
          <a:lstStyle/>
          <a:p>
            <a:pPr marL="3416935" marR="5080" lvl="0" indent="-3404870" algn="ctr" rtl="0">
              <a:lnSpc>
                <a:spcPct val="107000"/>
              </a:lnSpc>
              <a:spcBef>
                <a:spcPts val="0"/>
              </a:spcBef>
              <a:spcAft>
                <a:spcPts val="0"/>
              </a:spcAft>
              <a:buNone/>
            </a:pPr>
            <a:r>
              <a:rPr lang="en-US" sz="2000" dirty="0">
                <a:solidFill>
                  <a:schemeClr val="bg1"/>
                </a:solidFill>
                <a:latin typeface="Arial"/>
                <a:ea typeface="Arial"/>
                <a:cs typeface="Arial"/>
                <a:sym typeface="Arial"/>
              </a:rPr>
              <a:t>The LED Resistor Value Calculator System successfully combines electrical engineering principles with C++ programming to provide accurate resistor calculations for LED circuits. The application minimizes calculation errors, improves circuit safety, and simplifies the LED design process through automatic calculations, input validation, and report generation. This project demonstrates the practical application of programming in solving real-world engineering problems and highlights the importance of software tools in electrical circuit design.</a:t>
            </a:r>
          </a:p>
        </p:txBody>
      </p:sp>
    </p:spTree>
    <p:extLst>
      <p:ext uri="{BB962C8B-B14F-4D97-AF65-F5344CB8AC3E}">
        <p14:creationId xmlns:p14="http://schemas.microsoft.com/office/powerpoint/2010/main" val="910574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23"/>
          <p:cNvSpPr/>
          <p:nvPr/>
        </p:nvSpPr>
        <p:spPr>
          <a:xfrm>
            <a:off x="0" y="0"/>
            <a:ext cx="11430000" cy="7620000"/>
          </a:xfrm>
          <a:custGeom>
            <a:avLst/>
            <a:gdLst/>
            <a:ahLst/>
            <a:cxnLst/>
            <a:rect l="l" t="t" r="r" b="b"/>
            <a:pathLst>
              <a:path w="11430000" h="7620000" extrusionOk="0">
                <a:moveTo>
                  <a:pt x="11430000" y="0"/>
                </a:moveTo>
                <a:lnTo>
                  <a:pt x="0" y="0"/>
                </a:lnTo>
                <a:lnTo>
                  <a:pt x="0" y="7620000"/>
                </a:lnTo>
                <a:lnTo>
                  <a:pt x="11430000" y="7620000"/>
                </a:lnTo>
                <a:lnTo>
                  <a:pt x="11430000" y="0"/>
                </a:lnTo>
                <a:close/>
              </a:path>
            </a:pathLst>
          </a:custGeom>
          <a:solidFill>
            <a:srgbClr val="0C0932"/>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58" name="Google Shape;258;p23"/>
          <p:cNvSpPr txBox="1">
            <a:spLocks noGrp="1"/>
          </p:cNvSpPr>
          <p:nvPr>
            <p:ph type="title"/>
          </p:nvPr>
        </p:nvSpPr>
        <p:spPr>
          <a:xfrm>
            <a:off x="624879" y="449012"/>
            <a:ext cx="10180200" cy="531000"/>
          </a:xfrm>
          <a:prstGeom prst="rect">
            <a:avLst/>
          </a:prstGeom>
          <a:noFill/>
          <a:ln>
            <a:noFill/>
          </a:ln>
        </p:spPr>
        <p:txBody>
          <a:bodyPr spcFirstLastPara="1" wrap="square" lIns="0" tIns="15875" rIns="0" bIns="0" anchor="t" anchorCtr="0">
            <a:spAutoFit/>
          </a:bodyPr>
          <a:lstStyle/>
          <a:p>
            <a:pPr marL="12700" lvl="0" indent="0" algn="ctr" rtl="0">
              <a:lnSpc>
                <a:spcPct val="100000"/>
              </a:lnSpc>
              <a:spcBef>
                <a:spcPts val="0"/>
              </a:spcBef>
              <a:spcAft>
                <a:spcPts val="0"/>
              </a:spcAft>
              <a:buNone/>
            </a:pPr>
            <a:r>
              <a:rPr lang="en-US"/>
              <a:t>GROUP CONTRIBUTION</a:t>
            </a:r>
            <a:endParaRPr/>
          </a:p>
        </p:txBody>
      </p:sp>
      <p:graphicFrame>
        <p:nvGraphicFramePr>
          <p:cNvPr id="259" name="Google Shape;259;p23"/>
          <p:cNvGraphicFramePr/>
          <p:nvPr>
            <p:extLst>
              <p:ext uri="{D42A27DB-BD31-4B8C-83A1-F6EECF244321}">
                <p14:modId xmlns:p14="http://schemas.microsoft.com/office/powerpoint/2010/main" val="3216707672"/>
              </p:ext>
            </p:extLst>
          </p:nvPr>
        </p:nvGraphicFramePr>
        <p:xfrm>
          <a:off x="1714500" y="1488440"/>
          <a:ext cx="8091350" cy="6063090"/>
        </p:xfrm>
        <a:graphic>
          <a:graphicData uri="http://schemas.openxmlformats.org/drawingml/2006/table">
            <a:tbl>
              <a:tblPr firstRow="1" bandRow="1">
                <a:noFill/>
                <a:tableStyleId>{CBB0FD64-767F-4709-80A6-F6706F891FAB}</a:tableStyleId>
              </a:tblPr>
              <a:tblGrid>
                <a:gridCol w="4023325">
                  <a:extLst>
                    <a:ext uri="{9D8B030D-6E8A-4147-A177-3AD203B41FA5}">
                      <a16:colId xmlns:a16="http://schemas.microsoft.com/office/drawing/2014/main" val="20000"/>
                    </a:ext>
                  </a:extLst>
                </a:gridCol>
                <a:gridCol w="4068025">
                  <a:extLst>
                    <a:ext uri="{9D8B030D-6E8A-4147-A177-3AD203B41FA5}">
                      <a16:colId xmlns:a16="http://schemas.microsoft.com/office/drawing/2014/main" val="20001"/>
                    </a:ext>
                  </a:extLst>
                </a:gridCol>
              </a:tblGrid>
              <a:tr h="542300">
                <a:tc>
                  <a:txBody>
                    <a:bodyPr/>
                    <a:lstStyle/>
                    <a:p>
                      <a:pPr marL="0" marR="0" lvl="0" indent="0" algn="ctr" rtl="0">
                        <a:lnSpc>
                          <a:spcPct val="100000"/>
                        </a:lnSpc>
                        <a:spcBef>
                          <a:spcPts val="0"/>
                        </a:spcBef>
                        <a:spcAft>
                          <a:spcPts val="0"/>
                        </a:spcAft>
                        <a:buSzPts val="1800"/>
                        <a:buFont typeface="Calibri"/>
                        <a:buNone/>
                        <a:defRPr sz="1400" u="none" strike="noStrike" cap="none"/>
                      </a:pPr>
                      <a:r>
                        <a:rPr lang="en-US" sz="1800" u="none" strike="noStrike" cap="none"/>
                        <a:t>STUDENT</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SzPts val="1800"/>
                        <a:buFont typeface="Calibri"/>
                        <a:buNone/>
                        <a:defRPr sz="1400" u="none" strike="noStrike" cap="none"/>
                      </a:pPr>
                      <a:r>
                        <a:rPr lang="en-US" sz="1800" u="none" strike="noStrike" cap="none"/>
                        <a:t>SUGGESTED ROLE</a:t>
                      </a:r>
                      <a:endParaRPr sz="1800" u="none" strike="noStrike" cap="none"/>
                    </a:p>
                  </a:txBody>
                  <a:tcPr marL="91450" marR="91450" marT="45725" marB="45725"/>
                </a:tc>
                <a:extLst>
                  <a:ext uri="{0D108BD9-81ED-4DB2-BD59-A6C34878D82A}">
                    <a16:rowId xmlns:a16="http://schemas.microsoft.com/office/drawing/2014/main" val="10000"/>
                  </a:ext>
                </a:extLst>
              </a:tr>
              <a:tr h="542300">
                <a:tc>
                  <a:txBody>
                    <a:bodyPr/>
                    <a:lstStyle/>
                    <a:p>
                      <a:pPr marL="0" marR="0" lvl="0" indent="0" algn="l" rtl="0">
                        <a:lnSpc>
                          <a:spcPct val="100000"/>
                        </a:lnSpc>
                        <a:spcBef>
                          <a:spcPts val="0"/>
                        </a:spcBef>
                        <a:spcAft>
                          <a:spcPts val="0"/>
                        </a:spcAft>
                        <a:buSzPts val="1800"/>
                        <a:buFont typeface="Calibri"/>
                        <a:buNone/>
                        <a:defRPr sz="1400" u="none" strike="noStrike" cap="none"/>
                      </a:pPr>
                      <a:r>
                        <a:rPr lang="en-US" sz="1800"/>
                        <a:t>Bright Odoom  -  01242600B </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SzPts val="1800"/>
                        <a:buFont typeface="Calibri"/>
                        <a:buNone/>
                        <a:defRPr sz="1400" u="none" strike="noStrike" cap="none"/>
                      </a:pPr>
                      <a:r>
                        <a:rPr lang="en-US" sz="1800" u="none" strike="noStrike" cap="none"/>
                        <a:t>Project lead</a:t>
                      </a:r>
                      <a:endParaRPr sz="1800" u="none" strike="noStrike" cap="none"/>
                    </a:p>
                  </a:txBody>
                  <a:tcPr marL="91450" marR="91450" marT="45725" marB="45725"/>
                </a:tc>
                <a:extLst>
                  <a:ext uri="{0D108BD9-81ED-4DB2-BD59-A6C34878D82A}">
                    <a16:rowId xmlns:a16="http://schemas.microsoft.com/office/drawing/2014/main" val="10001"/>
                  </a:ext>
                </a:extLst>
              </a:tr>
              <a:tr h="542300">
                <a:tc>
                  <a:txBody>
                    <a:bodyPr/>
                    <a:lstStyle/>
                    <a:p>
                      <a:pPr marL="0" marR="0" lvl="0" indent="0" algn="l" rtl="0">
                        <a:lnSpc>
                          <a:spcPct val="100000"/>
                        </a:lnSpc>
                        <a:spcBef>
                          <a:spcPts val="0"/>
                        </a:spcBef>
                        <a:spcAft>
                          <a:spcPts val="0"/>
                        </a:spcAft>
                        <a:buSzPts val="1800"/>
                        <a:buFont typeface="Calibri"/>
                        <a:buNone/>
                        <a:defRPr sz="1400" u="none" strike="noStrike" cap="none"/>
                      </a:pPr>
                      <a:r>
                        <a:rPr lang="en-US" sz="1800"/>
                        <a:t>Asamoah Dorcas kissi  -  01244084B</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SzPts val="1800"/>
                        <a:buFont typeface="Calibri"/>
                        <a:buNone/>
                        <a:defRPr sz="1400" u="none" strike="noStrike" cap="none"/>
                      </a:pPr>
                      <a:r>
                        <a:rPr lang="en-US" sz="1800" u="none" strike="noStrike" cap="none"/>
                        <a:t>Algorithm writer</a:t>
                      </a:r>
                      <a:endParaRPr sz="1800" u="none" strike="noStrike" cap="none"/>
                    </a:p>
                  </a:txBody>
                  <a:tcPr marL="91450" marR="91450" marT="45725" marB="45725"/>
                </a:tc>
                <a:extLst>
                  <a:ext uri="{0D108BD9-81ED-4DB2-BD59-A6C34878D82A}">
                    <a16:rowId xmlns:a16="http://schemas.microsoft.com/office/drawing/2014/main" val="10002"/>
                  </a:ext>
                </a:extLst>
              </a:tr>
              <a:tr h="542300">
                <a:tc>
                  <a:txBody>
                    <a:bodyPr/>
                    <a:lstStyle/>
                    <a:p>
                      <a:pPr marL="0" marR="0" lvl="0" indent="0" algn="l" rtl="0">
                        <a:lnSpc>
                          <a:spcPct val="100000"/>
                        </a:lnSpc>
                        <a:spcBef>
                          <a:spcPts val="0"/>
                        </a:spcBef>
                        <a:spcAft>
                          <a:spcPts val="0"/>
                        </a:spcAft>
                        <a:buSzPts val="1800"/>
                        <a:buFont typeface="Calibri"/>
                        <a:buNone/>
                        <a:defRPr sz="1400" u="none" strike="noStrike" cap="none"/>
                      </a:pPr>
                      <a:r>
                        <a:rPr lang="en-US" sz="1800"/>
                        <a:t>Micheal Osei Bormor - 01246900B</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SzPts val="1800"/>
                        <a:buFont typeface="Calibri"/>
                        <a:buNone/>
                        <a:defRPr sz="1400" u="none" strike="noStrike" cap="none"/>
                      </a:pPr>
                      <a:r>
                        <a:rPr lang="en-US" sz="1800" u="none" strike="noStrike" cap="none"/>
                        <a:t>PSeudocode writer</a:t>
                      </a:r>
                      <a:endParaRPr sz="1800" u="none" strike="noStrike" cap="none"/>
                    </a:p>
                  </a:txBody>
                  <a:tcPr marL="91450" marR="91450" marT="45725" marB="45725"/>
                </a:tc>
                <a:extLst>
                  <a:ext uri="{0D108BD9-81ED-4DB2-BD59-A6C34878D82A}">
                    <a16:rowId xmlns:a16="http://schemas.microsoft.com/office/drawing/2014/main" val="10003"/>
                  </a:ext>
                </a:extLst>
              </a:tr>
              <a:tr h="542300">
                <a:tc>
                  <a:txBody>
                    <a:bodyPr/>
                    <a:lstStyle/>
                    <a:p>
                      <a:pPr marL="0" marR="0" lvl="0" indent="0" algn="l" rtl="0">
                        <a:lnSpc>
                          <a:spcPct val="100000"/>
                        </a:lnSpc>
                        <a:spcBef>
                          <a:spcPts val="0"/>
                        </a:spcBef>
                        <a:spcAft>
                          <a:spcPts val="0"/>
                        </a:spcAft>
                        <a:buSzPts val="1800"/>
                        <a:buFont typeface="Calibri"/>
                        <a:buNone/>
                        <a:defRPr sz="1400" u="none" strike="noStrike" cap="none"/>
                      </a:pPr>
                      <a:r>
                        <a:rPr lang="en-US" sz="1800"/>
                        <a:t>Awudu Wuzeima  -  01243137B</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SzPts val="1800"/>
                        <a:buFont typeface="Calibri"/>
                        <a:buNone/>
                        <a:defRPr sz="1400" u="none" strike="noStrike" cap="none"/>
                      </a:pPr>
                      <a:r>
                        <a:rPr lang="en-US" sz="1800" u="none" strike="noStrike" cap="none"/>
                        <a:t>Flowchart designer</a:t>
                      </a:r>
                      <a:endParaRPr sz="1800" u="none" strike="noStrike" cap="none"/>
                    </a:p>
                  </a:txBody>
                  <a:tcPr marL="91450" marR="91450" marT="45725" marB="45725"/>
                </a:tc>
                <a:extLst>
                  <a:ext uri="{0D108BD9-81ED-4DB2-BD59-A6C34878D82A}">
                    <a16:rowId xmlns:a16="http://schemas.microsoft.com/office/drawing/2014/main" val="10004"/>
                  </a:ext>
                </a:extLst>
              </a:tr>
              <a:tr h="542300">
                <a:tc>
                  <a:txBody>
                    <a:bodyPr/>
                    <a:lstStyle/>
                    <a:p>
                      <a:pPr marL="0" marR="0" lvl="0" indent="0" algn="l" rtl="0">
                        <a:lnSpc>
                          <a:spcPct val="100000"/>
                        </a:lnSpc>
                        <a:spcBef>
                          <a:spcPts val="0"/>
                        </a:spcBef>
                        <a:spcAft>
                          <a:spcPts val="0"/>
                        </a:spcAft>
                        <a:buSzPts val="1800"/>
                        <a:buFont typeface="Calibri"/>
                        <a:buNone/>
                        <a:defRPr sz="1400" u="none" strike="noStrike" cap="none"/>
                      </a:pPr>
                      <a:r>
                        <a:rPr lang="en-US" sz="1800"/>
                        <a:t>Aboagye Jonas Frimpong  -  01241449B</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SzPts val="1800"/>
                        <a:buFont typeface="Calibri"/>
                        <a:buNone/>
                        <a:defRPr sz="1400" u="none" strike="noStrike" cap="none"/>
                      </a:pPr>
                      <a:r>
                        <a:rPr lang="en-US" sz="1800" u="none" strike="noStrike" cap="none"/>
                        <a:t>C++ programmer</a:t>
                      </a:r>
                      <a:endParaRPr sz="1800" u="none" strike="noStrike" cap="none"/>
                    </a:p>
                  </a:txBody>
                  <a:tcPr marL="91450" marR="91450" marT="45725" marB="45725"/>
                </a:tc>
                <a:extLst>
                  <a:ext uri="{0D108BD9-81ED-4DB2-BD59-A6C34878D82A}">
                    <a16:rowId xmlns:a16="http://schemas.microsoft.com/office/drawing/2014/main" val="10005"/>
                  </a:ext>
                </a:extLst>
              </a:tr>
              <a:tr h="542300">
                <a:tc>
                  <a:txBody>
                    <a:bodyPr/>
                    <a:lstStyle/>
                    <a:p>
                      <a:pPr marL="0" marR="0" lvl="0" indent="0" algn="l" rtl="0">
                        <a:lnSpc>
                          <a:spcPct val="100000"/>
                        </a:lnSpc>
                        <a:spcBef>
                          <a:spcPts val="0"/>
                        </a:spcBef>
                        <a:spcAft>
                          <a:spcPts val="0"/>
                        </a:spcAft>
                        <a:buSzPts val="1800"/>
                        <a:buFont typeface="Calibri"/>
                        <a:buNone/>
                        <a:defRPr sz="1400" u="none" strike="noStrike" cap="none"/>
                      </a:pPr>
                      <a:r>
                        <a:rPr lang="en-US" sz="1800" u="none" strike="noStrike" cap="none" dirty="0"/>
                        <a:t>Christopher </a:t>
                      </a:r>
                      <a:r>
                        <a:rPr lang="en-US" sz="1800" u="none" strike="noStrike" cap="none" dirty="0" err="1"/>
                        <a:t>Monney</a:t>
                      </a:r>
                      <a:r>
                        <a:rPr lang="en-US" sz="1800" u="none" strike="noStrike" cap="none" dirty="0"/>
                        <a:t> – 01243455B</a:t>
                      </a:r>
                      <a:endParaRPr sz="1800" u="none" strike="noStrike" cap="none" dirty="0"/>
                    </a:p>
                  </a:txBody>
                  <a:tcPr marL="91450" marR="91450" marT="45725" marB="45725"/>
                </a:tc>
                <a:tc>
                  <a:txBody>
                    <a:bodyPr/>
                    <a:lstStyle/>
                    <a:p>
                      <a:pPr marL="0" marR="0" lvl="0" indent="0" algn="l" rtl="0">
                        <a:lnSpc>
                          <a:spcPct val="100000"/>
                        </a:lnSpc>
                        <a:spcBef>
                          <a:spcPts val="0"/>
                        </a:spcBef>
                        <a:spcAft>
                          <a:spcPts val="0"/>
                        </a:spcAft>
                        <a:buSzPts val="1800"/>
                        <a:buFont typeface="Calibri"/>
                        <a:buNone/>
                        <a:defRPr sz="1400" u="none" strike="noStrike" cap="none"/>
                      </a:pPr>
                      <a:r>
                        <a:rPr lang="en-US" sz="1800" u="none" strike="noStrike" cap="none"/>
                        <a:t>c++ programmer</a:t>
                      </a:r>
                      <a:endParaRPr sz="1800" u="none" strike="noStrike" cap="none"/>
                    </a:p>
                  </a:txBody>
                  <a:tcPr marL="91450" marR="91450" marT="45725" marB="45725"/>
                </a:tc>
                <a:extLst>
                  <a:ext uri="{0D108BD9-81ED-4DB2-BD59-A6C34878D82A}">
                    <a16:rowId xmlns:a16="http://schemas.microsoft.com/office/drawing/2014/main" val="10006"/>
                  </a:ext>
                </a:extLst>
              </a:tr>
              <a:tr h="542300">
                <a:tc>
                  <a:txBody>
                    <a:bodyPr/>
                    <a:lstStyle/>
                    <a:p>
                      <a:pPr marL="0" marR="0" lvl="0" indent="0" algn="l" rtl="0">
                        <a:lnSpc>
                          <a:spcPct val="100000"/>
                        </a:lnSpc>
                        <a:spcBef>
                          <a:spcPts val="0"/>
                        </a:spcBef>
                        <a:spcAft>
                          <a:spcPts val="0"/>
                        </a:spcAft>
                        <a:buSzPts val="1800"/>
                        <a:buFont typeface="Calibri"/>
                        <a:buNone/>
                        <a:defRPr sz="1400" u="none" strike="noStrike" cap="none"/>
                      </a:pPr>
                      <a:r>
                        <a:rPr lang="en-US" sz="1800"/>
                        <a:t>Ayitey Aaron  -  01246384B</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SzPts val="1800"/>
                        <a:buFont typeface="Calibri"/>
                        <a:buNone/>
                        <a:defRPr sz="1400" u="none" strike="noStrike" cap="none"/>
                      </a:pPr>
                      <a:r>
                        <a:rPr lang="en-US" sz="1800" u="none" strike="noStrike" cap="none"/>
                        <a:t>Testing lead</a:t>
                      </a:r>
                      <a:endParaRPr sz="1800" u="none" strike="noStrike" cap="none"/>
                    </a:p>
                  </a:txBody>
                  <a:tcPr marL="91450" marR="91450" marT="45725" marB="45725"/>
                </a:tc>
                <a:extLst>
                  <a:ext uri="{0D108BD9-81ED-4DB2-BD59-A6C34878D82A}">
                    <a16:rowId xmlns:a16="http://schemas.microsoft.com/office/drawing/2014/main" val="10007"/>
                  </a:ext>
                </a:extLst>
              </a:tr>
              <a:tr h="542300">
                <a:tc>
                  <a:txBody>
                    <a:bodyPr/>
                    <a:lstStyle/>
                    <a:p>
                      <a:pPr marL="0" marR="0" lvl="0" indent="0" algn="l" rtl="0">
                        <a:lnSpc>
                          <a:spcPct val="100000"/>
                        </a:lnSpc>
                        <a:spcBef>
                          <a:spcPts val="0"/>
                        </a:spcBef>
                        <a:spcAft>
                          <a:spcPts val="0"/>
                        </a:spcAft>
                        <a:buSzPts val="1800"/>
                        <a:buFont typeface="Calibri"/>
                        <a:buNone/>
                        <a:defRPr sz="1400" u="none" strike="noStrike" cap="none"/>
                      </a:pPr>
                      <a:r>
                        <a:rPr lang="en-US" sz="1800" u="none" strike="noStrike" cap="none" dirty="0"/>
                        <a:t>Juliet </a:t>
                      </a:r>
                      <a:r>
                        <a:rPr lang="en-US" sz="1800" u="none" strike="noStrike" cap="none" dirty="0" err="1"/>
                        <a:t>Normenyo</a:t>
                      </a:r>
                      <a:r>
                        <a:rPr lang="en-US" sz="1800" u="none" strike="noStrike" cap="none" dirty="0"/>
                        <a:t> – 01244425B</a:t>
                      </a:r>
                      <a:endParaRPr sz="1800" u="none" strike="noStrike" cap="none" dirty="0"/>
                    </a:p>
                  </a:txBody>
                  <a:tcPr marL="91450" marR="91450" marT="45725" marB="45725"/>
                </a:tc>
                <a:tc>
                  <a:txBody>
                    <a:bodyPr/>
                    <a:lstStyle/>
                    <a:p>
                      <a:pPr marL="0" marR="0" lvl="0" indent="0" algn="l" rtl="0">
                        <a:lnSpc>
                          <a:spcPct val="100000"/>
                        </a:lnSpc>
                        <a:spcBef>
                          <a:spcPts val="0"/>
                        </a:spcBef>
                        <a:spcAft>
                          <a:spcPts val="0"/>
                        </a:spcAft>
                        <a:buSzPts val="1800"/>
                        <a:buFont typeface="Calibri"/>
                        <a:buNone/>
                        <a:defRPr sz="1400" u="none" strike="noStrike" cap="none"/>
                      </a:pPr>
                      <a:r>
                        <a:rPr lang="en-US" sz="1800" u="none" strike="noStrike" cap="none"/>
                        <a:t>Github manager</a:t>
                      </a:r>
                      <a:endParaRPr sz="1800" u="none" strike="noStrike" cap="none"/>
                    </a:p>
                  </a:txBody>
                  <a:tcPr marL="91450" marR="91450" marT="45725" marB="45725"/>
                </a:tc>
                <a:extLst>
                  <a:ext uri="{0D108BD9-81ED-4DB2-BD59-A6C34878D82A}">
                    <a16:rowId xmlns:a16="http://schemas.microsoft.com/office/drawing/2014/main" val="10008"/>
                  </a:ext>
                </a:extLst>
              </a:tr>
              <a:tr h="542300">
                <a:tc>
                  <a:txBody>
                    <a:bodyPr/>
                    <a:lstStyle/>
                    <a:p>
                      <a:pPr marL="0" marR="0" lvl="0" indent="0" algn="l" rtl="0">
                        <a:lnSpc>
                          <a:spcPct val="100000"/>
                        </a:lnSpc>
                        <a:spcBef>
                          <a:spcPts val="0"/>
                        </a:spcBef>
                        <a:spcAft>
                          <a:spcPts val="0"/>
                        </a:spcAft>
                        <a:buSzPts val="1800"/>
                        <a:buFont typeface="Calibri"/>
                        <a:buNone/>
                        <a:defRPr sz="1400" u="none" strike="noStrike" cap="none"/>
                      </a:pPr>
                      <a:r>
                        <a:rPr lang="en-US" sz="1800"/>
                        <a:t>Oppong-Duah Immanuel  -  01243256B </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SzPts val="1800"/>
                        <a:buFont typeface="Calibri"/>
                        <a:buNone/>
                        <a:defRPr sz="1400" u="none" strike="noStrike" cap="none"/>
                      </a:pPr>
                      <a:r>
                        <a:rPr lang="en-US" sz="1800" u="none" strike="noStrike" cap="none"/>
                        <a:t>Documentation lead</a:t>
                      </a:r>
                      <a:endParaRPr sz="1800" u="none" strike="noStrike" cap="none"/>
                    </a:p>
                  </a:txBody>
                  <a:tcPr marL="91450" marR="91450" marT="45725" marB="45725"/>
                </a:tc>
                <a:extLst>
                  <a:ext uri="{0D108BD9-81ED-4DB2-BD59-A6C34878D82A}">
                    <a16:rowId xmlns:a16="http://schemas.microsoft.com/office/drawing/2014/main" val="10009"/>
                  </a:ext>
                </a:extLst>
              </a:tr>
              <a:tr h="542300">
                <a:tc>
                  <a:txBody>
                    <a:bodyPr/>
                    <a:lstStyle/>
                    <a:p>
                      <a:pPr marL="0" marR="0" lvl="0" indent="0" algn="l" rtl="0">
                        <a:lnSpc>
                          <a:spcPct val="100000"/>
                        </a:lnSpc>
                        <a:spcBef>
                          <a:spcPts val="0"/>
                        </a:spcBef>
                        <a:spcAft>
                          <a:spcPts val="0"/>
                        </a:spcAft>
                        <a:buSzPts val="1800"/>
                        <a:buFont typeface="Calibri"/>
                        <a:buNone/>
                        <a:defRPr sz="1400" u="none" strike="noStrike" cap="none"/>
                      </a:pPr>
                      <a:r>
                        <a:rPr lang="en-US" sz="1800"/>
                        <a:t>Perida Naa Larley Aba Lartey-  01245581B</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SzPts val="1800"/>
                        <a:buFont typeface="Calibri"/>
                        <a:buNone/>
                        <a:defRPr sz="1400" u="none" strike="noStrike" cap="none"/>
                      </a:pPr>
                      <a:r>
                        <a:rPr lang="en-US" sz="1800" u="none" strike="noStrike" cap="none" dirty="0"/>
                        <a:t>Presentation lead</a:t>
                      </a:r>
                      <a:endParaRPr sz="1800" u="none" strike="noStrike" cap="none" dirty="0"/>
                    </a:p>
                  </a:txBody>
                  <a:tcPr marL="91450" marR="91450" marT="45725" marB="45725"/>
                </a:tc>
                <a:extLst>
                  <a:ext uri="{0D108BD9-81ED-4DB2-BD59-A6C34878D82A}">
                    <a16:rowId xmlns:a16="http://schemas.microsoft.com/office/drawing/2014/main" val="10010"/>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p24"/>
          <p:cNvSpPr/>
          <p:nvPr/>
        </p:nvSpPr>
        <p:spPr>
          <a:xfrm>
            <a:off x="0" y="0"/>
            <a:ext cx="11430000" cy="7620000"/>
          </a:xfrm>
          <a:custGeom>
            <a:avLst/>
            <a:gdLst/>
            <a:ahLst/>
            <a:cxnLst/>
            <a:rect l="l" t="t" r="r" b="b"/>
            <a:pathLst>
              <a:path w="11430000" h="7620000" extrusionOk="0">
                <a:moveTo>
                  <a:pt x="11430000" y="0"/>
                </a:moveTo>
                <a:lnTo>
                  <a:pt x="0" y="0"/>
                </a:lnTo>
                <a:lnTo>
                  <a:pt x="0" y="7620000"/>
                </a:lnTo>
                <a:lnTo>
                  <a:pt x="11430000" y="7620000"/>
                </a:lnTo>
                <a:lnTo>
                  <a:pt x="11430000" y="0"/>
                </a:lnTo>
                <a:close/>
              </a:path>
            </a:pathLst>
          </a:custGeom>
          <a:solidFill>
            <a:srgbClr val="0C0932"/>
          </a:solidFill>
          <a:ln>
            <a:noFill/>
          </a:ln>
        </p:spPr>
        <p:txBody>
          <a:bodyPr spcFirstLastPara="1" wrap="square" lIns="0" tIns="0" rIns="0" bIns="0" anchor="t" anchorCtr="0">
            <a:noAutofit/>
          </a:bodyPr>
          <a:lstStyle/>
          <a:p>
            <a:pPr marL="0" lvl="0" indent="0" algn="l" rtl="0">
              <a:spcBef>
                <a:spcPts val="0"/>
              </a:spcBef>
              <a:spcAft>
                <a:spcPts val="0"/>
              </a:spcAft>
              <a:buNone/>
            </a:pPr>
            <a:endParaRPr sz="3600"/>
          </a:p>
        </p:txBody>
      </p:sp>
      <p:sp>
        <p:nvSpPr>
          <p:cNvPr id="262" name="Google Shape;262;p24"/>
          <p:cNvSpPr txBox="1">
            <a:spLocks noGrp="1"/>
          </p:cNvSpPr>
          <p:nvPr>
            <p:ph type="title"/>
          </p:nvPr>
        </p:nvSpPr>
        <p:spPr>
          <a:xfrm>
            <a:off x="2438400" y="3124200"/>
            <a:ext cx="6821700" cy="14769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US" sz="9600"/>
              <a:t>THANK YOU</a:t>
            </a:r>
            <a:endParaRPr sz="9600"/>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TotalTime>
  <Words>1809</Words>
  <Application>Microsoft Office PowerPoint</Application>
  <PresentationFormat>Custom</PresentationFormat>
  <Paragraphs>227</Paragraphs>
  <Slides>18</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Book Antiqua</vt:lpstr>
      <vt:lpstr>Calibri</vt:lpstr>
      <vt:lpstr>Georgia</vt:lpstr>
      <vt:lpstr>Lucida Sans</vt:lpstr>
      <vt:lpstr>Trebuchet MS</vt:lpstr>
      <vt:lpstr>Office Theme</vt:lpstr>
      <vt:lpstr>LED Resistor Value Calculator</vt:lpstr>
      <vt:lpstr>PowerPoint Presentation</vt:lpstr>
      <vt:lpstr>PowerPoint Presentation</vt:lpstr>
      <vt:lpstr>System Overview</vt:lpstr>
      <vt:lpstr>Step 1: System Initialization</vt:lpstr>
      <vt:lpstr>Step 2: LED Input Parameters</vt:lpstr>
      <vt:lpstr>Step 3: Input Validation</vt:lpstr>
      <vt:lpstr>Step 4: Resistor Calculations</vt:lpstr>
      <vt:lpstr>The Core Formulas</vt:lpstr>
      <vt:lpstr>Step 5: High-Current Warning</vt:lpstr>
      <vt:lpstr>Step 6: Results &amp; Report Output</vt:lpstr>
      <vt:lpstr>ALGORITHM</vt:lpstr>
      <vt:lpstr>PSEUDOCODE</vt:lpstr>
      <vt:lpstr>Full Flowchart at a Glance</vt:lpstr>
      <vt:lpstr>IMPLEMENTATION</vt:lpstr>
      <vt:lpstr>CONCLUSION</vt:lpstr>
      <vt:lpstr>GROUP CONTRIBUTION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LED Resistor Value Calculator</dc:title>
  <dc:creator>Naa Larley</dc:creator>
  <cp:lastModifiedBy>COM-TECH COMPUTERS</cp:lastModifiedBy>
  <cp:revision>2</cp:revision>
  <dcterms:modified xsi:type="dcterms:W3CDTF">2026-07-17T14:10:17Z</dcterms:modified>
</cp:coreProperties>
</file>